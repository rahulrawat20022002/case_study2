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mbria"/>
              </a:defRPr>
            </a:pPr>
            <a:r>
              <a:rPr sz="1400" b="0" i="0" u="none" strike="noStrike">
                <a:solidFill>
                  <a:srgbClr val="14213D"/>
                </a:solidFill>
                <a:latin typeface="Cambria"/>
              </a:rPr>
              <a:t>Inputs per Annex III area</a:t>
            </a:r>
          </a:p>
        </c:rich>
      </c:tx>
      <c:layout/>
      <c:overlay val="0"/>
    </c:title>
    <c:autoTitleDeleted val="0"/>
    <c:plotArea>
      <c:layout/>
      <c:barChart>
        <c:barDir val="bar"/>
        <c:grouping val="stacked"/>
        <c:varyColors val="0"/>
        <c:ser>
          <c:idx val="0"/>
          <c:order val="0"/>
          <c:tx>
            <c:strRef>
              <c:f>Sheet1!$B$1</c:f>
              <c:strCache>
                <c:ptCount val="1"/>
                <c:pt idx="0">
                  <c:v>High-risk</c:v>
                </c:pt>
              </c:strCache>
            </c:strRef>
          </c:tx>
          <c:spPr>
            <a:solidFill>
              <a:srgbClr val="2A78D6"/>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Sheet1!$A$2:$A$9</c:f>
              <c:multiLvlStrCache>
                <c:ptCount val="8"/>
                <c:lvl>
                  <c:pt idx="0">
                    <c:v>Biometrics</c:v>
                  </c:pt>
                  <c:pt idx="1">
                    <c:v>Critical infra.</c:v>
                  </c:pt>
                  <c:pt idx="2">
                    <c:v>Education</c:v>
                  </c:pt>
                  <c:pt idx="3">
                    <c:v>Employment</c:v>
                  </c:pt>
                  <c:pt idx="4">
                    <c:v>Essential services</c:v>
                  </c:pt>
                  <c:pt idx="5">
                    <c:v>Law enforcement</c:v>
                  </c:pt>
                  <c:pt idx="6">
                    <c:v>Migration</c:v>
                  </c:pt>
                  <c:pt idx="7">
                    <c:v>Justice &amp; democracy</c:v>
                  </c:pt>
                </c:lvl>
              </c:multiLvlStrCache>
            </c:multiLvlStrRef>
          </c:cat>
          <c:val>
            <c:numRef>
              <c:f>Sheet1!$B$2:$B$9</c:f>
              <c:numCache>
                <c:formatCode>General</c:formatCode>
                <c:ptCount val="8"/>
                <c:pt idx="0">
                  <c:v>14</c:v>
                </c:pt>
                <c:pt idx="1">
                  <c:v>8</c:v>
                </c:pt>
                <c:pt idx="2">
                  <c:v>9</c:v>
                </c:pt>
                <c:pt idx="3">
                  <c:v>14</c:v>
                </c:pt>
                <c:pt idx="4">
                  <c:v>21</c:v>
                </c:pt>
                <c:pt idx="5">
                  <c:v>0</c:v>
                </c:pt>
                <c:pt idx="6">
                  <c:v>0</c:v>
                </c:pt>
                <c:pt idx="7">
                  <c:v>0</c:v>
                </c:pt>
              </c:numCache>
            </c:numRef>
          </c:val>
        </c:ser>
        <c:ser>
          <c:idx val="1"/>
          <c:order val="1"/>
          <c:tx>
            <c:strRef>
              <c:f>Sheet1!$C$1</c:f>
              <c:strCache>
                <c:ptCount val="1"/>
                <c:pt idx="0">
                  <c:v>Not high-risk</c:v>
                </c:pt>
              </c:strCache>
            </c:strRef>
          </c:tx>
          <c:spPr>
            <a:solidFill>
              <a:srgbClr val="B9B8B2"/>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Sheet1!$A$2:$A$9</c:f>
              <c:multiLvlStrCache>
                <c:ptCount val="8"/>
                <c:lvl>
                  <c:pt idx="0">
                    <c:v>Biometrics</c:v>
                  </c:pt>
                  <c:pt idx="1">
                    <c:v>Critical infra.</c:v>
                  </c:pt>
                  <c:pt idx="2">
                    <c:v>Education</c:v>
                  </c:pt>
                  <c:pt idx="3">
                    <c:v>Employment</c:v>
                  </c:pt>
                  <c:pt idx="4">
                    <c:v>Essential services</c:v>
                  </c:pt>
                  <c:pt idx="5">
                    <c:v>Law enforcement</c:v>
                  </c:pt>
                  <c:pt idx="6">
                    <c:v>Migration</c:v>
                  </c:pt>
                  <c:pt idx="7">
                    <c:v>Justice &amp; democracy</c:v>
                  </c:pt>
                </c:lvl>
              </c:multiLvlStrCache>
            </c:multiLvlStrRef>
          </c:cat>
          <c:val>
            <c:numRef>
              <c:f>Sheet1!$C$2:$C$9</c:f>
              <c:numCache>
                <c:formatCode>General</c:formatCode>
                <c:ptCount val="8"/>
                <c:pt idx="0">
                  <c:v>18</c:v>
                </c:pt>
                <c:pt idx="1">
                  <c:v>10</c:v>
                </c:pt>
                <c:pt idx="2">
                  <c:v>19</c:v>
                </c:pt>
                <c:pt idx="3">
                  <c:v>18</c:v>
                </c:pt>
                <c:pt idx="4">
                  <c:v>22</c:v>
                </c:pt>
                <c:pt idx="5">
                  <c:v>23</c:v>
                </c:pt>
                <c:pt idx="6">
                  <c:v>23</c:v>
                </c:pt>
                <c:pt idx="7">
                  <c:v>16</c:v>
                </c:pt>
              </c:numCache>
            </c:numRef>
          </c:val>
        </c:ser>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A607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07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mbria"/>
              </a:defRPr>
            </a:pPr>
            <a:r>
              <a:rPr sz="1400" b="0" i="0" u="none" strike="noStrike">
                <a:solidFill>
                  <a:srgbClr val="14213D"/>
                </a:solidFill>
                <a:latin typeface="Cambria"/>
              </a:rPr>
              <a:t>Accuracy in the first run</a:t>
            </a:r>
          </a:p>
        </c:rich>
      </c:tx>
      <c:layout/>
      <c:overlay val="0"/>
    </c:title>
    <c:autoTitleDeleted val="0"/>
    <c:plotArea>
      <c:layout/>
      <c:barChart>
        <c:barDir val="col"/>
        <c:grouping val="clustered"/>
        <c:varyColors val="0"/>
        <c:ser>
          <c:idx val="0"/>
          <c:order val="0"/>
          <c:tx>
            <c:strRef>
              <c:f>Sheet1!$B$1</c:f>
              <c:strCache>
                <c:ptCount val="1"/>
                <c:pt idx="0">
                  <c:v>129 inputs stating the verdict</c:v>
                </c:pt>
              </c:strCache>
            </c:strRef>
          </c:tx>
          <c:spPr>
            <a:solidFill>
              <a:srgbClr val="E34948"/>
            </a:solidFill>
            <a:effectLst/>
          </c:spPr>
          <c:invertIfNegative val="0"/>
          <c:dLbls>
            <c:numFmt formatCode="0.0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Plain LLM</c:v>
                  </c:pt>
                  <c:pt idx="1">
                    <c:v>Standard RAG</c:v>
                  </c:pt>
                  <c:pt idx="2">
                    <c:v>Agent</c:v>
                  </c:pt>
                </c:lvl>
              </c:multiLvlStrCache>
            </c:multiLvlStrRef>
          </c:cat>
          <c:val>
            <c:numRef>
              <c:f>Sheet1!$B$2:$B$4</c:f>
              <c:numCache>
                <c:formatCode>General</c:formatCode>
                <c:ptCount val="3"/>
                <c:pt idx="0">
                  <c:v>0.938</c:v>
                </c:pt>
                <c:pt idx="1">
                  <c:v>0.922</c:v>
                </c:pt>
                <c:pt idx="2">
                  <c:v>0.961</c:v>
                </c:pt>
              </c:numCache>
            </c:numRef>
          </c:val>
        </c:ser>
        <c:ser>
          <c:idx val="1"/>
          <c:order val="1"/>
          <c:tx>
            <c:strRef>
              <c:f>Sheet1!$C$1</c:f>
              <c:strCache>
                <c:ptCount val="1"/>
                <c:pt idx="0">
                  <c:v>86 clean inputs</c:v>
                </c:pt>
              </c:strCache>
            </c:strRef>
          </c:tx>
          <c:spPr>
            <a:solidFill>
              <a:srgbClr val="2A78D6"/>
            </a:solidFill>
            <a:effectLst/>
          </c:spPr>
          <c:invertIfNegative val="0"/>
          <c:dLbls>
            <c:numFmt formatCode="0.0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Plain LLM</c:v>
                  </c:pt>
                  <c:pt idx="1">
                    <c:v>Standard RAG</c:v>
                  </c:pt>
                  <c:pt idx="2">
                    <c:v>Agent</c:v>
                  </c:pt>
                </c:lvl>
              </c:multiLvlStrCache>
            </c:multiLvlStrRef>
          </c:cat>
          <c:val>
            <c:numRef>
              <c:f>Sheet1!$C$2:$C$4</c:f>
              <c:numCache>
                <c:formatCode>General</c:formatCode>
                <c:ptCount val="3"/>
                <c:pt idx="0">
                  <c:v>0.674</c:v>
                </c:pt>
                <c:pt idx="1">
                  <c:v>0.953</c:v>
                </c:pt>
                <c:pt idx="2">
                  <c:v>0.953</c:v>
                </c:pt>
              </c:numCache>
            </c:numRef>
          </c:val>
        </c:ser>
        <c:dLbls>
          <c:numFmt formatCode="0.0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070"/>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6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07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Original inputs</c:v>
                </c:pt>
              </c:strCache>
            </c:strRef>
          </c:tx>
          <c:spPr>
            <a:solidFill>
              <a:srgbClr val="B9B8B2"/>
            </a:solidFill>
            <a:effectLst/>
          </c:spPr>
          <c:invertIfNegative val="0"/>
          <c:dLbls>
            <c:numFmt formatCode="0.00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Plain LLM</c:v>
                  </c:pt>
                  <c:pt idx="1">
                    <c:v>Standard RAG</c:v>
                  </c:pt>
                  <c:pt idx="2">
                    <c:v>Agent</c:v>
                  </c:pt>
                </c:lvl>
              </c:multiLvlStrCache>
            </c:multiLvlStrRef>
          </c:cat>
          <c:val>
            <c:numRef>
              <c:f>Sheet1!$B$2:$B$4</c:f>
              <c:numCache>
                <c:formatCode>General</c:formatCode>
                <c:ptCount val="3"/>
                <c:pt idx="0">
                  <c:v>0.833</c:v>
                </c:pt>
                <c:pt idx="1">
                  <c:v>0.935</c:v>
                </c:pt>
                <c:pt idx="2">
                  <c:v>0.958</c:v>
                </c:pt>
              </c:numCache>
            </c:numRef>
          </c:val>
        </c:ser>
        <c:ser>
          <c:idx val="1"/>
          <c:order val="1"/>
          <c:tx>
            <c:strRef>
              <c:f>Sheet1!$C$1</c:f>
              <c:strCache>
                <c:ptCount val="1"/>
                <c:pt idx="0">
                  <c:v>Redacted inputs</c:v>
                </c:pt>
              </c:strCache>
            </c:strRef>
          </c:tx>
          <c:spPr>
            <a:solidFill>
              <a:srgbClr val="2A78D6"/>
            </a:solidFill>
            <a:effectLst/>
          </c:spPr>
          <c:invertIfNegative val="0"/>
          <c:dLbls>
            <c:numFmt formatCode="0.00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Plain LLM</c:v>
                  </c:pt>
                  <c:pt idx="1">
                    <c:v>Standard RAG</c:v>
                  </c:pt>
                  <c:pt idx="2">
                    <c:v>Agent</c:v>
                  </c:pt>
                </c:lvl>
              </c:multiLvlStrCache>
            </c:multiLvlStrRef>
          </c:cat>
          <c:val>
            <c:numRef>
              <c:f>Sheet1!$C$2:$C$4</c:f>
              <c:numCache>
                <c:formatCode>General</c:formatCode>
                <c:ptCount val="3"/>
                <c:pt idx="0">
                  <c:v>0.688</c:v>
                </c:pt>
                <c:pt idx="1">
                  <c:v>0.879</c:v>
                </c:pt>
                <c:pt idx="2">
                  <c:v>0.856</c:v>
                </c:pt>
              </c:numCache>
            </c:numRef>
          </c:val>
        </c:ser>
        <c:dLbls>
          <c:numFmt formatCode="0.00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070"/>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6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07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Standard RAG</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000" u="none">
                    <a:solidFill>
                      <a:srgbClr val="1B1B1B"/>
                    </a:solidFill>
                    <a:latin typeface="Calibri"/>
                  </a:defRPr>
                </a:pPr>
              </a:p>
            </c:txPr>
            <c:showLegendKey val="0"/>
            <c:showVal val="0"/>
            <c:showCatName val="0"/>
            <c:showSerName val="0"/>
            <c:showPercent val="0"/>
            <c:showBubbleSize val="0"/>
            <c:showLeaderLines val="0"/>
          </c:dLbls>
          <c:marker>
            <c:symbol val="circle"/>
            <c:size val="9"/>
            <c:spPr>
              <a:solidFill>
                <a:srgbClr val="EB6834"/>
              </a:solidFill>
              <a:ln w="9525" cap="flat">
                <a:solidFill>
                  <a:srgbClr val="EB6834"/>
                </a:solidFill>
                <a:prstDash val="solid"/>
                <a:round/>
              </a:ln>
              <a:effectLst/>
            </c:spPr>
          </c:marker>
          <c:cat>
            <c:multiLvlStrRef>
              <c:f>Sheet1!$A$2:$A$5</c:f>
              <c:multiLvlStrCache>
                <c:ptCount val="4"/>
                <c:lvl>
                  <c:pt idx="0">
                    <c:v>0.3</c:v>
                  </c:pt>
                  <c:pt idx="1">
                    <c:v>0.5</c:v>
                  </c:pt>
                  <c:pt idx="2">
                    <c:v>0.7</c:v>
                  </c:pt>
                  <c:pt idx="3">
                    <c:v>0.9</c:v>
                  </c:pt>
                </c:lvl>
              </c:multiLvlStrCache>
            </c:multiLvlStrRef>
          </c:cat>
          <c:val>
            <c:numRef>
              <c:f>Sheet1!$B$2:$B$5</c:f>
              <c:numCache>
                <c:formatCode>General</c:formatCode>
                <c:ptCount val="4"/>
                <c:pt idx="0">
                  <c:v>0.808</c:v>
                </c:pt>
                <c:pt idx="1">
                  <c:v>0.538</c:v>
                </c:pt>
                <c:pt idx="2">
                  <c:v>0.038</c:v>
                </c:pt>
                <c:pt idx="3">
                  <c:v>0</c:v>
                </c:pt>
              </c:numCache>
            </c:numRef>
          </c:val>
          <c:smooth val="0"/>
        </c:ser>
        <c:ser>
          <c:idx val="1"/>
          <c:order val="1"/>
          <c:tx>
            <c:strRef>
              <c:f>Sheet1!$C$1</c:f>
              <c:strCache>
                <c:ptCount val="1"/>
                <c:pt idx="0">
                  <c:v>Agent</c:v>
                </c:pt>
              </c:strCache>
            </c:strRef>
          </c:tx>
          <c:spPr>
            <a:solidFill>
              <a:srgbClr val="1BAF7A"/>
            </a:solidFill>
            <a:ln w="38100" cap="flat">
              <a:solidFill>
                <a:srgbClr val="1BAF7A"/>
              </a:solidFill>
              <a:prstDash val="solid"/>
              <a:round/>
            </a:ln>
            <a:effectLst/>
          </c:spPr>
          <c:invertIfNegative val="0"/>
          <c:dLbls>
            <c:numFmt formatCode="#,##0" sourceLinked="0"/>
            <c:txPr>
              <a:bodyPr/>
              <a:lstStyle/>
              <a:p>
                <a:pPr>
                  <a:defRPr b="0" i="0" strike="noStrike" sz="1000" u="none">
                    <a:solidFill>
                      <a:srgbClr val="1B1B1B"/>
                    </a:solidFill>
                    <a:latin typeface="Calibri"/>
                  </a:defRPr>
                </a:pPr>
              </a:p>
            </c:txPr>
            <c:showLegendKey val="0"/>
            <c:showVal val="0"/>
            <c:showCatName val="0"/>
            <c:showSerName val="0"/>
            <c:showPercent val="0"/>
            <c:showBubbleSize val="0"/>
            <c:showLeaderLines val="0"/>
          </c:dLbls>
          <c:marker>
            <c:symbol val="circle"/>
            <c:size val="9"/>
            <c:spPr>
              <a:solidFill>
                <a:srgbClr val="1BAF7A"/>
              </a:solidFill>
              <a:ln w="9525" cap="flat">
                <a:solidFill>
                  <a:srgbClr val="1BAF7A"/>
                </a:solidFill>
                <a:prstDash val="solid"/>
                <a:round/>
              </a:ln>
              <a:effectLst/>
            </c:spPr>
          </c:marker>
          <c:cat>
            <c:multiLvlStrRef>
              <c:f>Sheet1!$A$2:$A$5</c:f>
              <c:multiLvlStrCache>
                <c:ptCount val="4"/>
                <c:lvl>
                  <c:pt idx="0">
                    <c:v>0.3</c:v>
                  </c:pt>
                  <c:pt idx="1">
                    <c:v>0.5</c:v>
                  </c:pt>
                  <c:pt idx="2">
                    <c:v>0.7</c:v>
                  </c:pt>
                  <c:pt idx="3">
                    <c:v>0.9</c:v>
                  </c:pt>
                </c:lvl>
              </c:multiLvlStrCache>
            </c:multiLvlStrRef>
          </c:cat>
          <c:val>
            <c:numRef>
              <c:f>Sheet1!$C$2:$C$5</c:f>
              <c:numCache>
                <c:formatCode>General</c:formatCode>
                <c:ptCount val="4"/>
                <c:pt idx="0">
                  <c:v>0.71</c:v>
                </c:pt>
                <c:pt idx="1">
                  <c:v>0.548</c:v>
                </c:pt>
                <c:pt idx="2">
                  <c:v>0.226</c:v>
                </c:pt>
                <c:pt idx="3">
                  <c:v>0.032</c:v>
                </c:pt>
              </c:numCache>
            </c:numRef>
          </c:val>
          <c:smooth val="0"/>
        </c:ser>
        <c:dLbls>
          <c:numFmt formatCode="#,##0" sourceLinked="0"/>
          <c:txPr>
            <a:bodyPr/>
            <a:lstStyle/>
            <a:p>
              <a:pPr>
                <a:defRPr b="0" i="0" strike="noStrike" sz="1000" u="none">
                  <a:solidFill>
                    <a:srgbClr val="1B1B1B"/>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070"/>
                    </a:solidFill>
                    <a:latin typeface="Arial"/>
                  </a:defRPr>
                </a:pPr>
                <a:r>
                  <a:rPr sz="1100" b="0" i="0" u="none" strike="noStrike">
                    <a:solidFill>
                      <a:srgbClr val="5A6070"/>
                    </a:solidFill>
                    <a:latin typeface="Arial"/>
                  </a:rPr>
                  <a:t>Faithful cut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070"/>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6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07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Answers</c:v>
                </c:pt>
              </c:strCache>
            </c:strRef>
          </c:tx>
          <c:spPr>
            <a:solidFill>
              <a:srgbClr val="1BAF7A"/>
            </a:solidFill>
            <a:effectLst/>
          </c:spPr>
          <c:invertIfNegative val="0"/>
          <c:dLbls>
            <c:numFmt formatCode="#,##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cat>
            <c:multiLvlStrRef>
              <c:f>Sheet1!$A$2:$A$6</c:f>
              <c:multiLvlStrCache>
                <c:ptCount val="5"/>
                <c:lvl>
                  <c:pt idx="0">
                    <c:v>A. Sector taken as the use case</c:v>
                  </c:pt>
                  <c:pt idx="1">
                    <c:v>B. 6(3) exception not applied</c:v>
                  </c:pt>
                  <c:pt idx="2">
                    <c:v>C. Profiling rule misused</c:v>
                  </c:pt>
                  <c:pt idx="3">
                    <c:v>D. Condition misread / fact invented</c:v>
                  </c:pt>
                  <c:pt idx="4">
                    <c:v>E. Too cautious on short input</c:v>
                  </c:pt>
                </c:lvl>
              </c:multiLvlStrCache>
            </c:multiLvlStrRef>
          </c:cat>
          <c:val>
            <c:numRef>
              <c:f>Sheet1!$B$2:$B$6</c:f>
              <c:numCache>
                <c:formatCode>General</c:formatCode>
                <c:ptCount val="5"/>
                <c:pt idx="0">
                  <c:v>6</c:v>
                </c:pt>
                <c:pt idx="1">
                  <c:v>4</c:v>
                </c:pt>
                <c:pt idx="2">
                  <c:v>3</c:v>
                </c:pt>
                <c:pt idx="3">
                  <c:v>2</c:v>
                </c:pt>
                <c:pt idx="4">
                  <c:v>2</c:v>
                </c:pt>
              </c:numCache>
            </c:numRef>
          </c:val>
        </c:ser>
        <c:dLbls>
          <c:numFmt formatCode="#,##0" sourceLinked="0"/>
          <c:txPr>
            <a:bodyPr/>
            <a:lstStyle/>
            <a:p>
              <a:pPr>
                <a:defRPr b="0" i="0" strike="noStrike" sz="10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607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0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sentence: this study asks whether the standard faithfulness metric for RAG systems tells you anything about whether a legal classification is actually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Faithfulness checks grounding, not correctness. Crossing the two gives four buckets; the off-diagonal ones are the findings. The study is designed to give a real answer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legal test in four steps. The answer key comes from the Commission's own worked examples, which is what makes a correctness axis possible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has no high-risk examples for law enforcement, migration and justice, so those areas test correct rejection only. Imbalance handled by reporting precision, recall and F1 next to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source split, shared retrieval, three configurations, evaluation harness, four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local open generator replaced the planned paid API model: it can be pinned, rerun and costs nothing. It proved fully reliable, so model reliability is not a story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model: 0.94 on leaky rows, 0.67 on clean rows. Retrieval systems barely affected. Fixed by redaction and a full rerun; disclosed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in the guidelines removes most false alarms. The step-by-step agent is not better than a generic RAG prompt. The leak had even flipped the ranking of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patterns: critical infrastructure is hard for everyone because of the safety-component test; the plain model over-calls in law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 is the chance that a random right answer scores higher than a random wrong one. 0.5 is a coin flip. For the agent the confidence interval includes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Faithful but wrong: 17 agent, 14 standard RAG. Right but unfaithful: about half of correct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agent 22, 17, 7, 1 of 31. Standard RAG 21, 14, 1, 0 of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had the right rule but applied it wrongly. The judge accepts the conclusion because the passages state the general rule correctly. Faithfulness never checks the application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most important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each maps to a concrete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takeaway and the practical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indent="0" marL="0">
              <a:buNone/>
            </a:pPr>
            <a:r>
              <a:rPr lang="en-US" sz="1300" b="1" spc="200" kern="0" dirty="0">
                <a:solidFill>
                  <a:srgbClr val="E8A317"/>
                </a:solidFill>
                <a:latin typeface="Calibri" pitchFamily="34" charset="0"/>
                <a:ea typeface="Calibri" pitchFamily="34" charset="-122"/>
                <a:cs typeface="Calibri" pitchFamily="34" charset="-120"/>
              </a:rPr>
              <a:t>CASE STUDY 2  |  M.Sc. DATA SCIENCE AND ANALYTICS</a:t>
            </a:r>
            <a:endParaRPr lang="en-US" sz="1300" dirty="0"/>
          </a:p>
        </p:txBody>
      </p:sp>
      <p:sp>
        <p:nvSpPr>
          <p:cNvPr id="3" name="Text 1"/>
          <p:cNvSpPr txBox="1"/>
          <p:nvPr/>
        </p:nvSpPr>
        <p:spPr>
          <a:xfrm>
            <a:off x="731520" y="146304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Faithful but wrong?</a:t>
            </a:r>
            <a:endParaRPr lang="en-US" sz="5400" dirty="0"/>
          </a:p>
        </p:txBody>
      </p:sp>
      <p:sp>
        <p:nvSpPr>
          <p:cNvPr id="4" name="Text 2"/>
          <p:cNvSpPr txBox="1"/>
          <p:nvPr/>
        </p:nvSpPr>
        <p:spPr>
          <a:xfrm>
            <a:off x="731520" y="2606040"/>
            <a:ext cx="9601200" cy="10058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Evaluating RAG-based high-risk classification under the EU AI Act against an authoritative answer key</a:t>
            </a:r>
            <a:endParaRPr lang="en-US" sz="2200" dirty="0"/>
          </a:p>
        </p:txBody>
      </p:sp>
      <p:sp>
        <p:nvSpPr>
          <p:cNvPr id="5" name="Text 3"/>
          <p:cNvSpPr txBox="1"/>
          <p:nvPr/>
        </p:nvSpPr>
        <p:spPr>
          <a:xfrm>
            <a:off x="731520" y="4754880"/>
            <a:ext cx="7315200" cy="10972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Rahul Rawat</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Supervisor: Prof. Dr. Swati Chandna</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SRH Hochschule Heidelberg  |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question</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RAG compliance tools are judged by how grounded they are. Is grounded the same as right?</a:t>
            </a:r>
            <a:endParaRPr lang="en-US" sz="1600" dirty="0"/>
          </a:p>
        </p:txBody>
      </p:sp>
      <p:sp>
        <p:nvSpPr>
          <p:cNvPr id="4" name="Shape 2"/>
          <p:cNvSpPr/>
          <p:nvPr/>
        </p:nvSpPr>
        <p:spPr>
          <a:xfrm>
            <a:off x="548640" y="1737360"/>
            <a:ext cx="5394960" cy="1920240"/>
          </a:xfrm>
          <a:prstGeom prst="roundRect">
            <a:avLst>
              <a:gd name="adj" fmla="val 3810"/>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984248"/>
            <a:ext cx="274320" cy="274320"/>
          </a:xfrm>
          <a:prstGeom prst="ellipse">
            <a:avLst/>
          </a:prstGeom>
          <a:solidFill>
            <a:srgbClr val="E8A317"/>
          </a:solidFill>
          <a:ln w="12700">
            <a:solidFill>
              <a:srgbClr val="E8A317"/>
            </a:solidFill>
            <a:prstDash val="solid"/>
          </a:ln>
        </p:spPr>
      </p:sp>
      <p:sp>
        <p:nvSpPr>
          <p:cNvPr id="6" name="Text 4"/>
          <p:cNvSpPr txBox="1"/>
          <p:nvPr/>
        </p:nvSpPr>
        <p:spPr>
          <a:xfrm>
            <a:off x="1188720" y="1901952"/>
            <a:ext cx="45262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Faithfulness (RAGAS)</a:t>
            </a:r>
            <a:endParaRPr lang="en-US" sz="1700" dirty="0"/>
          </a:p>
        </p:txBody>
      </p:sp>
      <p:sp>
        <p:nvSpPr>
          <p:cNvPr id="7" name="Text 5"/>
          <p:cNvSpPr txBox="1"/>
          <p:nvPr/>
        </p:nvSpPr>
        <p:spPr>
          <a:xfrm>
            <a:off x="777240" y="2423160"/>
            <a:ext cx="4937760" cy="109728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Share of the answer's claims that can be traced to the retrieved passages. Needs no answer key, which is why it is so widely used.</a:t>
            </a:r>
            <a:endParaRPr lang="en-US" sz="1350" dirty="0"/>
          </a:p>
        </p:txBody>
      </p:sp>
      <p:sp>
        <p:nvSpPr>
          <p:cNvPr id="8" name="Shape 6"/>
          <p:cNvSpPr/>
          <p:nvPr/>
        </p:nvSpPr>
        <p:spPr>
          <a:xfrm>
            <a:off x="6263640" y="1737360"/>
            <a:ext cx="5394960" cy="2011680"/>
          </a:xfrm>
          <a:prstGeom prst="roundRect">
            <a:avLst>
              <a:gd name="adj" fmla="val 3636"/>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492240" y="1984248"/>
            <a:ext cx="274320" cy="274320"/>
          </a:xfrm>
          <a:prstGeom prst="ellipse">
            <a:avLst/>
          </a:prstGeom>
          <a:solidFill>
            <a:srgbClr val="14213D"/>
          </a:solidFill>
          <a:ln w="12700">
            <a:solidFill>
              <a:srgbClr val="14213D"/>
            </a:solidFill>
            <a:prstDash val="solid"/>
          </a:ln>
        </p:spPr>
      </p:sp>
      <p:sp>
        <p:nvSpPr>
          <p:cNvPr id="10" name="Text 8"/>
          <p:cNvSpPr txBox="1"/>
          <p:nvPr/>
        </p:nvSpPr>
        <p:spPr>
          <a:xfrm>
            <a:off x="6903720" y="1901952"/>
            <a:ext cx="45262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Correctness</a:t>
            </a:r>
            <a:endParaRPr lang="en-US" sz="1700" dirty="0"/>
          </a:p>
        </p:txBody>
      </p:sp>
      <p:sp>
        <p:nvSpPr>
          <p:cNvPr id="11" name="Text 9"/>
          <p:cNvSpPr txBox="1"/>
          <p:nvPr/>
        </p:nvSpPr>
        <p:spPr>
          <a:xfrm>
            <a:off x="6492240" y="2423160"/>
            <a:ext cx="4937760" cy="118872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Does the predicted label match the official answer? Needs a ground truth, which legal tasks rarely have.</a:t>
            </a:r>
            <a:endParaRPr lang="en-US" sz="1350" dirty="0"/>
          </a:p>
        </p:txBody>
      </p:sp>
      <p:sp>
        <p:nvSpPr>
          <p:cNvPr id="12" name="Shape 10"/>
          <p:cNvSpPr/>
          <p:nvPr/>
        </p:nvSpPr>
        <p:spPr>
          <a:xfrm>
            <a:off x="548640" y="4069080"/>
            <a:ext cx="11109960" cy="2057400"/>
          </a:xfrm>
          <a:prstGeom prst="roundRect">
            <a:avLst>
              <a:gd name="adj" fmla="val 3556"/>
            </a:avLst>
          </a:prstGeom>
          <a:solidFill>
            <a:srgbClr val="EEF2F8"/>
          </a:solidFill>
          <a:ln w="12700">
            <a:solidFill>
              <a:srgbClr val="EEF2F8"/>
            </a:solidFill>
            <a:prstDash val="solid"/>
          </a:ln>
        </p:spPr>
      </p:sp>
      <p:sp>
        <p:nvSpPr>
          <p:cNvPr id="13" name="Text 11"/>
          <p:cNvSpPr txBox="1"/>
          <p:nvPr/>
        </p:nvSpPr>
        <p:spPr>
          <a:xfrm>
            <a:off x="822960" y="4206240"/>
            <a:ext cx="10515600" cy="41148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Two independent axes, four buckets</a:t>
            </a:r>
            <a:endParaRPr lang="en-US" sz="1800" dirty="0"/>
          </a:p>
        </p:txBody>
      </p:sp>
      <p:sp>
        <p:nvSpPr>
          <p:cNvPr id="14" name="Shape 12"/>
          <p:cNvSpPr/>
          <p:nvPr/>
        </p:nvSpPr>
        <p:spPr>
          <a:xfrm>
            <a:off x="822960" y="4754880"/>
            <a:ext cx="2514600" cy="1143000"/>
          </a:xfrm>
          <a:prstGeom prst="roundRect">
            <a:avLst>
              <a:gd name="adj" fmla="val 4800"/>
            </a:avLst>
          </a:prstGeom>
          <a:solidFill>
            <a:srgbClr val="FFFFFF"/>
          </a:solidFill>
          <a:ln w="12700">
            <a:solidFill>
              <a:srgbClr val="C9D1DE"/>
            </a:solidFill>
            <a:prstDash val="solid"/>
          </a:ln>
        </p:spPr>
      </p:sp>
      <p:sp>
        <p:nvSpPr>
          <p:cNvPr id="15" name="Text 13"/>
          <p:cNvSpPr txBox="1"/>
          <p:nvPr/>
        </p:nvSpPr>
        <p:spPr>
          <a:xfrm>
            <a:off x="960120" y="4828032"/>
            <a:ext cx="2240280" cy="10058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Right and faithful</a:t>
            </a:r>
            <a:endParaRPr lang="en-US" sz="1500" dirty="0"/>
          </a:p>
          <a:p>
            <a:pPr algn="ctr" indent="0" marL="0">
              <a:buNone/>
            </a:pPr>
            <a:r>
              <a:rPr lang="en-US" sz="1200" dirty="0">
                <a:solidFill>
                  <a:srgbClr val="5A6070"/>
                </a:solidFill>
                <a:latin typeface="Calibri" pitchFamily="34" charset="0"/>
                <a:ea typeface="Calibri" pitchFamily="34" charset="-122"/>
                <a:cs typeface="Calibri" pitchFamily="34" charset="-120"/>
              </a:rPr>
              <a:t>expected</a:t>
            </a:r>
            <a:endParaRPr lang="en-US" sz="1500" dirty="0"/>
          </a:p>
        </p:txBody>
      </p:sp>
      <p:sp>
        <p:nvSpPr>
          <p:cNvPr id="16" name="Shape 14"/>
          <p:cNvSpPr/>
          <p:nvPr/>
        </p:nvSpPr>
        <p:spPr>
          <a:xfrm>
            <a:off x="3520440" y="4754880"/>
            <a:ext cx="2514600" cy="1143000"/>
          </a:xfrm>
          <a:prstGeom prst="roundRect">
            <a:avLst>
              <a:gd name="adj" fmla="val 4800"/>
            </a:avLst>
          </a:prstGeom>
          <a:solidFill>
            <a:srgbClr val="FFFFFF"/>
          </a:solidFill>
          <a:ln w="25400">
            <a:solidFill>
              <a:srgbClr val="C0392B"/>
            </a:solidFill>
            <a:prstDash val="solid"/>
          </a:ln>
        </p:spPr>
      </p:sp>
      <p:sp>
        <p:nvSpPr>
          <p:cNvPr id="17" name="Text 15"/>
          <p:cNvSpPr txBox="1"/>
          <p:nvPr/>
        </p:nvSpPr>
        <p:spPr>
          <a:xfrm>
            <a:off x="3657600" y="4828032"/>
            <a:ext cx="2240280" cy="100584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Right but unfaithful</a:t>
            </a:r>
            <a:endParaRPr lang="en-US" sz="1500" dirty="0"/>
          </a:p>
          <a:p>
            <a:pPr algn="ctr" indent="0" marL="0">
              <a:buNone/>
            </a:pPr>
            <a:r>
              <a:rPr lang="en-US" sz="1200" dirty="0">
                <a:solidFill>
                  <a:srgbClr val="5A6070"/>
                </a:solidFill>
                <a:latin typeface="Calibri" pitchFamily="34" charset="0"/>
                <a:ea typeface="Calibri" pitchFamily="34" charset="-122"/>
                <a:cs typeface="Calibri" pitchFamily="34" charset="-120"/>
              </a:rPr>
              <a:t>finding</a:t>
            </a:r>
            <a:endParaRPr lang="en-US" sz="1500" dirty="0"/>
          </a:p>
        </p:txBody>
      </p:sp>
      <p:sp>
        <p:nvSpPr>
          <p:cNvPr id="18" name="Shape 16"/>
          <p:cNvSpPr/>
          <p:nvPr/>
        </p:nvSpPr>
        <p:spPr>
          <a:xfrm>
            <a:off x="6217920" y="4754880"/>
            <a:ext cx="2514600" cy="1143000"/>
          </a:xfrm>
          <a:prstGeom prst="roundRect">
            <a:avLst>
              <a:gd name="adj" fmla="val 4800"/>
            </a:avLst>
          </a:prstGeom>
          <a:solidFill>
            <a:srgbClr val="FFFFFF"/>
          </a:solidFill>
          <a:ln w="25400">
            <a:solidFill>
              <a:srgbClr val="C0392B"/>
            </a:solidFill>
            <a:prstDash val="solid"/>
          </a:ln>
        </p:spPr>
      </p:sp>
      <p:sp>
        <p:nvSpPr>
          <p:cNvPr id="19" name="Text 17"/>
          <p:cNvSpPr txBox="1"/>
          <p:nvPr/>
        </p:nvSpPr>
        <p:spPr>
          <a:xfrm>
            <a:off x="6355080" y="4828032"/>
            <a:ext cx="2240280" cy="1005840"/>
          </a:xfrm>
          <a:prstGeom prst="rect">
            <a:avLst/>
          </a:prstGeom>
          <a:noFill/>
          <a:ln/>
        </p:spPr>
        <p:txBody>
          <a:bodyPr wrap="square" lIns="0" tIns="0" rIns="0" bIns="0" rtlCol="0" anchor="ctr"/>
          <a:lstStyle/>
          <a:p>
            <a:pPr algn="ctr" indent="0" marL="0">
              <a:buNone/>
            </a:pPr>
            <a:r>
              <a:rPr lang="en-US" sz="1500" b="1" dirty="0">
                <a:solidFill>
                  <a:srgbClr val="C0392B"/>
                </a:solidFill>
                <a:latin typeface="Calibri" pitchFamily="34" charset="0"/>
                <a:ea typeface="Calibri" pitchFamily="34" charset="-122"/>
                <a:cs typeface="Calibri" pitchFamily="34" charset="-120"/>
              </a:rPr>
              <a:t>Faithful but wrong</a:t>
            </a:r>
            <a:endParaRPr lang="en-US" sz="1500" dirty="0"/>
          </a:p>
          <a:p>
            <a:pPr algn="ctr" indent="0" marL="0">
              <a:buNone/>
            </a:pPr>
            <a:r>
              <a:rPr lang="en-US" sz="1200" dirty="0">
                <a:solidFill>
                  <a:srgbClr val="5A6070"/>
                </a:solidFill>
                <a:latin typeface="Calibri" pitchFamily="34" charset="0"/>
                <a:ea typeface="Calibri" pitchFamily="34" charset="-122"/>
                <a:cs typeface="Calibri" pitchFamily="34" charset="-120"/>
              </a:rPr>
              <a:t>headline finding</a:t>
            </a:r>
            <a:endParaRPr lang="en-US" sz="1500" dirty="0"/>
          </a:p>
        </p:txBody>
      </p:sp>
      <p:sp>
        <p:nvSpPr>
          <p:cNvPr id="20" name="Shape 18"/>
          <p:cNvSpPr/>
          <p:nvPr/>
        </p:nvSpPr>
        <p:spPr>
          <a:xfrm>
            <a:off x="8915400" y="4754880"/>
            <a:ext cx="2514600" cy="1143000"/>
          </a:xfrm>
          <a:prstGeom prst="roundRect">
            <a:avLst>
              <a:gd name="adj" fmla="val 4800"/>
            </a:avLst>
          </a:prstGeom>
          <a:solidFill>
            <a:srgbClr val="FFFFFF"/>
          </a:solidFill>
          <a:ln w="12700">
            <a:solidFill>
              <a:srgbClr val="C9D1DE"/>
            </a:solidFill>
            <a:prstDash val="solid"/>
          </a:ln>
        </p:spPr>
      </p:sp>
      <p:sp>
        <p:nvSpPr>
          <p:cNvPr id="21" name="Text 19"/>
          <p:cNvSpPr txBox="1"/>
          <p:nvPr/>
        </p:nvSpPr>
        <p:spPr>
          <a:xfrm>
            <a:off x="9052560" y="4828032"/>
            <a:ext cx="2240280" cy="10058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Wrong and unfaithful</a:t>
            </a:r>
            <a:endParaRPr lang="en-US" sz="1500" dirty="0"/>
          </a:p>
          <a:p>
            <a:pPr algn="ctr" indent="0" marL="0">
              <a:buNone/>
            </a:pPr>
            <a:r>
              <a:rPr lang="en-US" sz="1200" dirty="0">
                <a:solidFill>
                  <a:srgbClr val="5A6070"/>
                </a:solidFill>
                <a:latin typeface="Calibri" pitchFamily="34" charset="0"/>
                <a:ea typeface="Calibri" pitchFamily="34" charset="-122"/>
                <a:cs typeface="Calibri" pitchFamily="34" charset="-120"/>
              </a:rPr>
              <a:t>expected</a:t>
            </a:r>
            <a:endParaRPr lang="en-US" sz="1500" dirty="0"/>
          </a:p>
        </p:txBody>
      </p:sp>
      <p:sp>
        <p:nvSpPr>
          <p:cNvPr id="22"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23" name="Text 21"/>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task: Article 6 high-risk classification</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Annex III route of the EU AI Act, including the Article 6(3) filter</a:t>
            </a:r>
            <a:endParaRPr lang="en-US" sz="1600" dirty="0"/>
          </a:p>
        </p:txBody>
      </p:sp>
      <p:sp>
        <p:nvSpPr>
          <p:cNvPr id="4" name="Shape 2"/>
          <p:cNvSpPr/>
          <p:nvPr/>
        </p:nvSpPr>
        <p:spPr>
          <a:xfrm>
            <a:off x="548640" y="1828800"/>
            <a:ext cx="685800" cy="685800"/>
          </a:xfrm>
          <a:prstGeom prst="ellipse">
            <a:avLst/>
          </a:prstGeom>
          <a:solidFill>
            <a:srgbClr val="14213D"/>
          </a:solidFill>
          <a:ln w="12700">
            <a:solidFill>
              <a:srgbClr val="14213D"/>
            </a:solidFill>
            <a:prstDash val="solid"/>
          </a:ln>
        </p:spPr>
      </p:sp>
      <p:sp>
        <p:nvSpPr>
          <p:cNvPr id="5" name="Text 3"/>
          <p:cNvSpPr txBox="1"/>
          <p:nvPr/>
        </p:nvSpPr>
        <p:spPr>
          <a:xfrm>
            <a:off x="54864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Shape 4"/>
          <p:cNvSpPr/>
          <p:nvPr/>
        </p:nvSpPr>
        <p:spPr>
          <a:xfrm>
            <a:off x="1325880" y="2171700"/>
            <a:ext cx="1920240" cy="0"/>
          </a:xfrm>
          <a:prstGeom prst="line">
            <a:avLst/>
          </a:prstGeom>
          <a:noFill/>
          <a:ln w="25400">
            <a:solidFill>
              <a:srgbClr val="B8C2D4"/>
            </a:solidFill>
            <a:prstDash val="solid"/>
            <a:tailEnd type="triangle"/>
          </a:ln>
        </p:spPr>
      </p:sp>
      <p:sp>
        <p:nvSpPr>
          <p:cNvPr id="7" name="Text 5"/>
          <p:cNvSpPr txBox="1"/>
          <p:nvPr/>
        </p:nvSpPr>
        <p:spPr>
          <a:xfrm>
            <a:off x="548640" y="2697480"/>
            <a:ext cx="256032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Intended purpose</a:t>
            </a:r>
            <a:endParaRPr lang="en-US" sz="1700" dirty="0"/>
          </a:p>
        </p:txBody>
      </p:sp>
      <p:sp>
        <p:nvSpPr>
          <p:cNvPr id="8" name="Text 6"/>
          <p:cNvSpPr txBox="1"/>
          <p:nvPr/>
        </p:nvSpPr>
        <p:spPr>
          <a:xfrm>
            <a:off x="548640" y="3154680"/>
            <a:ext cx="2560320" cy="164592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What does the system do, for whom, with which data?</a:t>
            </a:r>
            <a:endParaRPr lang="en-US" sz="1350" dirty="0"/>
          </a:p>
        </p:txBody>
      </p:sp>
      <p:sp>
        <p:nvSpPr>
          <p:cNvPr id="9" name="Shape 7"/>
          <p:cNvSpPr/>
          <p:nvPr/>
        </p:nvSpPr>
        <p:spPr>
          <a:xfrm>
            <a:off x="3383280" y="1828800"/>
            <a:ext cx="685800" cy="685800"/>
          </a:xfrm>
          <a:prstGeom prst="ellipse">
            <a:avLst/>
          </a:prstGeom>
          <a:solidFill>
            <a:srgbClr val="14213D"/>
          </a:solidFill>
          <a:ln w="12700">
            <a:solidFill>
              <a:srgbClr val="14213D"/>
            </a:solidFill>
            <a:prstDash val="solid"/>
          </a:ln>
        </p:spPr>
      </p:sp>
      <p:sp>
        <p:nvSpPr>
          <p:cNvPr id="10" name="Text 8"/>
          <p:cNvSpPr txBox="1"/>
          <p:nvPr/>
        </p:nvSpPr>
        <p:spPr>
          <a:xfrm>
            <a:off x="338328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1" name="Shape 9"/>
          <p:cNvSpPr/>
          <p:nvPr/>
        </p:nvSpPr>
        <p:spPr>
          <a:xfrm>
            <a:off x="4160520" y="2171700"/>
            <a:ext cx="1920240" cy="0"/>
          </a:xfrm>
          <a:prstGeom prst="line">
            <a:avLst/>
          </a:prstGeom>
          <a:noFill/>
          <a:ln w="25400">
            <a:solidFill>
              <a:srgbClr val="B8C2D4"/>
            </a:solidFill>
            <a:prstDash val="solid"/>
            <a:tailEnd type="triangle"/>
          </a:ln>
        </p:spPr>
      </p:sp>
      <p:sp>
        <p:nvSpPr>
          <p:cNvPr id="12" name="Text 10"/>
          <p:cNvSpPr txBox="1"/>
          <p:nvPr/>
        </p:nvSpPr>
        <p:spPr>
          <a:xfrm>
            <a:off x="3383280" y="2697480"/>
            <a:ext cx="256032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Annex III use case?</a:t>
            </a:r>
            <a:endParaRPr lang="en-US" sz="1700" dirty="0"/>
          </a:p>
        </p:txBody>
      </p:sp>
      <p:sp>
        <p:nvSpPr>
          <p:cNvPr id="13" name="Text 11"/>
          <p:cNvSpPr txBox="1"/>
          <p:nvPr/>
        </p:nvSpPr>
        <p:spPr>
          <a:xfrm>
            <a:off x="3383280" y="3154680"/>
            <a:ext cx="2560320" cy="164592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Eight areas: biometrics, critical infrastructure, education, employment, essential services, law enforcement, migration, justice and democracy</a:t>
            </a:r>
            <a:endParaRPr lang="en-US" sz="1350" dirty="0"/>
          </a:p>
        </p:txBody>
      </p:sp>
      <p:sp>
        <p:nvSpPr>
          <p:cNvPr id="14" name="Shape 12"/>
          <p:cNvSpPr/>
          <p:nvPr/>
        </p:nvSpPr>
        <p:spPr>
          <a:xfrm>
            <a:off x="6217920" y="1828800"/>
            <a:ext cx="685800" cy="685800"/>
          </a:xfrm>
          <a:prstGeom prst="ellipse">
            <a:avLst/>
          </a:prstGeom>
          <a:solidFill>
            <a:srgbClr val="14213D"/>
          </a:solidFill>
          <a:ln w="12700">
            <a:solidFill>
              <a:srgbClr val="14213D"/>
            </a:solidFill>
            <a:prstDash val="solid"/>
          </a:ln>
        </p:spPr>
      </p:sp>
      <p:sp>
        <p:nvSpPr>
          <p:cNvPr id="15" name="Text 13"/>
          <p:cNvSpPr txBox="1"/>
          <p:nvPr/>
        </p:nvSpPr>
        <p:spPr>
          <a:xfrm>
            <a:off x="621792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6" name="Shape 14"/>
          <p:cNvSpPr/>
          <p:nvPr/>
        </p:nvSpPr>
        <p:spPr>
          <a:xfrm>
            <a:off x="6995160" y="2171700"/>
            <a:ext cx="1920240" cy="0"/>
          </a:xfrm>
          <a:prstGeom prst="line">
            <a:avLst/>
          </a:prstGeom>
          <a:noFill/>
          <a:ln w="25400">
            <a:solidFill>
              <a:srgbClr val="B8C2D4"/>
            </a:solidFill>
            <a:prstDash val="solid"/>
            <a:tailEnd type="triangle"/>
          </a:ln>
        </p:spPr>
      </p:sp>
      <p:sp>
        <p:nvSpPr>
          <p:cNvPr id="17" name="Text 15"/>
          <p:cNvSpPr txBox="1"/>
          <p:nvPr/>
        </p:nvSpPr>
        <p:spPr>
          <a:xfrm>
            <a:off x="6217920" y="2697480"/>
            <a:ext cx="256032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Article 6(3) filter</a:t>
            </a:r>
            <a:endParaRPr lang="en-US" sz="1700" dirty="0"/>
          </a:p>
        </p:txBody>
      </p:sp>
      <p:sp>
        <p:nvSpPr>
          <p:cNvPr id="18" name="Text 16"/>
          <p:cNvSpPr txBox="1"/>
          <p:nvPr/>
        </p:nvSpPr>
        <p:spPr>
          <a:xfrm>
            <a:off x="6217920" y="3154680"/>
            <a:ext cx="2560320" cy="164592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Out again if only a narrow procedural or preparatory task, or improving completed human work. Profiling always stays high-risk.</a:t>
            </a:r>
            <a:endParaRPr lang="en-US" sz="1350" dirty="0"/>
          </a:p>
        </p:txBody>
      </p:sp>
      <p:sp>
        <p:nvSpPr>
          <p:cNvPr id="19" name="Shape 17"/>
          <p:cNvSpPr/>
          <p:nvPr/>
        </p:nvSpPr>
        <p:spPr>
          <a:xfrm>
            <a:off x="9052560" y="1828800"/>
            <a:ext cx="685800" cy="685800"/>
          </a:xfrm>
          <a:prstGeom prst="ellipse">
            <a:avLst/>
          </a:prstGeom>
          <a:solidFill>
            <a:srgbClr val="E8A317"/>
          </a:solidFill>
          <a:ln w="12700">
            <a:solidFill>
              <a:srgbClr val="E8A317"/>
            </a:solidFill>
            <a:prstDash val="solid"/>
          </a:ln>
        </p:spPr>
      </p:sp>
      <p:sp>
        <p:nvSpPr>
          <p:cNvPr id="20" name="Text 18"/>
          <p:cNvSpPr txBox="1"/>
          <p:nvPr/>
        </p:nvSpPr>
        <p:spPr>
          <a:xfrm>
            <a:off x="905256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1" name="Text 19"/>
          <p:cNvSpPr txBox="1"/>
          <p:nvPr/>
        </p:nvSpPr>
        <p:spPr>
          <a:xfrm>
            <a:off x="9052560" y="2697480"/>
            <a:ext cx="256032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Label</a:t>
            </a:r>
            <a:endParaRPr lang="en-US" sz="1700" dirty="0"/>
          </a:p>
        </p:txBody>
      </p:sp>
      <p:sp>
        <p:nvSpPr>
          <p:cNvPr id="22" name="Text 20"/>
          <p:cNvSpPr txBox="1"/>
          <p:nvPr/>
        </p:nvSpPr>
        <p:spPr>
          <a:xfrm>
            <a:off x="9052560" y="3154680"/>
            <a:ext cx="2560320" cy="164592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high-risk  or  not-high-risk, with an explanation</a:t>
            </a:r>
            <a:endParaRPr lang="en-US" sz="1350" dirty="0"/>
          </a:p>
        </p:txBody>
      </p:sp>
      <p:sp>
        <p:nvSpPr>
          <p:cNvPr id="23" name="Shape 21"/>
          <p:cNvSpPr/>
          <p:nvPr/>
        </p:nvSpPr>
        <p:spPr>
          <a:xfrm>
            <a:off x="548640" y="5074920"/>
            <a:ext cx="11109960" cy="1097280"/>
          </a:xfrm>
          <a:prstGeom prst="roundRect">
            <a:avLst>
              <a:gd name="adj" fmla="val 6667"/>
            </a:avLst>
          </a:prstGeom>
          <a:solidFill>
            <a:srgbClr val="EEF2F8"/>
          </a:solidFill>
          <a:ln w="12700">
            <a:solidFill>
              <a:srgbClr val="EEF2F8"/>
            </a:solidFill>
            <a:prstDash val="solid"/>
          </a:ln>
        </p:spPr>
      </p:sp>
      <p:sp>
        <p:nvSpPr>
          <p:cNvPr id="24" name="Text 22"/>
          <p:cNvSpPr txBox="1"/>
          <p:nvPr/>
        </p:nvSpPr>
        <p:spPr>
          <a:xfrm>
            <a:off x="822960" y="5166360"/>
            <a:ext cx="10607040" cy="91440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Ground truth: </a:t>
            </a:r>
            <a:pPr indent="0" marL="0">
              <a:buNone/>
            </a:pPr>
            <a:r>
              <a:rPr lang="en-US" sz="1400" dirty="0">
                <a:solidFill>
                  <a:srgbClr val="1B1B1B"/>
                </a:solidFill>
                <a:latin typeface="Calibri" pitchFamily="34" charset="0"/>
                <a:ea typeface="Calibri" pitchFamily="34" charset="-122"/>
                <a:cs typeface="Calibri" pitchFamily="34" charset="-120"/>
              </a:rPr>
              <a:t>the European Commission's draft guidelines on Annex III (May 2026, frozen). Every worked example ends in an authoritative verdict, so each test input has one known correct answer. Article 6(1) product safety is out of scope.</a:t>
            </a:r>
            <a:endParaRPr lang="en-US" sz="1400" dirty="0"/>
          </a:p>
        </p:txBody>
      </p:sp>
      <p:sp>
        <p:nvSpPr>
          <p:cNvPr id="25" name="Text 2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26" name="Text 2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Test set: 215 inputs with official labels</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Extracted from the worked examples; all eight Annex III areas covered</a:t>
            </a:r>
            <a:endParaRPr lang="en-US" sz="1600" dirty="0"/>
          </a:p>
        </p:txBody>
      </p:sp>
      <p:sp>
        <p:nvSpPr>
          <p:cNvPr id="4" name="Shape 2"/>
          <p:cNvSpPr/>
          <p:nvPr/>
        </p:nvSpPr>
        <p:spPr>
          <a:xfrm>
            <a:off x="548640" y="1645920"/>
            <a:ext cx="2468880" cy="1325880"/>
          </a:xfrm>
          <a:prstGeom prst="roundRect">
            <a:avLst>
              <a:gd name="adj" fmla="val 5517"/>
            </a:avLst>
          </a:prstGeom>
          <a:solidFill>
            <a:srgbClr val="EEF2F8"/>
          </a:solidFill>
          <a:ln w="12700">
            <a:solidFill>
              <a:srgbClr val="EEF2F8"/>
            </a:solidFill>
            <a:prstDash val="solid"/>
          </a:ln>
        </p:spPr>
      </p:sp>
      <p:sp>
        <p:nvSpPr>
          <p:cNvPr id="5" name="Text 3"/>
          <p:cNvSpPr txBox="1"/>
          <p:nvPr/>
        </p:nvSpPr>
        <p:spPr>
          <a:xfrm>
            <a:off x="685800" y="1755648"/>
            <a:ext cx="219456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215</a:t>
            </a:r>
            <a:endParaRPr lang="en-US" sz="3600" dirty="0"/>
          </a:p>
        </p:txBody>
      </p:sp>
      <p:sp>
        <p:nvSpPr>
          <p:cNvPr id="6" name="Text 4"/>
          <p:cNvSpPr txBox="1"/>
          <p:nvPr/>
        </p:nvSpPr>
        <p:spPr>
          <a:xfrm>
            <a:off x="685800" y="2423160"/>
            <a:ext cx="21945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test inputs, one gold label each</a:t>
            </a:r>
            <a:endParaRPr lang="en-US" sz="1200" dirty="0"/>
          </a:p>
        </p:txBody>
      </p:sp>
      <p:sp>
        <p:nvSpPr>
          <p:cNvPr id="7" name="Shape 5"/>
          <p:cNvSpPr/>
          <p:nvPr/>
        </p:nvSpPr>
        <p:spPr>
          <a:xfrm>
            <a:off x="548640" y="3108960"/>
            <a:ext cx="2468880" cy="1325880"/>
          </a:xfrm>
          <a:prstGeom prst="roundRect">
            <a:avLst>
              <a:gd name="adj" fmla="val 5517"/>
            </a:avLst>
          </a:prstGeom>
          <a:solidFill>
            <a:srgbClr val="EEF2F8"/>
          </a:solidFill>
          <a:ln w="12700">
            <a:solidFill>
              <a:srgbClr val="EEF2F8"/>
            </a:solidFill>
            <a:prstDash val="solid"/>
          </a:ln>
        </p:spPr>
      </p:sp>
      <p:sp>
        <p:nvSpPr>
          <p:cNvPr id="8" name="Text 6"/>
          <p:cNvSpPr txBox="1"/>
          <p:nvPr/>
        </p:nvSpPr>
        <p:spPr>
          <a:xfrm>
            <a:off x="685800" y="3218688"/>
            <a:ext cx="219456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66 / 149</a:t>
            </a:r>
            <a:endParaRPr lang="en-US" sz="3600" dirty="0"/>
          </a:p>
        </p:txBody>
      </p:sp>
      <p:sp>
        <p:nvSpPr>
          <p:cNvPr id="9" name="Text 7"/>
          <p:cNvSpPr txBox="1"/>
          <p:nvPr/>
        </p:nvSpPr>
        <p:spPr>
          <a:xfrm>
            <a:off x="685800" y="3886200"/>
            <a:ext cx="21945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high-risk / not high-risk (31% / 69%)</a:t>
            </a:r>
            <a:endParaRPr lang="en-US" sz="1200" dirty="0"/>
          </a:p>
        </p:txBody>
      </p:sp>
      <p:sp>
        <p:nvSpPr>
          <p:cNvPr id="10" name="Shape 8"/>
          <p:cNvSpPr/>
          <p:nvPr/>
        </p:nvSpPr>
        <p:spPr>
          <a:xfrm>
            <a:off x="548640" y="4572000"/>
            <a:ext cx="2468880" cy="1325880"/>
          </a:xfrm>
          <a:prstGeom prst="roundRect">
            <a:avLst>
              <a:gd name="adj" fmla="val 5517"/>
            </a:avLst>
          </a:prstGeom>
          <a:solidFill>
            <a:srgbClr val="EEF2F8"/>
          </a:solidFill>
          <a:ln w="12700">
            <a:solidFill>
              <a:srgbClr val="EEF2F8"/>
            </a:solidFill>
            <a:prstDash val="solid"/>
          </a:ln>
        </p:spPr>
      </p:sp>
      <p:sp>
        <p:nvSpPr>
          <p:cNvPr id="11" name="Text 9"/>
          <p:cNvSpPr txBox="1"/>
          <p:nvPr/>
        </p:nvSpPr>
        <p:spPr>
          <a:xfrm>
            <a:off x="685800" y="4681728"/>
            <a:ext cx="2194560" cy="685800"/>
          </a:xfrm>
          <a:prstGeom prst="rect">
            <a:avLst/>
          </a:prstGeom>
          <a:noFill/>
          <a:ln/>
        </p:spPr>
        <p:txBody>
          <a:bodyPr wrap="square" lIns="0" tIns="0" rIns="0" bIns="0" rtlCol="0" anchor="ctr"/>
          <a:lstStyle/>
          <a:p>
            <a:pPr indent="0" marL="0">
              <a:buNone/>
            </a:pPr>
            <a:r>
              <a:rPr lang="en-US" sz="3600" b="1" dirty="0">
                <a:solidFill>
                  <a:srgbClr val="E8A317"/>
                </a:solidFill>
                <a:latin typeface="Cambria" pitchFamily="34" charset="0"/>
                <a:ea typeface="Cambria" pitchFamily="34" charset="-122"/>
                <a:cs typeface="Cambria" pitchFamily="34" charset="-120"/>
              </a:rPr>
              <a:t>41</a:t>
            </a:r>
            <a:endParaRPr lang="en-US" sz="3600" dirty="0"/>
          </a:p>
        </p:txBody>
      </p:sp>
      <p:sp>
        <p:nvSpPr>
          <p:cNvPr id="12" name="Text 10"/>
          <p:cNvSpPr txBox="1"/>
          <p:nvPr/>
        </p:nvSpPr>
        <p:spPr>
          <a:xfrm>
            <a:off x="685800" y="5349240"/>
            <a:ext cx="21945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Article 6(3) filter cases, all not high-risk</a:t>
            </a:r>
            <a:endParaRPr lang="en-US" sz="1200" dirty="0"/>
          </a:p>
        </p:txBody>
      </p:sp>
      <p:graphicFrame>
        <p:nvGraphicFramePr>
          <p:cNvPr id="13" name="Chart 0" descr=""/>
          <p:cNvGraphicFramePr/>
          <p:nvPr/>
        </p:nvGraphicFramePr>
        <p:xfrm>
          <a:off x="3383280" y="1554480"/>
          <a:ext cx="8275320" cy="46634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5" name="Text 12"/>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Evaluation framework</a:t>
            </a:r>
            <a:endParaRPr lang="en-US" sz="3200" dirty="0"/>
          </a:p>
        </p:txBody>
      </p:sp>
      <p:pic>
        <p:nvPicPr>
          <p:cNvPr id="3" name="Image 0" descr="/home/claude/case_study2/report_figs/arch_detailed.png">    </p:cNvPr>
          <p:cNvPicPr>
            <a:picLocks noChangeAspect="1"/>
          </p:cNvPicPr>
          <p:nvPr/>
        </p:nvPicPr>
        <p:blipFill>
          <a:blip r:embed="rId1"/>
          <a:stretch>
            <a:fillRect/>
          </a:stretch>
        </p:blipFill>
        <p:spPr>
          <a:xfrm>
            <a:off x="548640" y="1097280"/>
            <a:ext cx="4160520" cy="5255314"/>
          </a:xfrm>
          <a:prstGeom prst="rect">
            <a:avLst/>
          </a:prstGeom>
        </p:spPr>
      </p:pic>
      <p:sp>
        <p:nvSpPr>
          <p:cNvPr id="4" name="Shape 1"/>
          <p:cNvSpPr/>
          <p:nvPr/>
        </p:nvSpPr>
        <p:spPr>
          <a:xfrm>
            <a:off x="5120640" y="1280160"/>
            <a:ext cx="384048" cy="384048"/>
          </a:xfrm>
          <a:prstGeom prst="ellipse">
            <a:avLst/>
          </a:prstGeom>
          <a:solidFill>
            <a:srgbClr val="14213D"/>
          </a:solidFill>
          <a:ln w="12700">
            <a:solidFill>
              <a:srgbClr val="14213D"/>
            </a:solidFill>
            <a:prstDash val="solid"/>
          </a:ln>
        </p:spPr>
      </p:sp>
      <p:sp>
        <p:nvSpPr>
          <p:cNvPr id="5" name="Text 2"/>
          <p:cNvSpPr txBox="1"/>
          <p:nvPr/>
        </p:nvSpPr>
        <p:spPr>
          <a:xfrm>
            <a:off x="5120640" y="1280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3"/>
          <p:cNvSpPr txBox="1"/>
          <p:nvPr/>
        </p:nvSpPr>
        <p:spPr>
          <a:xfrm>
            <a:off x="5669280" y="1234440"/>
            <a:ext cx="594360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Source split</a:t>
            </a:r>
            <a:endParaRPr lang="en-US" sz="1700" dirty="0"/>
          </a:p>
        </p:txBody>
      </p:sp>
      <p:sp>
        <p:nvSpPr>
          <p:cNvPr id="7" name="Text 4"/>
          <p:cNvSpPr txBox="1"/>
          <p:nvPr/>
        </p:nvSpPr>
        <p:spPr>
          <a:xfrm>
            <a:off x="5669280" y="1645920"/>
            <a:ext cx="5943600" cy="77724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Worked examples become the test set; only normative text (400 chunks) goes into the retrieval corpus, so labels cannot leak through retrieval.</a:t>
            </a:r>
            <a:endParaRPr lang="en-US" sz="1350" dirty="0"/>
          </a:p>
        </p:txBody>
      </p:sp>
      <p:sp>
        <p:nvSpPr>
          <p:cNvPr id="8" name="Shape 5"/>
          <p:cNvSpPr/>
          <p:nvPr/>
        </p:nvSpPr>
        <p:spPr>
          <a:xfrm>
            <a:off x="5120640" y="2560320"/>
            <a:ext cx="384048" cy="384048"/>
          </a:xfrm>
          <a:prstGeom prst="ellipse">
            <a:avLst/>
          </a:prstGeom>
          <a:solidFill>
            <a:srgbClr val="14213D"/>
          </a:solidFill>
          <a:ln w="12700">
            <a:solidFill>
              <a:srgbClr val="14213D"/>
            </a:solidFill>
            <a:prstDash val="solid"/>
          </a:ln>
        </p:spPr>
      </p:sp>
      <p:sp>
        <p:nvSpPr>
          <p:cNvPr id="9" name="Text 6"/>
          <p:cNvSpPr txBox="1"/>
          <p:nvPr/>
        </p:nvSpPr>
        <p:spPr>
          <a:xfrm>
            <a:off x="5120640" y="2560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7"/>
          <p:cNvSpPr txBox="1"/>
          <p:nvPr/>
        </p:nvSpPr>
        <p:spPr>
          <a:xfrm>
            <a:off x="5669280" y="2514600"/>
            <a:ext cx="594360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One shared pipeline</a:t>
            </a:r>
            <a:endParaRPr lang="en-US" sz="1700" dirty="0"/>
          </a:p>
        </p:txBody>
      </p:sp>
      <p:sp>
        <p:nvSpPr>
          <p:cNvPr id="11" name="Text 8"/>
          <p:cNvSpPr txBox="1"/>
          <p:nvPr/>
        </p:nvSpPr>
        <p:spPr>
          <a:xfrm>
            <a:off x="5669280" y="2926080"/>
            <a:ext cx="5943600" cy="77724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Hybrid BM25 + dense retrieval (bge-base-en-v1.5, Chroma, alpha 0.5, top 5). One generator for all three systems: only the prompt changes.</a:t>
            </a:r>
            <a:endParaRPr lang="en-US" sz="1350" dirty="0"/>
          </a:p>
        </p:txBody>
      </p:sp>
      <p:sp>
        <p:nvSpPr>
          <p:cNvPr id="12" name="Shape 9"/>
          <p:cNvSpPr/>
          <p:nvPr/>
        </p:nvSpPr>
        <p:spPr>
          <a:xfrm>
            <a:off x="5120640" y="3840480"/>
            <a:ext cx="384048" cy="384048"/>
          </a:xfrm>
          <a:prstGeom prst="ellipse">
            <a:avLst/>
          </a:prstGeom>
          <a:solidFill>
            <a:srgbClr val="14213D"/>
          </a:solidFill>
          <a:ln w="12700">
            <a:solidFill>
              <a:srgbClr val="14213D"/>
            </a:solidFill>
            <a:prstDash val="solid"/>
          </a:ln>
        </p:spPr>
      </p:sp>
      <p:sp>
        <p:nvSpPr>
          <p:cNvPr id="13" name="Text 10"/>
          <p:cNvSpPr txBox="1"/>
          <p:nvPr/>
        </p:nvSpPr>
        <p:spPr>
          <a:xfrm>
            <a:off x="5120640" y="38404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1"/>
          <p:cNvSpPr txBox="1"/>
          <p:nvPr/>
        </p:nvSpPr>
        <p:spPr>
          <a:xfrm>
            <a:off x="5669280" y="3794760"/>
            <a:ext cx="594360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Two independent axes</a:t>
            </a:r>
            <a:endParaRPr lang="en-US" sz="1700" dirty="0"/>
          </a:p>
        </p:txBody>
      </p:sp>
      <p:sp>
        <p:nvSpPr>
          <p:cNvPr id="15" name="Text 12"/>
          <p:cNvSpPr txBox="1"/>
          <p:nvPr/>
        </p:nvSpPr>
        <p:spPr>
          <a:xfrm>
            <a:off x="5669280" y="4206240"/>
            <a:ext cx="5943600" cy="77724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Judge (Qwen2.5-72B, separate model family) scores RAGAS faithfulness; correctness is a plain lookup against the Commission label.</a:t>
            </a:r>
            <a:endParaRPr lang="en-US" sz="1350" dirty="0"/>
          </a:p>
        </p:txBody>
      </p:sp>
      <p:sp>
        <p:nvSpPr>
          <p:cNvPr id="16" name="Shape 13"/>
          <p:cNvSpPr/>
          <p:nvPr/>
        </p:nvSpPr>
        <p:spPr>
          <a:xfrm>
            <a:off x="5120640" y="5120640"/>
            <a:ext cx="384048" cy="384048"/>
          </a:xfrm>
          <a:prstGeom prst="ellipse">
            <a:avLst/>
          </a:prstGeom>
          <a:solidFill>
            <a:srgbClr val="14213D"/>
          </a:solidFill>
          <a:ln w="12700">
            <a:solidFill>
              <a:srgbClr val="14213D"/>
            </a:solidFill>
            <a:prstDash val="solid"/>
          </a:ln>
        </p:spPr>
      </p:sp>
      <p:sp>
        <p:nvSpPr>
          <p:cNvPr id="17" name="Text 14"/>
          <p:cNvSpPr txBox="1"/>
          <p:nvPr/>
        </p:nvSpPr>
        <p:spPr>
          <a:xfrm>
            <a:off x="5120640" y="5120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5"/>
          <p:cNvSpPr txBox="1"/>
          <p:nvPr/>
        </p:nvSpPr>
        <p:spPr>
          <a:xfrm>
            <a:off x="5669280" y="5074920"/>
            <a:ext cx="594360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Reproducible</a:t>
            </a:r>
            <a:endParaRPr lang="en-US" sz="1700" dirty="0"/>
          </a:p>
        </p:txBody>
      </p:sp>
      <p:sp>
        <p:nvSpPr>
          <p:cNvPr id="19" name="Text 16"/>
          <p:cNvSpPr txBox="1"/>
          <p:nvPr/>
        </p:nvSpPr>
        <p:spPr>
          <a:xfrm>
            <a:off x="5669280" y="5486400"/>
            <a:ext cx="5943600" cy="77724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Local models on the university GPU with pinned revisions, greedy decoding, every prompt, passage and output logged.</a:t>
            </a:r>
            <a:endParaRPr lang="en-US" sz="1350" dirty="0"/>
          </a:p>
        </p:txBody>
      </p:sp>
      <p:sp>
        <p:nvSpPr>
          <p:cNvPr id="20" name="Text 1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21" name="Text 18"/>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Three systems, one generator</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Everything is held fixed except the prompt</a:t>
            </a:r>
            <a:endParaRPr lang="en-US" sz="1600" dirty="0"/>
          </a:p>
        </p:txBody>
      </p:sp>
      <p:sp>
        <p:nvSpPr>
          <p:cNvPr id="4" name="Shape 2"/>
          <p:cNvSpPr/>
          <p:nvPr/>
        </p:nvSpPr>
        <p:spPr>
          <a:xfrm>
            <a:off x="548640" y="1645920"/>
            <a:ext cx="3566160" cy="2651760"/>
          </a:xfrm>
          <a:prstGeom prst="roundRect">
            <a:avLst>
              <a:gd name="adj" fmla="val 2759"/>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892808"/>
            <a:ext cx="274320" cy="274320"/>
          </a:xfrm>
          <a:prstGeom prst="ellipse">
            <a:avLst/>
          </a:prstGeom>
          <a:solidFill>
            <a:srgbClr val="4A3AA7"/>
          </a:solidFill>
          <a:ln w="12700">
            <a:solidFill>
              <a:srgbClr val="4A3AA7"/>
            </a:solidFill>
            <a:prstDash val="solid"/>
          </a:ln>
        </p:spPr>
      </p:sp>
      <p:sp>
        <p:nvSpPr>
          <p:cNvPr id="6" name="Text 4"/>
          <p:cNvSpPr txBox="1"/>
          <p:nvPr/>
        </p:nvSpPr>
        <p:spPr>
          <a:xfrm>
            <a:off x="1188720" y="1810512"/>
            <a:ext cx="26974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Baseline 1: plain LLM</a:t>
            </a:r>
            <a:endParaRPr lang="en-US" sz="1700" dirty="0"/>
          </a:p>
        </p:txBody>
      </p:sp>
      <p:sp>
        <p:nvSpPr>
          <p:cNvPr id="7" name="Text 5"/>
          <p:cNvSpPr txBox="1"/>
          <p:nvPr/>
        </p:nvSpPr>
        <p:spPr>
          <a:xfrm>
            <a:off x="777240" y="2331720"/>
            <a:ext cx="3108960" cy="182880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System description only, no retrieved text. Label plus a short reason. No faithfulness score by design.</a:t>
            </a:r>
            <a:endParaRPr lang="en-US" sz="1350" dirty="0"/>
          </a:p>
        </p:txBody>
      </p:sp>
      <p:sp>
        <p:nvSpPr>
          <p:cNvPr id="8" name="Shape 6"/>
          <p:cNvSpPr/>
          <p:nvPr/>
        </p:nvSpPr>
        <p:spPr>
          <a:xfrm>
            <a:off x="4315968" y="1645920"/>
            <a:ext cx="3566160" cy="2651760"/>
          </a:xfrm>
          <a:prstGeom prst="roundRect">
            <a:avLst>
              <a:gd name="adj" fmla="val 2759"/>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44568" y="1892808"/>
            <a:ext cx="274320" cy="274320"/>
          </a:xfrm>
          <a:prstGeom prst="ellipse">
            <a:avLst/>
          </a:prstGeom>
          <a:solidFill>
            <a:srgbClr val="EB6834"/>
          </a:solidFill>
          <a:ln w="12700">
            <a:solidFill>
              <a:srgbClr val="EB6834"/>
            </a:solidFill>
            <a:prstDash val="solid"/>
          </a:ln>
        </p:spPr>
      </p:sp>
      <p:sp>
        <p:nvSpPr>
          <p:cNvPr id="10" name="Text 8"/>
          <p:cNvSpPr txBox="1"/>
          <p:nvPr/>
        </p:nvSpPr>
        <p:spPr>
          <a:xfrm>
            <a:off x="4956048" y="1810512"/>
            <a:ext cx="26974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Baseline 2: standard RAG</a:t>
            </a:r>
            <a:endParaRPr lang="en-US" sz="1700" dirty="0"/>
          </a:p>
        </p:txBody>
      </p:sp>
      <p:sp>
        <p:nvSpPr>
          <p:cNvPr id="11" name="Text 9"/>
          <p:cNvSpPr txBox="1"/>
          <p:nvPr/>
        </p:nvSpPr>
        <p:spPr>
          <a:xfrm>
            <a:off x="4544568" y="2331720"/>
            <a:ext cx="3108960" cy="182880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Description plus the top 5 passages and a generic instruction to classify and ground the explanation.</a:t>
            </a:r>
            <a:endParaRPr lang="en-US" sz="1350" dirty="0"/>
          </a:p>
        </p:txBody>
      </p:sp>
      <p:sp>
        <p:nvSpPr>
          <p:cNvPr id="12" name="Shape 10"/>
          <p:cNvSpPr/>
          <p:nvPr/>
        </p:nvSpPr>
        <p:spPr>
          <a:xfrm>
            <a:off x="8092440" y="1645920"/>
            <a:ext cx="3566160" cy="2651760"/>
          </a:xfrm>
          <a:prstGeom prst="roundRect">
            <a:avLst>
              <a:gd name="adj" fmla="val 2759"/>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8321040" y="1892808"/>
            <a:ext cx="274320" cy="274320"/>
          </a:xfrm>
          <a:prstGeom prst="ellipse">
            <a:avLst/>
          </a:prstGeom>
          <a:solidFill>
            <a:srgbClr val="1BAF7A"/>
          </a:solidFill>
          <a:ln w="12700">
            <a:solidFill>
              <a:srgbClr val="1BAF7A"/>
            </a:solidFill>
            <a:prstDash val="solid"/>
          </a:ln>
        </p:spPr>
      </p:sp>
      <p:sp>
        <p:nvSpPr>
          <p:cNvPr id="14" name="Text 12"/>
          <p:cNvSpPr txBox="1"/>
          <p:nvPr/>
        </p:nvSpPr>
        <p:spPr>
          <a:xfrm>
            <a:off x="8732520" y="1810512"/>
            <a:ext cx="26974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Agent: structured RAG</a:t>
            </a:r>
            <a:endParaRPr lang="en-US" sz="1700" dirty="0"/>
          </a:p>
        </p:txBody>
      </p:sp>
      <p:sp>
        <p:nvSpPr>
          <p:cNvPr id="15" name="Text 13"/>
          <p:cNvSpPr txBox="1"/>
          <p:nvPr/>
        </p:nvSpPr>
        <p:spPr>
          <a:xfrm>
            <a:off x="8321040" y="2331720"/>
            <a:ext cx="3108960" cy="182880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Same passages, prompt walks the legal test step by step: purpose, Annex III area, Article 6(3) conditions, profiling rule.</a:t>
            </a:r>
            <a:endParaRPr lang="en-US" sz="1350" dirty="0"/>
          </a:p>
        </p:txBody>
      </p:sp>
      <p:sp>
        <p:nvSpPr>
          <p:cNvPr id="16" name="Shape 14"/>
          <p:cNvSpPr/>
          <p:nvPr/>
        </p:nvSpPr>
        <p:spPr>
          <a:xfrm>
            <a:off x="548640" y="4663440"/>
            <a:ext cx="3566160" cy="1325880"/>
          </a:xfrm>
          <a:prstGeom prst="roundRect">
            <a:avLst>
              <a:gd name="adj" fmla="val 5517"/>
            </a:avLst>
          </a:prstGeom>
          <a:solidFill>
            <a:srgbClr val="EEF2F8"/>
          </a:solidFill>
          <a:ln w="12700">
            <a:solidFill>
              <a:srgbClr val="EEF2F8"/>
            </a:solidFill>
            <a:prstDash val="solid"/>
          </a:ln>
        </p:spPr>
      </p:sp>
      <p:sp>
        <p:nvSpPr>
          <p:cNvPr id="17" name="Text 15"/>
          <p:cNvSpPr txBox="1"/>
          <p:nvPr/>
        </p:nvSpPr>
        <p:spPr>
          <a:xfrm>
            <a:off x="685800" y="4773168"/>
            <a:ext cx="329184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phi-4</a:t>
            </a:r>
            <a:endParaRPr lang="en-US" sz="3600" dirty="0"/>
          </a:p>
        </p:txBody>
      </p:sp>
      <p:sp>
        <p:nvSpPr>
          <p:cNvPr id="18" name="Text 16"/>
          <p:cNvSpPr txBox="1"/>
          <p:nvPr/>
        </p:nvSpPr>
        <p:spPr>
          <a:xfrm>
            <a:off x="685800" y="5440680"/>
            <a:ext cx="329184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generator: microsoft/phi-4 (14B), local vLLM, greedy, pinned</a:t>
            </a:r>
            <a:endParaRPr lang="en-US" sz="1200" dirty="0"/>
          </a:p>
        </p:txBody>
      </p:sp>
      <p:sp>
        <p:nvSpPr>
          <p:cNvPr id="19" name="Shape 17"/>
          <p:cNvSpPr/>
          <p:nvPr/>
        </p:nvSpPr>
        <p:spPr>
          <a:xfrm>
            <a:off x="4315968" y="4663440"/>
            <a:ext cx="3566160" cy="1325880"/>
          </a:xfrm>
          <a:prstGeom prst="roundRect">
            <a:avLst>
              <a:gd name="adj" fmla="val 5517"/>
            </a:avLst>
          </a:prstGeom>
          <a:solidFill>
            <a:srgbClr val="EEF2F8"/>
          </a:solidFill>
          <a:ln w="12700">
            <a:solidFill>
              <a:srgbClr val="EEF2F8"/>
            </a:solidFill>
            <a:prstDash val="solid"/>
          </a:ln>
        </p:spPr>
      </p:sp>
      <p:sp>
        <p:nvSpPr>
          <p:cNvPr id="20" name="Text 18"/>
          <p:cNvSpPr txBox="1"/>
          <p:nvPr/>
        </p:nvSpPr>
        <p:spPr>
          <a:xfrm>
            <a:off x="4453128" y="4773168"/>
            <a:ext cx="329184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Qwen 72B</a:t>
            </a:r>
            <a:endParaRPr lang="en-US" sz="3600" dirty="0"/>
          </a:p>
        </p:txBody>
      </p:sp>
      <p:sp>
        <p:nvSpPr>
          <p:cNvPr id="21" name="Text 19"/>
          <p:cNvSpPr txBox="1"/>
          <p:nvPr/>
        </p:nvSpPr>
        <p:spPr>
          <a:xfrm>
            <a:off x="4453128" y="5440680"/>
            <a:ext cx="329184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judge: Qwen2.5-72B-Instruct-AWQ, other model family</a:t>
            </a:r>
            <a:endParaRPr lang="en-US" sz="1200" dirty="0"/>
          </a:p>
        </p:txBody>
      </p:sp>
      <p:sp>
        <p:nvSpPr>
          <p:cNvPr id="22" name="Shape 20"/>
          <p:cNvSpPr/>
          <p:nvPr/>
        </p:nvSpPr>
        <p:spPr>
          <a:xfrm>
            <a:off x="8092440" y="4663440"/>
            <a:ext cx="3566160" cy="1325880"/>
          </a:xfrm>
          <a:prstGeom prst="roundRect">
            <a:avLst>
              <a:gd name="adj" fmla="val 5517"/>
            </a:avLst>
          </a:prstGeom>
          <a:solidFill>
            <a:srgbClr val="EEF2F8"/>
          </a:solidFill>
          <a:ln w="12700">
            <a:solidFill>
              <a:srgbClr val="EEF2F8"/>
            </a:solidFill>
            <a:prstDash val="solid"/>
          </a:ln>
        </p:spPr>
      </p:sp>
      <p:sp>
        <p:nvSpPr>
          <p:cNvPr id="23" name="Text 21"/>
          <p:cNvSpPr txBox="1"/>
          <p:nvPr/>
        </p:nvSpPr>
        <p:spPr>
          <a:xfrm>
            <a:off x="8229600" y="4773168"/>
            <a:ext cx="329184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645</a:t>
            </a:r>
            <a:endParaRPr lang="en-US" sz="3600" dirty="0"/>
          </a:p>
        </p:txBody>
      </p:sp>
      <p:sp>
        <p:nvSpPr>
          <p:cNvPr id="24" name="Text 22"/>
          <p:cNvSpPr txBox="1"/>
          <p:nvPr/>
        </p:nvSpPr>
        <p:spPr>
          <a:xfrm>
            <a:off x="8229600" y="5440680"/>
            <a:ext cx="329184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generations, 0 parse failures, 0 empty, 0 errors</a:t>
            </a:r>
            <a:endParaRPr lang="en-US" sz="1200" dirty="0"/>
          </a:p>
        </p:txBody>
      </p:sp>
      <p:sp>
        <p:nvSpPr>
          <p:cNvPr id="25" name="Text 2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26" name="Text 2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 label leak found and fixed</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60% of inputs contained the Commission's own verdict</a:t>
            </a:r>
            <a:endParaRPr lang="en-US" sz="1600" dirty="0"/>
          </a:p>
        </p:txBody>
      </p:sp>
      <p:graphicFrame>
        <p:nvGraphicFramePr>
          <p:cNvPr id="4" name="Chart 0" descr=""/>
          <p:cNvGraphicFramePr/>
          <p:nvPr/>
        </p:nvGraphicFramePr>
        <p:xfrm>
          <a:off x="548640" y="155448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49440" y="1645920"/>
            <a:ext cx="4663440" cy="17373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What happened</a:t>
            </a:r>
            <a:endParaRPr lang="en-US" sz="1400" dirty="0"/>
          </a:p>
          <a:p>
            <a:pPr indent="0" marL="0">
              <a:buNone/>
            </a:pPr>
            <a:r>
              <a:rPr lang="en-US" sz="1400" dirty="0">
                <a:solidFill>
                  <a:srgbClr val="1B1B1B"/>
                </a:solidFill>
                <a:latin typeface="Calibri" pitchFamily="34" charset="0"/>
                <a:ea typeface="Calibri" pitchFamily="34" charset="-122"/>
                <a:cs typeface="Calibri" pitchFamily="34" charset="-120"/>
              </a:rPr>
              <a:t>The extractor kept each example's closing verdict, e.g. "It therefore falls outside the use case of point 4(a)". The plain model was reading the answer.</a:t>
            </a:r>
            <a:endParaRPr lang="en-US" sz="1400" dirty="0"/>
          </a:p>
        </p:txBody>
      </p:sp>
      <p:sp>
        <p:nvSpPr>
          <p:cNvPr id="6" name="Text 3"/>
          <p:cNvSpPr txBox="1"/>
          <p:nvPr/>
        </p:nvSpPr>
        <p:spPr>
          <a:xfrm>
            <a:off x="6949440" y="3474720"/>
            <a:ext cx="466344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How it was fixed</a:t>
            </a:r>
            <a:endParaRPr lang="en-US" sz="1700" dirty="0"/>
          </a:p>
        </p:txBody>
      </p:sp>
      <p:sp>
        <p:nvSpPr>
          <p:cNvPr id="7" name="Text 4"/>
          <p:cNvSpPr txBox="1"/>
          <p:nvPr/>
        </p:nvSpPr>
        <p:spPr>
          <a:xfrm>
            <a:off x="6949440" y="3931920"/>
            <a:ext cx="466344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B"/>
                </a:solidFill>
                <a:latin typeface="Calibri" pitchFamily="34" charset="0"/>
                <a:ea typeface="Calibri" pitchFamily="34" charset="-122"/>
                <a:cs typeface="Calibri" pitchFamily="34" charset="-120"/>
              </a:rPr>
              <a:t>Keep what the system does; remove every legal conclusion and citation</a:t>
            </a:r>
            <a:endParaRPr lang="en-US" sz="1400" dirty="0"/>
          </a:p>
          <a:p>
            <a:pPr marL="342900" indent="-342900">
              <a:spcAft>
                <a:spcPts val="800"/>
              </a:spcAft>
              <a:buSzPct val="100000"/>
              <a:buChar char="•"/>
            </a:pPr>
            <a:r>
              <a:rPr lang="en-US" sz="1400" dirty="0">
                <a:solidFill>
                  <a:srgbClr val="1B1B1B"/>
                </a:solidFill>
                <a:latin typeface="Calibri" pitchFamily="34" charset="0"/>
                <a:ea typeface="Calibri" pitchFamily="34" charset="-122"/>
                <a:cs typeface="Calibri" pitchFamily="34" charset="-120"/>
              </a:rPr>
              <a:t>96 rows automatic, 31 hand-edited, 46 reviewed by the author</a:t>
            </a:r>
            <a:endParaRPr lang="en-US" sz="1400" dirty="0"/>
          </a:p>
          <a:p>
            <a:pPr marL="342900" indent="-342900">
              <a:spcAft>
                <a:spcPts val="800"/>
              </a:spcAft>
              <a:buSzPct val="100000"/>
              <a:buChar char="•"/>
            </a:pPr>
            <a:r>
              <a:rPr lang="en-US" sz="1400" dirty="0">
                <a:solidFill>
                  <a:srgbClr val="1B1B1B"/>
                </a:solidFill>
                <a:latin typeface="Calibri" pitchFamily="34" charset="0"/>
                <a:ea typeface="Calibri" pitchFamily="34" charset="-122"/>
                <a:cs typeface="Calibri" pitchFamily="34" charset="-120"/>
              </a:rPr>
              <a:t>IDs and gold labels unchanged; all systems rerun</a:t>
            </a:r>
            <a:endParaRPr lang="en-US" sz="1400" dirty="0"/>
          </a:p>
          <a:p>
            <a:pPr marL="342900" indent="-342900">
              <a:spcAft>
                <a:spcPts val="800"/>
              </a:spcAft>
              <a:buSzPct val="100000"/>
              <a:buChar char="•"/>
            </a:pPr>
            <a:r>
              <a:rPr lang="en-US" sz="1400" dirty="0">
                <a:solidFill>
                  <a:srgbClr val="1B1B1B"/>
                </a:solidFill>
                <a:latin typeface="Calibri" pitchFamily="34" charset="0"/>
                <a:ea typeface="Calibri" pitchFamily="34" charset="-122"/>
                <a:cs typeface="Calibri" pitchFamily="34" charset="-120"/>
              </a:rPr>
              <a:t>Mean input length 557 to 392 characters</a:t>
            </a:r>
            <a:endParaRPr lang="en-US" sz="1400" dirty="0"/>
          </a:p>
        </p:txBody>
      </p:sp>
      <p:sp>
        <p:nvSpPr>
          <p:cNvPr id="8" name="Text 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9" name="Text 6"/>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Result 1: retrieval helps, the structured prompt does not</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Accuracy on 215 inputs, before and after redaction</a:t>
            </a:r>
            <a:endParaRPr lang="en-US" sz="1600" dirty="0"/>
          </a:p>
        </p:txBody>
      </p:sp>
      <p:graphicFrame>
        <p:nvGraphicFramePr>
          <p:cNvPr id="4" name="Chart 0" descr=""/>
          <p:cNvGraphicFramePr/>
          <p:nvPr/>
        </p:nvGraphicFramePr>
        <p:xfrm>
          <a:off x="548640" y="155448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45920"/>
            <a:ext cx="4160520" cy="1325880"/>
          </a:xfrm>
          <a:prstGeom prst="roundRect">
            <a:avLst>
              <a:gd name="adj" fmla="val 5517"/>
            </a:avLst>
          </a:prstGeom>
          <a:solidFill>
            <a:srgbClr val="EEF2F8"/>
          </a:solidFill>
          <a:ln w="12700">
            <a:solidFill>
              <a:srgbClr val="EEF2F8"/>
            </a:solidFill>
            <a:prstDash val="solid"/>
          </a:ln>
        </p:spPr>
      </p:sp>
      <p:sp>
        <p:nvSpPr>
          <p:cNvPr id="6" name="Text 3"/>
          <p:cNvSpPr txBox="1"/>
          <p:nvPr/>
        </p:nvSpPr>
        <p:spPr>
          <a:xfrm>
            <a:off x="7635240" y="1755648"/>
            <a:ext cx="3886200" cy="685800"/>
          </a:xfrm>
          <a:prstGeom prst="rect">
            <a:avLst/>
          </a:prstGeom>
          <a:noFill/>
          <a:ln/>
        </p:spPr>
        <p:txBody>
          <a:bodyPr wrap="square" lIns="0" tIns="0" rIns="0" bIns="0" rtlCol="0" anchor="ctr"/>
          <a:lstStyle/>
          <a:p>
            <a:pPr indent="0" marL="0">
              <a:buNone/>
            </a:pPr>
            <a:r>
              <a:rPr lang="en-US" sz="3600" b="1" dirty="0">
                <a:solidFill>
                  <a:srgbClr val="2A78D6"/>
                </a:solidFill>
                <a:latin typeface="Cambria" pitchFamily="34" charset="0"/>
                <a:ea typeface="Cambria" pitchFamily="34" charset="-122"/>
                <a:cs typeface="Cambria" pitchFamily="34" charset="-120"/>
              </a:rPr>
              <a:t>+19 pts</a:t>
            </a:r>
            <a:endParaRPr lang="en-US" sz="3600" dirty="0"/>
          </a:p>
        </p:txBody>
      </p:sp>
      <p:sp>
        <p:nvSpPr>
          <p:cNvPr id="7" name="Text 4"/>
          <p:cNvSpPr txBox="1"/>
          <p:nvPr/>
        </p:nvSpPr>
        <p:spPr>
          <a:xfrm>
            <a:off x="7635240" y="2423160"/>
            <a:ext cx="388620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standard RAG vs plain LLM, redacted inputs (McNemar p &lt; 0.001)</a:t>
            </a:r>
            <a:endParaRPr lang="en-US" sz="1200" dirty="0"/>
          </a:p>
        </p:txBody>
      </p:sp>
      <p:sp>
        <p:nvSpPr>
          <p:cNvPr id="8" name="Shape 5"/>
          <p:cNvSpPr/>
          <p:nvPr/>
        </p:nvSpPr>
        <p:spPr>
          <a:xfrm>
            <a:off x="7498080" y="3108960"/>
            <a:ext cx="4160520" cy="1325880"/>
          </a:xfrm>
          <a:prstGeom prst="roundRect">
            <a:avLst>
              <a:gd name="adj" fmla="val 5517"/>
            </a:avLst>
          </a:prstGeom>
          <a:solidFill>
            <a:srgbClr val="EEF2F8"/>
          </a:solidFill>
          <a:ln w="12700">
            <a:solidFill>
              <a:srgbClr val="EEF2F8"/>
            </a:solidFill>
            <a:prstDash val="solid"/>
          </a:ln>
        </p:spPr>
      </p:sp>
      <p:sp>
        <p:nvSpPr>
          <p:cNvPr id="9" name="Text 6"/>
          <p:cNvSpPr txBox="1"/>
          <p:nvPr/>
        </p:nvSpPr>
        <p:spPr>
          <a:xfrm>
            <a:off x="7635240" y="3218688"/>
            <a:ext cx="388620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60 vs 17</a:t>
            </a:r>
            <a:endParaRPr lang="en-US" sz="3600" dirty="0"/>
          </a:p>
        </p:txBody>
      </p:sp>
      <p:sp>
        <p:nvSpPr>
          <p:cNvPr id="10" name="Text 7"/>
          <p:cNvSpPr txBox="1"/>
          <p:nvPr/>
        </p:nvSpPr>
        <p:spPr>
          <a:xfrm>
            <a:off x="7635240" y="3886200"/>
            <a:ext cx="388620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false high-risk calls: plain LLM vs standard RAG</a:t>
            </a:r>
            <a:endParaRPr lang="en-US" sz="1200" dirty="0"/>
          </a:p>
        </p:txBody>
      </p:sp>
      <p:sp>
        <p:nvSpPr>
          <p:cNvPr id="11" name="Shape 8"/>
          <p:cNvSpPr/>
          <p:nvPr/>
        </p:nvSpPr>
        <p:spPr>
          <a:xfrm>
            <a:off x="7498080" y="4572000"/>
            <a:ext cx="4160520" cy="1325880"/>
          </a:xfrm>
          <a:prstGeom prst="roundRect">
            <a:avLst>
              <a:gd name="adj" fmla="val 5517"/>
            </a:avLst>
          </a:prstGeom>
          <a:solidFill>
            <a:srgbClr val="EEF2F8"/>
          </a:solidFill>
          <a:ln w="12700">
            <a:solidFill>
              <a:srgbClr val="EEF2F8"/>
            </a:solidFill>
            <a:prstDash val="solid"/>
          </a:ln>
        </p:spPr>
      </p:sp>
      <p:sp>
        <p:nvSpPr>
          <p:cNvPr id="12" name="Text 9"/>
          <p:cNvSpPr txBox="1"/>
          <p:nvPr/>
        </p:nvSpPr>
        <p:spPr>
          <a:xfrm>
            <a:off x="7635240" y="4681728"/>
            <a:ext cx="3886200" cy="685800"/>
          </a:xfrm>
          <a:prstGeom prst="rect">
            <a:avLst/>
          </a:prstGeom>
          <a:noFill/>
          <a:ln/>
        </p:spPr>
        <p:txBody>
          <a:bodyPr wrap="square" lIns="0" tIns="0" rIns="0" bIns="0" rtlCol="0" anchor="ctr"/>
          <a:lstStyle/>
          <a:p>
            <a:pPr indent="0" marL="0">
              <a:buNone/>
            </a:pPr>
            <a:r>
              <a:rPr lang="en-US" sz="3600" b="1" dirty="0">
                <a:solidFill>
                  <a:srgbClr val="C0392B"/>
                </a:solidFill>
                <a:latin typeface="Cambria" pitchFamily="34" charset="0"/>
                <a:ea typeface="Cambria" pitchFamily="34" charset="-122"/>
                <a:cs typeface="Cambria" pitchFamily="34" charset="-120"/>
              </a:rPr>
              <a:t>p = 0.30</a:t>
            </a:r>
            <a:endParaRPr lang="en-US" sz="3600" dirty="0"/>
          </a:p>
        </p:txBody>
      </p:sp>
      <p:sp>
        <p:nvSpPr>
          <p:cNvPr id="13" name="Text 10"/>
          <p:cNvSpPr txBox="1"/>
          <p:nvPr/>
        </p:nvSpPr>
        <p:spPr>
          <a:xfrm>
            <a:off x="7635240" y="5349240"/>
            <a:ext cx="388620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agent vs standard RAG: no gain, slightly worse (0.856 vs 0.879)</a:t>
            </a:r>
            <a:endParaRPr lang="en-US" sz="1200" dirty="0"/>
          </a:p>
        </p:txBody>
      </p:sp>
      <p:sp>
        <p:nvSpPr>
          <p:cNvPr id="14"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5" name="Text 12"/>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Where the systems struggle</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Accuracy by Annex III area (redacted inputs)</a:t>
            </a:r>
            <a:endParaRPr lang="en-US" sz="1600" dirty="0"/>
          </a:p>
        </p:txBody>
      </p:sp>
      <p:pic>
        <p:nvPicPr>
          <p:cNvPr id="4" name="Image 0" descr="/home/claude/case_study2/report_figs/fig_area_heatmap.png">    </p:cNvPr>
          <p:cNvPicPr>
            <a:picLocks noChangeAspect="1"/>
          </p:cNvPicPr>
          <p:nvPr/>
        </p:nvPicPr>
        <p:blipFill>
          <a:blip r:embed="rId1"/>
          <a:stretch>
            <a:fillRect/>
          </a:stretch>
        </p:blipFill>
        <p:spPr>
          <a:xfrm>
            <a:off x="548640" y="1508760"/>
            <a:ext cx="7680960" cy="2813277"/>
          </a:xfrm>
          <a:prstGeom prst="rect">
            <a:avLst/>
          </a:prstGeom>
        </p:spPr>
      </p:pic>
      <p:pic>
        <p:nvPicPr>
          <p:cNvPr id="5" name="Image 1" descr="/home/claude/case_study2/report_figs/fig_confusion.png">    </p:cNvPr>
          <p:cNvPicPr>
            <a:picLocks noChangeAspect="1"/>
          </p:cNvPicPr>
          <p:nvPr/>
        </p:nvPicPr>
        <p:blipFill>
          <a:blip r:embed="rId2"/>
          <a:stretch>
            <a:fillRect/>
          </a:stretch>
        </p:blipFill>
        <p:spPr>
          <a:xfrm>
            <a:off x="548640" y="4434840"/>
            <a:ext cx="5303520" cy="1859971"/>
          </a:xfrm>
          <a:prstGeom prst="rect">
            <a:avLst/>
          </a:prstGeom>
        </p:spPr>
      </p:pic>
      <p:sp>
        <p:nvSpPr>
          <p:cNvPr id="6" name="Shape 2"/>
          <p:cNvSpPr/>
          <p:nvPr/>
        </p:nvSpPr>
        <p:spPr>
          <a:xfrm>
            <a:off x="8549640" y="1554480"/>
            <a:ext cx="3108960" cy="2194560"/>
          </a:xfrm>
          <a:prstGeom prst="roundRect">
            <a:avLst>
              <a:gd name="adj" fmla="val 3333"/>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7" name="Shape 3"/>
          <p:cNvSpPr/>
          <p:nvPr/>
        </p:nvSpPr>
        <p:spPr>
          <a:xfrm>
            <a:off x="8778240" y="1801368"/>
            <a:ext cx="274320" cy="274320"/>
          </a:xfrm>
          <a:prstGeom prst="ellipse">
            <a:avLst/>
          </a:prstGeom>
          <a:solidFill>
            <a:srgbClr val="E8A317"/>
          </a:solidFill>
          <a:ln w="12700">
            <a:solidFill>
              <a:srgbClr val="E8A317"/>
            </a:solidFill>
            <a:prstDash val="solid"/>
          </a:ln>
        </p:spPr>
      </p:sp>
      <p:sp>
        <p:nvSpPr>
          <p:cNvPr id="8" name="Text 4"/>
          <p:cNvSpPr txBox="1"/>
          <p:nvPr/>
        </p:nvSpPr>
        <p:spPr>
          <a:xfrm>
            <a:off x="9189720" y="1719072"/>
            <a:ext cx="22402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Critical infrastructure</a:t>
            </a:r>
            <a:endParaRPr lang="en-US" sz="1700" dirty="0"/>
          </a:p>
        </p:txBody>
      </p:sp>
      <p:sp>
        <p:nvSpPr>
          <p:cNvPr id="9" name="Text 5"/>
          <p:cNvSpPr txBox="1"/>
          <p:nvPr/>
        </p:nvSpPr>
        <p:spPr>
          <a:xfrm>
            <a:off x="8778240" y="2240280"/>
            <a:ext cx="2651760" cy="137160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Hardest for both RAG systems (0.61, 0.56). The test is safety component, not sector.</a:t>
            </a:r>
            <a:endParaRPr lang="en-US" sz="1350" dirty="0"/>
          </a:p>
        </p:txBody>
      </p:sp>
      <p:sp>
        <p:nvSpPr>
          <p:cNvPr id="10" name="Shape 6"/>
          <p:cNvSpPr/>
          <p:nvPr/>
        </p:nvSpPr>
        <p:spPr>
          <a:xfrm>
            <a:off x="8549640" y="3977640"/>
            <a:ext cx="3108960" cy="2194560"/>
          </a:xfrm>
          <a:prstGeom prst="roundRect">
            <a:avLst>
              <a:gd name="adj" fmla="val 3333"/>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8778240" y="4224528"/>
            <a:ext cx="274320" cy="274320"/>
          </a:xfrm>
          <a:prstGeom prst="ellipse">
            <a:avLst/>
          </a:prstGeom>
          <a:solidFill>
            <a:srgbClr val="C0392B"/>
          </a:solidFill>
          <a:ln w="12700">
            <a:solidFill>
              <a:srgbClr val="C0392B"/>
            </a:solidFill>
            <a:prstDash val="solid"/>
          </a:ln>
        </p:spPr>
      </p:sp>
      <p:sp>
        <p:nvSpPr>
          <p:cNvPr id="12" name="Text 8"/>
          <p:cNvSpPr txBox="1"/>
          <p:nvPr/>
        </p:nvSpPr>
        <p:spPr>
          <a:xfrm>
            <a:off x="9189720" y="4142232"/>
            <a:ext cx="2240280" cy="45720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Law enforcement</a:t>
            </a:r>
            <a:endParaRPr lang="en-US" sz="1700" dirty="0"/>
          </a:p>
        </p:txBody>
      </p:sp>
      <p:sp>
        <p:nvSpPr>
          <p:cNvPr id="13" name="Text 9"/>
          <p:cNvSpPr txBox="1"/>
          <p:nvPr/>
        </p:nvSpPr>
        <p:spPr>
          <a:xfrm>
            <a:off x="8778240" y="4663440"/>
            <a:ext cx="2651760" cy="1371600"/>
          </a:xfrm>
          <a:prstGeom prst="rect">
            <a:avLst/>
          </a:prstGeom>
          <a:noFill/>
          <a:ln/>
        </p:spPr>
        <p:txBody>
          <a:bodyPr wrap="square" lIns="0" tIns="0" rIns="0" bIns="0" rtlCol="0" anchor="t"/>
          <a:lstStyle/>
          <a:p>
            <a:pPr indent="0" marL="0">
              <a:buNone/>
            </a:pPr>
            <a:r>
              <a:rPr lang="en-US" sz="1350" dirty="0">
                <a:solidFill>
                  <a:srgbClr val="1B1B1B"/>
                </a:solidFill>
                <a:latin typeface="Calibri" pitchFamily="34" charset="0"/>
                <a:ea typeface="Calibri" pitchFamily="34" charset="-122"/>
                <a:cs typeface="Calibri" pitchFamily="34" charset="-120"/>
              </a:rPr>
              <a:t>Plain LLM collapses to 0.26: it calls most police uses high-risk. RAG fixes this (0.87+).</a:t>
            </a:r>
            <a:endParaRPr lang="en-US" sz="1350" dirty="0"/>
          </a:p>
        </p:txBody>
      </p:sp>
      <p:sp>
        <p:nvSpPr>
          <p:cNvPr id="14" name="Text 1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5" name="Text 11"/>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Result 2: faithfulness cannot tell right from wrong</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RAGAS faithfulness of every answer, split by whether the label was correct</a:t>
            </a:r>
            <a:endParaRPr lang="en-US" sz="1600" dirty="0"/>
          </a:p>
        </p:txBody>
      </p:sp>
      <p:pic>
        <p:nvPicPr>
          <p:cNvPr id="4" name="Image 0" descr="/home/claude/case_study2/report_figs/fig3_faithfulness.png">    </p:cNvPr>
          <p:cNvPicPr>
            <a:picLocks noChangeAspect="1"/>
          </p:cNvPicPr>
          <p:nvPr/>
        </p:nvPicPr>
        <p:blipFill>
          <a:blip r:embed="rId1"/>
          <a:stretch>
            <a:fillRect/>
          </a:stretch>
        </p:blipFill>
        <p:spPr>
          <a:xfrm>
            <a:off x="548640" y="1554480"/>
            <a:ext cx="7589520" cy="3904718"/>
          </a:xfrm>
          <a:prstGeom prst="rect">
            <a:avLst/>
          </a:prstGeom>
        </p:spPr>
      </p:pic>
      <p:sp>
        <p:nvSpPr>
          <p:cNvPr id="5" name="Shape 2"/>
          <p:cNvSpPr/>
          <p:nvPr/>
        </p:nvSpPr>
        <p:spPr>
          <a:xfrm>
            <a:off x="8503920" y="1645920"/>
            <a:ext cx="3154680" cy="1325880"/>
          </a:xfrm>
          <a:prstGeom prst="roundRect">
            <a:avLst>
              <a:gd name="adj" fmla="val 5517"/>
            </a:avLst>
          </a:prstGeom>
          <a:solidFill>
            <a:srgbClr val="EEF2F8"/>
          </a:solidFill>
          <a:ln w="12700">
            <a:solidFill>
              <a:srgbClr val="EEF2F8"/>
            </a:solidFill>
            <a:prstDash val="solid"/>
          </a:ln>
        </p:spPr>
      </p:sp>
      <p:sp>
        <p:nvSpPr>
          <p:cNvPr id="6" name="Text 3"/>
          <p:cNvSpPr txBox="1"/>
          <p:nvPr/>
        </p:nvSpPr>
        <p:spPr>
          <a:xfrm>
            <a:off x="8641080" y="1755648"/>
            <a:ext cx="2880360" cy="685800"/>
          </a:xfrm>
          <a:prstGeom prst="rect">
            <a:avLst/>
          </a:prstGeom>
          <a:noFill/>
          <a:ln/>
        </p:spPr>
        <p:txBody>
          <a:bodyPr wrap="square" lIns="0" tIns="0" rIns="0" bIns="0" rtlCol="0" anchor="ctr"/>
          <a:lstStyle/>
          <a:p>
            <a:pPr indent="0" marL="0">
              <a:buNone/>
            </a:pPr>
            <a:r>
              <a:rPr lang="en-US" sz="3600" b="1" dirty="0">
                <a:solidFill>
                  <a:srgbClr val="C0392B"/>
                </a:solidFill>
                <a:latin typeface="Cambria" pitchFamily="34" charset="0"/>
                <a:ea typeface="Cambria" pitchFamily="34" charset="-122"/>
                <a:cs typeface="Cambria" pitchFamily="34" charset="-120"/>
              </a:rPr>
              <a:t>0.465</a:t>
            </a:r>
            <a:endParaRPr lang="en-US" sz="3600" dirty="0"/>
          </a:p>
        </p:txBody>
      </p:sp>
      <p:sp>
        <p:nvSpPr>
          <p:cNvPr id="7" name="Text 4"/>
          <p:cNvSpPr txBox="1"/>
          <p:nvPr/>
        </p:nvSpPr>
        <p:spPr>
          <a:xfrm>
            <a:off x="8641080" y="2423160"/>
            <a:ext cx="28803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agent AUC (95% CI 0.36 to 0.57): chance level</a:t>
            </a:r>
            <a:endParaRPr lang="en-US" sz="1200" dirty="0"/>
          </a:p>
        </p:txBody>
      </p:sp>
      <p:sp>
        <p:nvSpPr>
          <p:cNvPr id="8" name="Shape 5"/>
          <p:cNvSpPr/>
          <p:nvPr/>
        </p:nvSpPr>
        <p:spPr>
          <a:xfrm>
            <a:off x="8503920" y="3108960"/>
            <a:ext cx="3154680" cy="1325880"/>
          </a:xfrm>
          <a:prstGeom prst="roundRect">
            <a:avLst>
              <a:gd name="adj" fmla="val 5517"/>
            </a:avLst>
          </a:prstGeom>
          <a:solidFill>
            <a:srgbClr val="EEF2F8"/>
          </a:solidFill>
          <a:ln w="12700">
            <a:solidFill>
              <a:srgbClr val="EEF2F8"/>
            </a:solidFill>
            <a:prstDash val="solid"/>
          </a:ln>
        </p:spPr>
      </p:sp>
      <p:sp>
        <p:nvSpPr>
          <p:cNvPr id="9" name="Text 6"/>
          <p:cNvSpPr txBox="1"/>
          <p:nvPr/>
        </p:nvSpPr>
        <p:spPr>
          <a:xfrm>
            <a:off x="8641080" y="3218688"/>
            <a:ext cx="288036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0.49 vs 0.45</a:t>
            </a:r>
            <a:endParaRPr lang="en-US" sz="3600" dirty="0"/>
          </a:p>
        </p:txBody>
      </p:sp>
      <p:sp>
        <p:nvSpPr>
          <p:cNvPr id="10" name="Text 7"/>
          <p:cNvSpPr txBox="1"/>
          <p:nvPr/>
        </p:nvSpPr>
        <p:spPr>
          <a:xfrm>
            <a:off x="8641080" y="3886200"/>
            <a:ext cx="28803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agent: wrong answers score slightly higher than right ones</a:t>
            </a:r>
            <a:endParaRPr lang="en-US" sz="1200" dirty="0"/>
          </a:p>
        </p:txBody>
      </p:sp>
      <p:sp>
        <p:nvSpPr>
          <p:cNvPr id="11" name="Shape 8"/>
          <p:cNvSpPr/>
          <p:nvPr/>
        </p:nvSpPr>
        <p:spPr>
          <a:xfrm>
            <a:off x="8503920" y="4572000"/>
            <a:ext cx="3154680" cy="1325880"/>
          </a:xfrm>
          <a:prstGeom prst="roundRect">
            <a:avLst>
              <a:gd name="adj" fmla="val 5517"/>
            </a:avLst>
          </a:prstGeom>
          <a:solidFill>
            <a:srgbClr val="EEF2F8"/>
          </a:solidFill>
          <a:ln w="12700">
            <a:solidFill>
              <a:srgbClr val="EEF2F8"/>
            </a:solidFill>
            <a:prstDash val="solid"/>
          </a:ln>
        </p:spPr>
      </p:sp>
      <p:sp>
        <p:nvSpPr>
          <p:cNvPr id="12" name="Text 9"/>
          <p:cNvSpPr txBox="1"/>
          <p:nvPr/>
        </p:nvSpPr>
        <p:spPr>
          <a:xfrm>
            <a:off x="8641080" y="4681728"/>
            <a:ext cx="288036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0.615</a:t>
            </a:r>
            <a:endParaRPr lang="en-US" sz="3600" dirty="0"/>
          </a:p>
        </p:txBody>
      </p:sp>
      <p:sp>
        <p:nvSpPr>
          <p:cNvPr id="13" name="Text 10"/>
          <p:cNvSpPr txBox="1"/>
          <p:nvPr/>
        </p:nvSpPr>
        <p:spPr>
          <a:xfrm>
            <a:off x="8641080" y="5349240"/>
            <a:ext cx="28803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standard RAG AUC: weak signal only</a:t>
            </a:r>
            <a:endParaRPr lang="en-US" sz="1200" dirty="0"/>
          </a:p>
        </p:txBody>
      </p:sp>
      <p:sp>
        <p:nvSpPr>
          <p:cNvPr id="14"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5" name="Text 12"/>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Both off-diagonal buckets are well populated</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Four-bucket matrix at a faithful cut of 0.5</a:t>
            </a:r>
            <a:endParaRPr lang="en-US" sz="1600" dirty="0"/>
          </a:p>
        </p:txBody>
      </p:sp>
      <p:pic>
        <p:nvPicPr>
          <p:cNvPr id="4" name="Image 0" descr="/home/claude/case_study2/report_figs/fig_buckets.png">    </p:cNvPr>
          <p:cNvPicPr>
            <a:picLocks noChangeAspect="1"/>
          </p:cNvPicPr>
          <p:nvPr/>
        </p:nvPicPr>
        <p:blipFill>
          <a:blip r:embed="rId1"/>
          <a:stretch>
            <a:fillRect/>
          </a:stretch>
        </p:blipFill>
        <p:spPr>
          <a:xfrm>
            <a:off x="548640" y="1600200"/>
            <a:ext cx="7223760" cy="3188555"/>
          </a:xfrm>
          <a:prstGeom prst="rect">
            <a:avLst/>
          </a:prstGeom>
        </p:spPr>
      </p:pic>
      <p:sp>
        <p:nvSpPr>
          <p:cNvPr id="5" name="Shape 2"/>
          <p:cNvSpPr/>
          <p:nvPr/>
        </p:nvSpPr>
        <p:spPr>
          <a:xfrm>
            <a:off x="8138160" y="1645920"/>
            <a:ext cx="3520440" cy="1325880"/>
          </a:xfrm>
          <a:prstGeom prst="roundRect">
            <a:avLst>
              <a:gd name="adj" fmla="val 5517"/>
            </a:avLst>
          </a:prstGeom>
          <a:solidFill>
            <a:srgbClr val="EEF2F8"/>
          </a:solidFill>
          <a:ln w="12700">
            <a:solidFill>
              <a:srgbClr val="EEF2F8"/>
            </a:solidFill>
            <a:prstDash val="solid"/>
          </a:ln>
        </p:spPr>
      </p:sp>
      <p:sp>
        <p:nvSpPr>
          <p:cNvPr id="6" name="Text 3"/>
          <p:cNvSpPr txBox="1"/>
          <p:nvPr/>
        </p:nvSpPr>
        <p:spPr>
          <a:xfrm>
            <a:off x="8275320" y="1755648"/>
            <a:ext cx="3246120" cy="685800"/>
          </a:xfrm>
          <a:prstGeom prst="rect">
            <a:avLst/>
          </a:prstGeom>
          <a:noFill/>
          <a:ln/>
        </p:spPr>
        <p:txBody>
          <a:bodyPr wrap="square" lIns="0" tIns="0" rIns="0" bIns="0" rtlCol="0" anchor="ctr"/>
          <a:lstStyle/>
          <a:p>
            <a:pPr indent="0" marL="0">
              <a:buNone/>
            </a:pPr>
            <a:r>
              <a:rPr lang="en-US" sz="3600" b="1" dirty="0">
                <a:solidFill>
                  <a:srgbClr val="C0392B"/>
                </a:solidFill>
                <a:latin typeface="Cambria" pitchFamily="34" charset="0"/>
                <a:ea typeface="Cambria" pitchFamily="34" charset="-122"/>
                <a:cs typeface="Cambria" pitchFamily="34" charset="-120"/>
              </a:rPr>
              <a:t>17 of 31</a:t>
            </a:r>
            <a:endParaRPr lang="en-US" sz="3600" dirty="0"/>
          </a:p>
        </p:txBody>
      </p:sp>
      <p:sp>
        <p:nvSpPr>
          <p:cNvPr id="7" name="Text 4"/>
          <p:cNvSpPr txBox="1"/>
          <p:nvPr/>
        </p:nvSpPr>
        <p:spPr>
          <a:xfrm>
            <a:off x="8275320" y="2423160"/>
            <a:ext cx="324612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agent errors that pass as faithful (55%)</a:t>
            </a:r>
            <a:endParaRPr lang="en-US" sz="1200" dirty="0"/>
          </a:p>
        </p:txBody>
      </p:sp>
      <p:sp>
        <p:nvSpPr>
          <p:cNvPr id="8" name="Shape 5"/>
          <p:cNvSpPr/>
          <p:nvPr/>
        </p:nvSpPr>
        <p:spPr>
          <a:xfrm>
            <a:off x="8138160" y="3108960"/>
            <a:ext cx="3520440" cy="1325880"/>
          </a:xfrm>
          <a:prstGeom prst="roundRect">
            <a:avLst>
              <a:gd name="adj" fmla="val 5517"/>
            </a:avLst>
          </a:prstGeom>
          <a:solidFill>
            <a:srgbClr val="EEF2F8"/>
          </a:solidFill>
          <a:ln w="12700">
            <a:solidFill>
              <a:srgbClr val="EEF2F8"/>
            </a:solidFill>
            <a:prstDash val="solid"/>
          </a:ln>
        </p:spPr>
      </p:sp>
      <p:sp>
        <p:nvSpPr>
          <p:cNvPr id="9" name="Text 6"/>
          <p:cNvSpPr txBox="1"/>
          <p:nvPr/>
        </p:nvSpPr>
        <p:spPr>
          <a:xfrm>
            <a:off x="8275320" y="3218688"/>
            <a:ext cx="324612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93 of 184</a:t>
            </a:r>
            <a:endParaRPr lang="en-US" sz="3600" dirty="0"/>
          </a:p>
        </p:txBody>
      </p:sp>
      <p:sp>
        <p:nvSpPr>
          <p:cNvPr id="10" name="Text 7"/>
          <p:cNvSpPr txBox="1"/>
          <p:nvPr/>
        </p:nvSpPr>
        <p:spPr>
          <a:xfrm>
            <a:off x="8275320" y="3886200"/>
            <a:ext cx="324612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correct agent answers scored as unfaithful</a:t>
            </a:r>
            <a:endParaRPr lang="en-US" sz="1200" dirty="0"/>
          </a:p>
        </p:txBody>
      </p:sp>
      <p:sp>
        <p:nvSpPr>
          <p:cNvPr id="11" name="Text 8"/>
          <p:cNvSpPr txBox="1"/>
          <p:nvPr/>
        </p:nvSpPr>
        <p:spPr>
          <a:xfrm>
            <a:off x="8138160" y="4617720"/>
            <a:ext cx="3520440" cy="1554480"/>
          </a:xfrm>
          <a:prstGeom prst="rect">
            <a:avLst/>
          </a:prstGeom>
          <a:noFill/>
          <a:ln/>
        </p:spPr>
        <p:txBody>
          <a:bodyPr wrap="square" lIns="0" tIns="0" rIns="0" bIns="0" rtlCol="0" anchor="t"/>
          <a:lstStyle/>
          <a:p>
            <a:pPr indent="0" marL="0">
              <a:buNone/>
            </a:pPr>
            <a:r>
              <a:rPr lang="en-US" sz="1250" i="1" dirty="0">
                <a:solidFill>
                  <a:srgbClr val="5A6070"/>
                </a:solidFill>
                <a:latin typeface="Calibri" pitchFamily="34" charset="0"/>
                <a:ea typeface="Calibri" pitchFamily="34" charset="-122"/>
                <a:cs typeface="Calibri" pitchFamily="34" charset="-120"/>
              </a:rPr>
              <a:t>Part of the right-but-unfaithful effect is mechanical: sentences that restate the input are not in the passages, so the judge marks them unsupported. That is how RAGAS is defined.</a:t>
            </a:r>
            <a:endParaRPr lang="en-US" sz="1250" dirty="0"/>
          </a:p>
        </p:txBody>
      </p:sp>
      <p:sp>
        <p:nvSpPr>
          <p:cNvPr id="12" name="Text 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3" name="Text 10"/>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Not an artefact of the cut-off</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Share of wrong answers that still pass as faithful as the threshold rises</a:t>
            </a:r>
            <a:endParaRPr lang="en-US" sz="1600" dirty="0"/>
          </a:p>
        </p:txBody>
      </p:sp>
      <p:graphicFrame>
        <p:nvGraphicFramePr>
          <p:cNvPr id="4" name="Chart 0" descr=""/>
          <p:cNvGraphicFramePr/>
          <p:nvPr/>
        </p:nvGraphicFramePr>
        <p:xfrm>
          <a:off x="548640" y="155448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645920"/>
            <a:ext cx="3611880" cy="1325880"/>
          </a:xfrm>
          <a:prstGeom prst="roundRect">
            <a:avLst>
              <a:gd name="adj" fmla="val 5517"/>
            </a:avLst>
          </a:prstGeom>
          <a:solidFill>
            <a:srgbClr val="EEF2F8"/>
          </a:solidFill>
          <a:ln w="12700">
            <a:solidFill>
              <a:srgbClr val="EEF2F8"/>
            </a:solidFill>
            <a:prstDash val="solid"/>
          </a:ln>
        </p:spPr>
      </p:sp>
      <p:sp>
        <p:nvSpPr>
          <p:cNvPr id="6" name="Text 3"/>
          <p:cNvSpPr txBox="1"/>
          <p:nvPr/>
        </p:nvSpPr>
        <p:spPr>
          <a:xfrm>
            <a:off x="8183880" y="1755648"/>
            <a:ext cx="3337560" cy="685800"/>
          </a:xfrm>
          <a:prstGeom prst="rect">
            <a:avLst/>
          </a:prstGeom>
          <a:noFill/>
          <a:ln/>
        </p:spPr>
        <p:txBody>
          <a:bodyPr wrap="square" lIns="0" tIns="0" rIns="0" bIns="0" rtlCol="0" anchor="ctr"/>
          <a:lstStyle/>
          <a:p>
            <a:pPr indent="0" marL="0">
              <a:buNone/>
            </a:pPr>
            <a:r>
              <a:rPr lang="en-US" sz="3600" b="1" dirty="0">
                <a:solidFill>
                  <a:srgbClr val="C0392B"/>
                </a:solidFill>
                <a:latin typeface="Cambria" pitchFamily="34" charset="0"/>
                <a:ea typeface="Cambria" pitchFamily="34" charset="-122"/>
                <a:cs typeface="Cambria" pitchFamily="34" charset="-120"/>
              </a:rPr>
              <a:t>7</a:t>
            </a:r>
            <a:endParaRPr lang="en-US" sz="3600" dirty="0"/>
          </a:p>
        </p:txBody>
      </p:sp>
      <p:sp>
        <p:nvSpPr>
          <p:cNvPr id="7" name="Text 4"/>
          <p:cNvSpPr txBox="1"/>
          <p:nvPr/>
        </p:nvSpPr>
        <p:spPr>
          <a:xfrm>
            <a:off x="8183880" y="2423160"/>
            <a:ext cx="33375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agent errors still count as faithful at a strict cut of 0.7</a:t>
            </a:r>
            <a:endParaRPr lang="en-US" sz="1200" dirty="0"/>
          </a:p>
        </p:txBody>
      </p:sp>
      <p:sp>
        <p:nvSpPr>
          <p:cNvPr id="8" name="Shape 5"/>
          <p:cNvSpPr/>
          <p:nvPr/>
        </p:nvSpPr>
        <p:spPr>
          <a:xfrm>
            <a:off x="8046720" y="3108960"/>
            <a:ext cx="3611880" cy="1325880"/>
          </a:xfrm>
          <a:prstGeom prst="roundRect">
            <a:avLst>
              <a:gd name="adj" fmla="val 5517"/>
            </a:avLst>
          </a:prstGeom>
          <a:solidFill>
            <a:srgbClr val="EEF2F8"/>
          </a:solidFill>
          <a:ln w="12700">
            <a:solidFill>
              <a:srgbClr val="EEF2F8"/>
            </a:solidFill>
            <a:prstDash val="solid"/>
          </a:ln>
        </p:spPr>
      </p:sp>
      <p:sp>
        <p:nvSpPr>
          <p:cNvPr id="9" name="Text 6"/>
          <p:cNvSpPr txBox="1"/>
          <p:nvPr/>
        </p:nvSpPr>
        <p:spPr>
          <a:xfrm>
            <a:off x="8183880" y="3218688"/>
            <a:ext cx="3337560" cy="685800"/>
          </a:xfrm>
          <a:prstGeom prst="rect">
            <a:avLst/>
          </a:prstGeom>
          <a:noFill/>
          <a:ln/>
        </p:spPr>
        <p:txBody>
          <a:bodyPr wrap="square" lIns="0" tIns="0" rIns="0" bIns="0" rtlCol="0" anchor="ctr"/>
          <a:lstStyle/>
          <a:p>
            <a:pPr indent="0" marL="0">
              <a:buNone/>
            </a:pPr>
            <a:r>
              <a:rPr lang="en-US" sz="3600" b="1" dirty="0">
                <a:solidFill>
                  <a:srgbClr val="C0392B"/>
                </a:solidFill>
                <a:latin typeface="Cambria" pitchFamily="34" charset="0"/>
                <a:ea typeface="Cambria" pitchFamily="34" charset="-122"/>
                <a:cs typeface="Cambria" pitchFamily="34" charset="-120"/>
              </a:rPr>
              <a:t>1.00</a:t>
            </a:r>
            <a:endParaRPr lang="en-US" sz="3600" dirty="0"/>
          </a:p>
        </p:txBody>
      </p:sp>
      <p:sp>
        <p:nvSpPr>
          <p:cNvPr id="10" name="Text 7"/>
          <p:cNvSpPr txBox="1"/>
          <p:nvPr/>
        </p:nvSpPr>
        <p:spPr>
          <a:xfrm>
            <a:off x="8183880" y="3886200"/>
            <a:ext cx="333756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perfect faithfulness score on a wrong answer (input 207)</a:t>
            </a:r>
            <a:endParaRPr lang="en-US" sz="1200" dirty="0"/>
          </a:p>
        </p:txBody>
      </p:sp>
      <p:sp>
        <p:nvSpPr>
          <p:cNvPr id="11" name="Text 8"/>
          <p:cNvSpPr txBox="1"/>
          <p:nvPr/>
        </p:nvSpPr>
        <p:spPr>
          <a:xfrm>
            <a:off x="8046720" y="4617720"/>
            <a:ext cx="3611880" cy="1371600"/>
          </a:xfrm>
          <a:prstGeom prst="rect">
            <a:avLst/>
          </a:prstGeom>
          <a:noFill/>
          <a:ln/>
        </p:spPr>
        <p:txBody>
          <a:bodyPr wrap="square" lIns="0" tIns="0" rIns="0" bIns="0" rtlCol="0" anchor="t"/>
          <a:lstStyle/>
          <a:p>
            <a:pPr indent="0" marL="0">
              <a:buNone/>
            </a:pPr>
            <a:r>
              <a:rPr lang="en-US" sz="1300" dirty="0">
                <a:solidFill>
                  <a:srgbClr val="5A6070"/>
                </a:solidFill>
                <a:latin typeface="Calibri" pitchFamily="34" charset="0"/>
                <a:ea typeface="Calibri" pitchFamily="34" charset="-122"/>
                <a:cs typeface="Calibri" pitchFamily="34" charset="-120"/>
              </a:rPr>
              <a:t>Threshold-free measures (AUC, correlation) are reported alongside, so the finding does not rest on one cut.</a:t>
            </a:r>
            <a:endParaRPr lang="en-US" sz="1300" dirty="0"/>
          </a:p>
        </p:txBody>
      </p:sp>
      <p:sp>
        <p:nvSpPr>
          <p:cNvPr id="12" name="Text 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3" name="Text 10"/>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Why the wrong answers look grounded</a:t>
            </a:r>
            <a:endParaRPr lang="en-US" sz="3200" dirty="0"/>
          </a:p>
        </p:txBody>
      </p:sp>
      <p:sp>
        <p:nvSpPr>
          <p:cNvPr id="3" name="Text 1"/>
          <p:cNvSpPr txBox="1"/>
          <p:nvPr/>
        </p:nvSpPr>
        <p:spPr>
          <a:xfrm>
            <a:off x="548640" y="1005840"/>
            <a:ext cx="11091672" cy="41148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All 17 faithful-but-wrong agent answers read and categorised</a:t>
            </a:r>
            <a:endParaRPr lang="en-US" sz="1600" dirty="0"/>
          </a:p>
        </p:txBody>
      </p:sp>
      <p:graphicFrame>
        <p:nvGraphicFramePr>
          <p:cNvPr id="4" name="Chart 0" descr=""/>
          <p:cNvGraphicFramePr/>
          <p:nvPr/>
        </p:nvGraphicFramePr>
        <p:xfrm>
          <a:off x="548640" y="1554480"/>
          <a:ext cx="585216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4892040"/>
            <a:ext cx="2834640" cy="1325880"/>
          </a:xfrm>
          <a:prstGeom prst="roundRect">
            <a:avLst>
              <a:gd name="adj" fmla="val 5517"/>
            </a:avLst>
          </a:prstGeom>
          <a:solidFill>
            <a:srgbClr val="EEF2F8"/>
          </a:solidFill>
          <a:ln w="12700">
            <a:solidFill>
              <a:srgbClr val="EEF2F8"/>
            </a:solidFill>
            <a:prstDash val="solid"/>
          </a:ln>
        </p:spPr>
      </p:sp>
      <p:sp>
        <p:nvSpPr>
          <p:cNvPr id="6" name="Text 3"/>
          <p:cNvSpPr txBox="1"/>
          <p:nvPr/>
        </p:nvSpPr>
        <p:spPr>
          <a:xfrm>
            <a:off x="685800" y="5001768"/>
            <a:ext cx="2560320"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14 / 17</a:t>
            </a:r>
            <a:endParaRPr lang="en-US" sz="3600" dirty="0"/>
          </a:p>
        </p:txBody>
      </p:sp>
      <p:sp>
        <p:nvSpPr>
          <p:cNvPr id="7" name="Text 4"/>
          <p:cNvSpPr txBox="1"/>
          <p:nvPr/>
        </p:nvSpPr>
        <p:spPr>
          <a:xfrm>
            <a:off x="685800" y="5669280"/>
            <a:ext cx="256032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had the correct guideline section retrieved</a:t>
            </a:r>
            <a:endParaRPr lang="en-US" sz="1200" dirty="0"/>
          </a:p>
        </p:txBody>
      </p:sp>
      <p:sp>
        <p:nvSpPr>
          <p:cNvPr id="8" name="Shape 5"/>
          <p:cNvSpPr/>
          <p:nvPr/>
        </p:nvSpPr>
        <p:spPr>
          <a:xfrm>
            <a:off x="3566160" y="4892040"/>
            <a:ext cx="2834640" cy="1325880"/>
          </a:xfrm>
          <a:prstGeom prst="roundRect">
            <a:avLst>
              <a:gd name="adj" fmla="val 5517"/>
            </a:avLst>
          </a:prstGeom>
          <a:solidFill>
            <a:srgbClr val="EEF2F8"/>
          </a:solidFill>
          <a:ln w="12700">
            <a:solidFill>
              <a:srgbClr val="EEF2F8"/>
            </a:solidFill>
            <a:prstDash val="solid"/>
          </a:ln>
        </p:spPr>
      </p:sp>
      <p:sp>
        <p:nvSpPr>
          <p:cNvPr id="9" name="Text 6"/>
          <p:cNvSpPr txBox="1"/>
          <p:nvPr/>
        </p:nvSpPr>
        <p:spPr>
          <a:xfrm>
            <a:off x="3703320" y="5001768"/>
            <a:ext cx="2560320" cy="685800"/>
          </a:xfrm>
          <a:prstGeom prst="rect">
            <a:avLst/>
          </a:prstGeom>
          <a:noFill/>
          <a:ln/>
        </p:spPr>
        <p:txBody>
          <a:bodyPr wrap="square" lIns="0" tIns="0" rIns="0" bIns="0" rtlCol="0" anchor="ctr"/>
          <a:lstStyle/>
          <a:p>
            <a:pPr indent="0" marL="0">
              <a:buNone/>
            </a:pPr>
            <a:r>
              <a:rPr lang="en-US" sz="3600" b="1" dirty="0">
                <a:solidFill>
                  <a:srgbClr val="C0392B"/>
                </a:solidFill>
                <a:latin typeface="Cambria" pitchFamily="34" charset="0"/>
                <a:ea typeface="Cambria" pitchFamily="34" charset="-122"/>
                <a:cs typeface="Cambria" pitchFamily="34" charset="-120"/>
              </a:rPr>
              <a:t>21 / 31</a:t>
            </a:r>
            <a:endParaRPr lang="en-US" sz="3600" dirty="0"/>
          </a:p>
        </p:txBody>
      </p:sp>
      <p:sp>
        <p:nvSpPr>
          <p:cNvPr id="10" name="Text 7"/>
          <p:cNvSpPr txBox="1"/>
          <p:nvPr/>
        </p:nvSpPr>
        <p:spPr>
          <a:xfrm>
            <a:off x="3703320" y="5669280"/>
            <a:ext cx="2560320" cy="457200"/>
          </a:xfrm>
          <a:prstGeom prst="rect">
            <a:avLst/>
          </a:prstGeom>
          <a:noFill/>
          <a:ln/>
        </p:spPr>
        <p:txBody>
          <a:bodyPr wrap="square" lIns="0" tIns="0" rIns="0" bIns="0" rtlCol="0" anchor="t"/>
          <a:lstStyle/>
          <a:p>
            <a:pPr indent="0" marL="0">
              <a:buNone/>
            </a:pPr>
            <a:r>
              <a:rPr lang="en-US" sz="1200" dirty="0">
                <a:solidFill>
                  <a:srgbClr val="5A6070"/>
                </a:solidFill>
                <a:latin typeface="Calibri" pitchFamily="34" charset="0"/>
                <a:ea typeface="Calibri" pitchFamily="34" charset="-122"/>
                <a:cs typeface="Calibri" pitchFamily="34" charset="-120"/>
              </a:rPr>
              <a:t>verdict statements judged 'supported'</a:t>
            </a:r>
            <a:endParaRPr lang="en-US" sz="1200" dirty="0"/>
          </a:p>
        </p:txBody>
      </p:sp>
      <p:sp>
        <p:nvSpPr>
          <p:cNvPr id="11" name="Shape 8"/>
          <p:cNvSpPr/>
          <p:nvPr/>
        </p:nvSpPr>
        <p:spPr>
          <a:xfrm>
            <a:off x="6766560" y="1645920"/>
            <a:ext cx="4892040" cy="4526280"/>
          </a:xfrm>
          <a:prstGeom prst="roundRect">
            <a:avLst>
              <a:gd name="adj" fmla="val 1616"/>
            </a:avLst>
          </a:prstGeom>
          <a:solidFill>
            <a:srgbClr val="14213D"/>
          </a:solidFill>
          <a:ln w="12700">
            <a:solidFill>
              <a:srgbClr val="14213D"/>
            </a:solidFill>
            <a:prstDash val="solid"/>
          </a:ln>
        </p:spPr>
      </p:sp>
      <p:sp>
        <p:nvSpPr>
          <p:cNvPr id="12" name="Text 9"/>
          <p:cNvSpPr txBox="1"/>
          <p:nvPr/>
        </p:nvSpPr>
        <p:spPr>
          <a:xfrm>
            <a:off x="7086600" y="1920240"/>
            <a:ext cx="4297680" cy="4023360"/>
          </a:xfrm>
          <a:prstGeom prst="rect">
            <a:avLst/>
          </a:prstGeom>
          <a:noFill/>
          <a:ln/>
        </p:spPr>
        <p:txBody>
          <a:bodyPr wrap="square" lIns="0" tIns="0" rIns="0" bIns="0" rtlCol="0" anchor="ctr"/>
          <a:lstStyle/>
          <a:p>
            <a:pPr indent="0" marL="0">
              <a:buNone/>
            </a:pPr>
            <a:r>
              <a:rPr lang="en-US" sz="2200" b="1" dirty="0">
                <a:solidFill>
                  <a:srgbClr val="E8A317"/>
                </a:solidFill>
                <a:latin typeface="Cambria" pitchFamily="34" charset="0"/>
                <a:ea typeface="Cambria" pitchFamily="34" charset="-122"/>
                <a:cs typeface="Cambria" pitchFamily="34" charset="-120"/>
              </a:rPr>
              <a:t>Case: input 207</a:t>
            </a:r>
            <a:endParaRPr lang="en-US" sz="1700" dirty="0"/>
          </a:p>
          <a:p>
            <a:pPr indent="0" marL="0">
              <a:buNone/>
            </a:pPr>
            <a:r>
              <a:rPr lang="en-US" sz="1700" dirty="0">
                <a:solidFill>
                  <a:srgbClr val="FFFFFF"/>
                </a:solidFill>
                <a:latin typeface="Calibri" pitchFamily="34" charset="0"/>
                <a:ea typeface="Calibri" pitchFamily="34" charset="-122"/>
                <a:cs typeface="Calibri" pitchFamily="34" charset="-120"/>
              </a:rPr>
              <a:t>A tool that pre-classifies incoming court cases by type.</a:t>
            </a:r>
            <a:endParaRPr lang="en-US" sz="17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700" dirty="0"/>
          </a:p>
          <a:p>
            <a:pPr indent="0" marL="0">
              <a:buNone/>
            </a:pPr>
            <a:r>
              <a:rPr lang="en-US" sz="1700" b="1" dirty="0">
                <a:solidFill>
                  <a:srgbClr val="CADCFC"/>
                </a:solidFill>
                <a:latin typeface="Calibri" pitchFamily="34" charset="0"/>
                <a:ea typeface="Calibri" pitchFamily="34" charset="-122"/>
                <a:cs typeface="Calibri" pitchFamily="34" charset="-120"/>
              </a:rPr>
              <a:t>Agent: </a:t>
            </a:r>
            <a:pPr indent="0" marL="0">
              <a:buNone/>
            </a:pPr>
            <a:r>
              <a:rPr lang="en-US" sz="1700" dirty="0">
                <a:solidFill>
                  <a:srgbClr val="FFFFFF"/>
                </a:solidFill>
                <a:latin typeface="Calibri" pitchFamily="34" charset="0"/>
                <a:ea typeface="Calibri" pitchFamily="34" charset="-122"/>
                <a:cs typeface="Calibri" pitchFamily="34" charset="-120"/>
              </a:rPr>
              <a:t>places it under point 8(a), then asserts no Article 6(3) condition applies. Label: high-risk.</a:t>
            </a:r>
            <a:endParaRPr lang="en-US" sz="17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700" dirty="0"/>
          </a:p>
          <a:p>
            <a:pPr indent="0" marL="0">
              <a:buNone/>
            </a:pPr>
            <a:r>
              <a:rPr lang="en-US" sz="1700" b="1" dirty="0">
                <a:solidFill>
                  <a:srgbClr val="CADCFC"/>
                </a:solidFill>
                <a:latin typeface="Calibri" pitchFamily="34" charset="0"/>
                <a:ea typeface="Calibri" pitchFamily="34" charset="-122"/>
                <a:cs typeface="Calibri" pitchFamily="34" charset="-120"/>
              </a:rPr>
              <a:t>Commission: </a:t>
            </a:r>
            <a:pPr indent="0" marL="0">
              <a:buNone/>
            </a:pPr>
            <a:r>
              <a:rPr lang="en-US" sz="1700" dirty="0">
                <a:solidFill>
                  <a:srgbClr val="FFFFFF"/>
                </a:solidFill>
                <a:latin typeface="Calibri" pitchFamily="34" charset="0"/>
                <a:ea typeface="Calibri" pitchFamily="34" charset="-122"/>
                <a:cs typeface="Calibri" pitchFamily="34" charset="-120"/>
              </a:rPr>
              <a:t>narrow procedural / preparatory task. Not high-risk.</a:t>
            </a:r>
            <a:endParaRPr lang="en-US" sz="17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700" dirty="0"/>
          </a:p>
          <a:p>
            <a:pPr indent="0" marL="0">
              <a:buNone/>
            </a:pPr>
            <a:r>
              <a:rPr lang="en-US" sz="1700" b="1" dirty="0">
                <a:solidFill>
                  <a:srgbClr val="E8A317"/>
                </a:solidFill>
                <a:latin typeface="Calibri" pitchFamily="34" charset="0"/>
                <a:ea typeface="Calibri" pitchFamily="34" charset="-122"/>
                <a:cs typeface="Calibri" pitchFamily="34" charset="-120"/>
              </a:rPr>
              <a:t>Faithfulness: 6 of 6 statements supported = 1.00</a:t>
            </a:r>
            <a:endParaRPr lang="en-US" sz="1700" dirty="0"/>
          </a:p>
        </p:txBody>
      </p:sp>
      <p:sp>
        <p:nvSpPr>
          <p:cNvPr id="13" name="Text 1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4" name="Text 11"/>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Key findings</a:t>
            </a:r>
            <a:endParaRPr lang="en-US" sz="3200" dirty="0"/>
          </a:p>
        </p:txBody>
      </p:sp>
      <p:sp>
        <p:nvSpPr>
          <p:cNvPr id="3" name="Shape 1"/>
          <p:cNvSpPr/>
          <p:nvPr/>
        </p:nvSpPr>
        <p:spPr>
          <a:xfrm>
            <a:off x="548640" y="1325880"/>
            <a:ext cx="5440680" cy="2240280"/>
          </a:xfrm>
          <a:prstGeom prst="roundRect">
            <a:avLst>
              <a:gd name="adj" fmla="val 3265"/>
            </a:avLst>
          </a:prstGeom>
          <a:solidFill>
            <a:srgbClr val="EEF2F8"/>
          </a:solidFill>
          <a:ln w="12700">
            <a:solidFill>
              <a:srgbClr val="EEF2F8"/>
            </a:solidFill>
            <a:prstDash val="solid"/>
          </a:ln>
        </p:spPr>
      </p:sp>
      <p:sp>
        <p:nvSpPr>
          <p:cNvPr id="4" name="Text 2"/>
          <p:cNvSpPr txBox="1"/>
          <p:nvPr/>
        </p:nvSpPr>
        <p:spPr>
          <a:xfrm>
            <a:off x="822960" y="1600200"/>
            <a:ext cx="731520" cy="822960"/>
          </a:xfrm>
          <a:prstGeom prst="rect">
            <a:avLst/>
          </a:prstGeom>
          <a:noFill/>
          <a:ln/>
        </p:spPr>
        <p:txBody>
          <a:bodyPr wrap="square" lIns="0" tIns="0" rIns="0" bIns="0" rtlCol="0" anchor="ctr"/>
          <a:lstStyle/>
          <a:p>
            <a:pPr indent="0" marL="0">
              <a:buNone/>
            </a:pPr>
            <a:r>
              <a:rPr lang="en-US" sz="4400" b="1" dirty="0">
                <a:solidFill>
                  <a:srgbClr val="C0392B"/>
                </a:solidFill>
                <a:latin typeface="Cambria" pitchFamily="34" charset="0"/>
                <a:ea typeface="Cambria" pitchFamily="34" charset="-122"/>
                <a:cs typeface="Cambria" pitchFamily="34" charset="-120"/>
              </a:rPr>
              <a:t>1</a:t>
            </a:r>
            <a:endParaRPr lang="en-US" sz="4400" dirty="0"/>
          </a:p>
        </p:txBody>
      </p:sp>
      <p:sp>
        <p:nvSpPr>
          <p:cNvPr id="5" name="Text 3"/>
          <p:cNvSpPr txBox="1"/>
          <p:nvPr/>
        </p:nvSpPr>
        <p:spPr>
          <a:xfrm>
            <a:off x="1645920" y="1600200"/>
            <a:ext cx="4114800" cy="6858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Faithfulness is not correctness</a:t>
            </a:r>
            <a:endParaRPr lang="en-US" sz="1800" dirty="0"/>
          </a:p>
        </p:txBody>
      </p:sp>
      <p:sp>
        <p:nvSpPr>
          <p:cNvPr id="6" name="Text 4"/>
          <p:cNvSpPr txBox="1"/>
          <p:nvPr/>
        </p:nvSpPr>
        <p:spPr>
          <a:xfrm>
            <a:off x="1645920" y="2286000"/>
            <a:ext cx="4114800" cy="1188720"/>
          </a:xfrm>
          <a:prstGeom prst="rect">
            <a:avLst/>
          </a:prstGeom>
          <a:noFill/>
          <a:ln/>
        </p:spPr>
        <p:txBody>
          <a:bodyPr wrap="square" lIns="0" tIns="0" rIns="0" bIns="0" rtlCol="0" anchor="t"/>
          <a:lstStyle/>
          <a:p>
            <a:pPr indent="0" marL="0">
              <a:buNone/>
            </a:pPr>
            <a:r>
              <a:rPr lang="en-US" sz="1400" dirty="0">
                <a:solidFill>
                  <a:srgbClr val="1B1B1B"/>
                </a:solidFill>
                <a:latin typeface="Calibri" pitchFamily="34" charset="0"/>
                <a:ea typeface="Calibri" pitchFamily="34" charset="-122"/>
                <a:cs typeface="Calibri" pitchFamily="34" charset="-120"/>
              </a:rPr>
              <a:t>For the agent, faithfulness is at chance level for spotting wrong labels (AUC 0.465). 17 of 31 errors pass as faithful.</a:t>
            </a:r>
            <a:endParaRPr lang="en-US" sz="1400" dirty="0"/>
          </a:p>
        </p:txBody>
      </p:sp>
      <p:sp>
        <p:nvSpPr>
          <p:cNvPr id="7" name="Shape 5"/>
          <p:cNvSpPr/>
          <p:nvPr/>
        </p:nvSpPr>
        <p:spPr>
          <a:xfrm>
            <a:off x="6217920" y="1325880"/>
            <a:ext cx="5440680" cy="2240280"/>
          </a:xfrm>
          <a:prstGeom prst="roundRect">
            <a:avLst>
              <a:gd name="adj" fmla="val 3265"/>
            </a:avLst>
          </a:prstGeom>
          <a:solidFill>
            <a:srgbClr val="EEF2F8"/>
          </a:solidFill>
          <a:ln w="12700">
            <a:solidFill>
              <a:srgbClr val="EEF2F8"/>
            </a:solidFill>
            <a:prstDash val="solid"/>
          </a:ln>
        </p:spPr>
      </p:sp>
      <p:sp>
        <p:nvSpPr>
          <p:cNvPr id="8" name="Text 6"/>
          <p:cNvSpPr txBox="1"/>
          <p:nvPr/>
        </p:nvSpPr>
        <p:spPr>
          <a:xfrm>
            <a:off x="6492240" y="1600200"/>
            <a:ext cx="731520" cy="822960"/>
          </a:xfrm>
          <a:prstGeom prst="rect">
            <a:avLst/>
          </a:prstGeom>
          <a:noFill/>
          <a:ln/>
        </p:spPr>
        <p:txBody>
          <a:bodyPr wrap="square" lIns="0" tIns="0" rIns="0" bIns="0" rtlCol="0" anchor="ctr"/>
          <a:lstStyle/>
          <a:p>
            <a:pPr indent="0" marL="0">
              <a:buNone/>
            </a:pPr>
            <a:r>
              <a:rPr lang="en-US" sz="4400" b="1" dirty="0">
                <a:solidFill>
                  <a:srgbClr val="E8A317"/>
                </a:solidFill>
                <a:latin typeface="Cambria" pitchFamily="34" charset="0"/>
                <a:ea typeface="Cambria" pitchFamily="34" charset="-122"/>
                <a:cs typeface="Cambria" pitchFamily="34" charset="-120"/>
              </a:rPr>
              <a:t>2</a:t>
            </a:r>
            <a:endParaRPr lang="en-US" sz="4400" dirty="0"/>
          </a:p>
        </p:txBody>
      </p:sp>
      <p:sp>
        <p:nvSpPr>
          <p:cNvPr id="9" name="Text 7"/>
          <p:cNvSpPr txBox="1"/>
          <p:nvPr/>
        </p:nvSpPr>
        <p:spPr>
          <a:xfrm>
            <a:off x="7315200" y="1600200"/>
            <a:ext cx="4114800" cy="6858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Errors are application errors</a:t>
            </a:r>
            <a:endParaRPr lang="en-US" sz="1800" dirty="0"/>
          </a:p>
        </p:txBody>
      </p:sp>
      <p:sp>
        <p:nvSpPr>
          <p:cNvPr id="10" name="Text 8"/>
          <p:cNvSpPr txBox="1"/>
          <p:nvPr/>
        </p:nvSpPr>
        <p:spPr>
          <a:xfrm>
            <a:off x="7315200" y="2286000"/>
            <a:ext cx="4114800" cy="1188720"/>
          </a:xfrm>
          <a:prstGeom prst="rect">
            <a:avLst/>
          </a:prstGeom>
          <a:noFill/>
          <a:ln/>
        </p:spPr>
        <p:txBody>
          <a:bodyPr wrap="square" lIns="0" tIns="0" rIns="0" bIns="0" rtlCol="0" anchor="t"/>
          <a:lstStyle/>
          <a:p>
            <a:pPr indent="0" marL="0">
              <a:buNone/>
            </a:pPr>
            <a:r>
              <a:rPr lang="en-US" sz="1400" dirty="0">
                <a:solidFill>
                  <a:srgbClr val="1B1B1B"/>
                </a:solidFill>
                <a:latin typeface="Calibri" pitchFamily="34" charset="0"/>
                <a:ea typeface="Calibri" pitchFamily="34" charset="-122"/>
                <a:cs typeface="Calibri" pitchFamily="34" charset="-120"/>
              </a:rPr>
              <a:t>The right passage was retrieved in 14 of 17 cases; the model misapplied the rule, which RAGAS cannot see.</a:t>
            </a:r>
            <a:endParaRPr lang="en-US" sz="1400" dirty="0"/>
          </a:p>
        </p:txBody>
      </p:sp>
      <p:sp>
        <p:nvSpPr>
          <p:cNvPr id="11" name="Shape 9"/>
          <p:cNvSpPr/>
          <p:nvPr/>
        </p:nvSpPr>
        <p:spPr>
          <a:xfrm>
            <a:off x="548640" y="3794760"/>
            <a:ext cx="5440680" cy="2240280"/>
          </a:xfrm>
          <a:prstGeom prst="roundRect">
            <a:avLst>
              <a:gd name="adj" fmla="val 3265"/>
            </a:avLst>
          </a:prstGeom>
          <a:solidFill>
            <a:srgbClr val="EEF2F8"/>
          </a:solidFill>
          <a:ln w="12700">
            <a:solidFill>
              <a:srgbClr val="EEF2F8"/>
            </a:solidFill>
            <a:prstDash val="solid"/>
          </a:ln>
        </p:spPr>
      </p:sp>
      <p:sp>
        <p:nvSpPr>
          <p:cNvPr id="12" name="Text 10"/>
          <p:cNvSpPr txBox="1"/>
          <p:nvPr/>
        </p:nvSpPr>
        <p:spPr>
          <a:xfrm>
            <a:off x="822960" y="4069080"/>
            <a:ext cx="731520" cy="822960"/>
          </a:xfrm>
          <a:prstGeom prst="rect">
            <a:avLst/>
          </a:prstGeom>
          <a:noFill/>
          <a:ln/>
        </p:spPr>
        <p:txBody>
          <a:bodyPr wrap="square" lIns="0" tIns="0" rIns="0" bIns="0" rtlCol="0" anchor="ctr"/>
          <a:lstStyle/>
          <a:p>
            <a:pPr indent="0" marL="0">
              <a:buNone/>
            </a:pPr>
            <a:r>
              <a:rPr lang="en-US" sz="4400" b="1" dirty="0">
                <a:solidFill>
                  <a:srgbClr val="E8A317"/>
                </a:solidFill>
                <a:latin typeface="Cambria" pitchFamily="34" charset="0"/>
                <a:ea typeface="Cambria" pitchFamily="34" charset="-122"/>
                <a:cs typeface="Cambria" pitchFamily="34" charset="-120"/>
              </a:rPr>
              <a:t>3</a:t>
            </a:r>
            <a:endParaRPr lang="en-US" sz="4400" dirty="0"/>
          </a:p>
        </p:txBody>
      </p:sp>
      <p:sp>
        <p:nvSpPr>
          <p:cNvPr id="13" name="Text 11"/>
          <p:cNvSpPr txBox="1"/>
          <p:nvPr/>
        </p:nvSpPr>
        <p:spPr>
          <a:xfrm>
            <a:off x="1645920" y="4069080"/>
            <a:ext cx="4114800" cy="6858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Retrieval matters, prompt engineering did not</a:t>
            </a:r>
            <a:endParaRPr lang="en-US" sz="1800" dirty="0"/>
          </a:p>
        </p:txBody>
      </p:sp>
      <p:sp>
        <p:nvSpPr>
          <p:cNvPr id="14" name="Text 12"/>
          <p:cNvSpPr txBox="1"/>
          <p:nvPr/>
        </p:nvSpPr>
        <p:spPr>
          <a:xfrm>
            <a:off x="1645920" y="4754880"/>
            <a:ext cx="4114800" cy="1188720"/>
          </a:xfrm>
          <a:prstGeom prst="rect">
            <a:avLst/>
          </a:prstGeom>
          <a:noFill/>
          <a:ln/>
        </p:spPr>
        <p:txBody>
          <a:bodyPr wrap="square" lIns="0" tIns="0" rIns="0" bIns="0" rtlCol="0" anchor="t"/>
          <a:lstStyle/>
          <a:p>
            <a:pPr indent="0" marL="0">
              <a:buNone/>
            </a:pPr>
            <a:r>
              <a:rPr lang="en-US" sz="1400" dirty="0">
                <a:solidFill>
                  <a:srgbClr val="1B1B1B"/>
                </a:solidFill>
                <a:latin typeface="Calibri" pitchFamily="34" charset="0"/>
                <a:ea typeface="Calibri" pitchFamily="34" charset="-122"/>
                <a:cs typeface="Calibri" pitchFamily="34" charset="-120"/>
              </a:rPr>
              <a:t>RAG adds about 19 points over the plain model; the step-by-step agent is not better than a generic RAG prompt.</a:t>
            </a:r>
            <a:endParaRPr lang="en-US" sz="1400" dirty="0"/>
          </a:p>
        </p:txBody>
      </p:sp>
      <p:sp>
        <p:nvSpPr>
          <p:cNvPr id="15" name="Shape 13"/>
          <p:cNvSpPr/>
          <p:nvPr/>
        </p:nvSpPr>
        <p:spPr>
          <a:xfrm>
            <a:off x="6217920" y="3794760"/>
            <a:ext cx="5440680" cy="2240280"/>
          </a:xfrm>
          <a:prstGeom prst="roundRect">
            <a:avLst>
              <a:gd name="adj" fmla="val 3265"/>
            </a:avLst>
          </a:prstGeom>
          <a:solidFill>
            <a:srgbClr val="EEF2F8"/>
          </a:solidFill>
          <a:ln w="12700">
            <a:solidFill>
              <a:srgbClr val="EEF2F8"/>
            </a:solidFill>
            <a:prstDash val="solid"/>
          </a:ln>
        </p:spPr>
      </p:sp>
      <p:sp>
        <p:nvSpPr>
          <p:cNvPr id="16" name="Text 14"/>
          <p:cNvSpPr txBox="1"/>
          <p:nvPr/>
        </p:nvSpPr>
        <p:spPr>
          <a:xfrm>
            <a:off x="6492240" y="4069080"/>
            <a:ext cx="731520" cy="822960"/>
          </a:xfrm>
          <a:prstGeom prst="rect">
            <a:avLst/>
          </a:prstGeom>
          <a:noFill/>
          <a:ln/>
        </p:spPr>
        <p:txBody>
          <a:bodyPr wrap="square" lIns="0" tIns="0" rIns="0" bIns="0" rtlCol="0" anchor="ctr"/>
          <a:lstStyle/>
          <a:p>
            <a:pPr indent="0" marL="0">
              <a:buNone/>
            </a:pPr>
            <a:r>
              <a:rPr lang="en-US" sz="4400" b="1" dirty="0">
                <a:solidFill>
                  <a:srgbClr val="E8A317"/>
                </a:solidFill>
                <a:latin typeface="Cambria" pitchFamily="34" charset="0"/>
                <a:ea typeface="Cambria" pitchFamily="34" charset="-122"/>
                <a:cs typeface="Cambria" pitchFamily="34" charset="-120"/>
              </a:rPr>
              <a:t>4</a:t>
            </a:r>
            <a:endParaRPr lang="en-US" sz="4400" dirty="0"/>
          </a:p>
        </p:txBody>
      </p:sp>
      <p:sp>
        <p:nvSpPr>
          <p:cNvPr id="17" name="Text 15"/>
          <p:cNvSpPr txBox="1"/>
          <p:nvPr/>
        </p:nvSpPr>
        <p:spPr>
          <a:xfrm>
            <a:off x="7315200" y="4069080"/>
            <a:ext cx="4114800" cy="6858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Benchmarks from worked examples can leak</a:t>
            </a:r>
            <a:endParaRPr lang="en-US" sz="1800" dirty="0"/>
          </a:p>
        </p:txBody>
      </p:sp>
      <p:sp>
        <p:nvSpPr>
          <p:cNvPr id="18" name="Text 16"/>
          <p:cNvSpPr txBox="1"/>
          <p:nvPr/>
        </p:nvSpPr>
        <p:spPr>
          <a:xfrm>
            <a:off x="7315200" y="4754880"/>
            <a:ext cx="4114800" cy="1188720"/>
          </a:xfrm>
          <a:prstGeom prst="rect">
            <a:avLst/>
          </a:prstGeom>
          <a:noFill/>
          <a:ln/>
        </p:spPr>
        <p:txBody>
          <a:bodyPr wrap="square" lIns="0" tIns="0" rIns="0" bIns="0" rtlCol="0" anchor="t"/>
          <a:lstStyle/>
          <a:p>
            <a:pPr indent="0" marL="0">
              <a:buNone/>
            </a:pPr>
            <a:r>
              <a:rPr lang="en-US" sz="1400" dirty="0">
                <a:solidFill>
                  <a:srgbClr val="1B1B1B"/>
                </a:solidFill>
                <a:latin typeface="Calibri" pitchFamily="34" charset="0"/>
                <a:ea typeface="Calibri" pitchFamily="34" charset="-122"/>
                <a:cs typeface="Calibri" pitchFamily="34" charset="-120"/>
              </a:rPr>
              <a:t>The verdict text inflated accuracy by up to 15 points and flipped the ranking of the two best systems.</a:t>
            </a:r>
            <a:endParaRPr lang="en-US" sz="1400" dirty="0"/>
          </a:p>
        </p:txBody>
      </p:sp>
      <p:sp>
        <p:nvSpPr>
          <p:cNvPr id="19" name="Text 1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20" name="Text 18"/>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Limitations and future work</a:t>
            </a:r>
            <a:endParaRPr lang="en-US" sz="3200" dirty="0"/>
          </a:p>
        </p:txBody>
      </p:sp>
      <p:sp>
        <p:nvSpPr>
          <p:cNvPr id="3" name="Shape 1"/>
          <p:cNvSpPr/>
          <p:nvPr/>
        </p:nvSpPr>
        <p:spPr>
          <a:xfrm>
            <a:off x="548640" y="1188720"/>
            <a:ext cx="5440680" cy="4937760"/>
          </a:xfrm>
          <a:prstGeom prst="roundRect">
            <a:avLst>
              <a:gd name="adj" fmla="val 1481"/>
            </a:avLst>
          </a:prstGeom>
          <a:solidFill>
            <a:srgbClr val="EEF2F8"/>
          </a:solidFill>
          <a:ln w="12700">
            <a:solidFill>
              <a:srgbClr val="EEF2F8"/>
            </a:solidFill>
            <a:prstDash val="solid"/>
          </a:ln>
        </p:spPr>
      </p:sp>
      <p:sp>
        <p:nvSpPr>
          <p:cNvPr id="4" name="Shape 2"/>
          <p:cNvSpPr/>
          <p:nvPr/>
        </p:nvSpPr>
        <p:spPr>
          <a:xfrm>
            <a:off x="6217920" y="1188720"/>
            <a:ext cx="5440680" cy="4937760"/>
          </a:xfrm>
          <a:prstGeom prst="roundRect">
            <a:avLst>
              <a:gd name="adj" fmla="val 1481"/>
            </a:avLst>
          </a:prstGeom>
          <a:solidFill>
            <a:srgbClr val="14213D"/>
          </a:solidFill>
          <a:ln w="12700">
            <a:solidFill>
              <a:srgbClr val="14213D"/>
            </a:solidFill>
            <a:prstDash val="solid"/>
          </a:ln>
        </p:spPr>
      </p:sp>
      <p:sp>
        <p:nvSpPr>
          <p:cNvPr id="5" name="Text 3"/>
          <p:cNvSpPr txBox="1"/>
          <p:nvPr/>
        </p:nvSpPr>
        <p:spPr>
          <a:xfrm>
            <a:off x="868680" y="1417320"/>
            <a:ext cx="5303520" cy="45720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Limitations</a:t>
            </a:r>
            <a:endParaRPr lang="en-US" sz="2000" dirty="0"/>
          </a:p>
        </p:txBody>
      </p:sp>
      <p:sp>
        <p:nvSpPr>
          <p:cNvPr id="6" name="Text 4"/>
          <p:cNvSpPr txBox="1"/>
          <p:nvPr/>
        </p:nvSpPr>
        <p:spPr>
          <a:xfrm>
            <a:off x="868680" y="2057400"/>
            <a:ext cx="4846320" cy="3931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B1B1B"/>
                </a:solidFill>
                <a:latin typeface="Calibri" pitchFamily="34" charset="0"/>
                <a:ea typeface="Calibri" pitchFamily="34" charset="-122"/>
                <a:cs typeface="Calibri" pitchFamily="34" charset="-120"/>
              </a:rPr>
              <a:t>One generator and one judge; results may depend on these models</a:t>
            </a:r>
            <a:endParaRPr lang="en-US" sz="1700" dirty="0"/>
          </a:p>
          <a:p>
            <a:pPr marL="342900" indent="-342900">
              <a:spcAft>
                <a:spcPts val="800"/>
              </a:spcAft>
              <a:buSzPct val="100000"/>
              <a:buChar char="•"/>
            </a:pPr>
            <a:r>
              <a:rPr lang="en-US" sz="1700" dirty="0">
                <a:solidFill>
                  <a:srgbClr val="1B1B1B"/>
                </a:solidFill>
                <a:latin typeface="Calibri" pitchFamily="34" charset="0"/>
                <a:ea typeface="Calibri" pitchFamily="34" charset="-122"/>
                <a:cs typeface="Calibri" pitchFamily="34" charset="-120"/>
              </a:rPr>
              <a:t>Single annotator for redaction review and error categories</a:t>
            </a:r>
            <a:endParaRPr lang="en-US" sz="1700" dirty="0"/>
          </a:p>
          <a:p>
            <a:pPr marL="342900" indent="-342900">
              <a:spcAft>
                <a:spcPts val="800"/>
              </a:spcAft>
              <a:buSzPct val="100000"/>
              <a:buChar char="•"/>
            </a:pPr>
            <a:r>
              <a:rPr lang="en-US" sz="1700" dirty="0">
                <a:solidFill>
                  <a:srgbClr val="1B1B1B"/>
                </a:solidFill>
                <a:latin typeface="Calibri" pitchFamily="34" charset="0"/>
                <a:ea typeface="Calibri" pitchFamily="34" charset="-122"/>
                <a:cs typeface="Calibri" pitchFamily="34" charset="-120"/>
              </a:rPr>
              <a:t>About 20 inputs still describe the legal test without stating the label</a:t>
            </a:r>
            <a:endParaRPr lang="en-US" sz="1700" dirty="0"/>
          </a:p>
          <a:p>
            <a:pPr marL="342900" indent="-342900">
              <a:spcAft>
                <a:spcPts val="800"/>
              </a:spcAft>
              <a:buSzPct val="100000"/>
              <a:buChar char="•"/>
            </a:pPr>
            <a:r>
              <a:rPr lang="en-US" sz="1700" dirty="0">
                <a:solidFill>
                  <a:srgbClr val="1B1B1B"/>
                </a:solidFill>
                <a:latin typeface="Calibri" pitchFamily="34" charset="0"/>
                <a:ea typeface="Calibri" pitchFamily="34" charset="-122"/>
                <a:cs typeface="Calibri" pitchFamily="34" charset="-120"/>
              </a:rPr>
              <a:t>26 and 31 wrong answers: wide confidence intervals</a:t>
            </a:r>
            <a:endParaRPr lang="en-US" sz="1700" dirty="0"/>
          </a:p>
          <a:p>
            <a:pPr marL="342900" indent="-342900">
              <a:spcAft>
                <a:spcPts val="800"/>
              </a:spcAft>
              <a:buSzPct val="100000"/>
              <a:buChar char="•"/>
            </a:pPr>
            <a:r>
              <a:rPr lang="en-US" sz="1700" dirty="0">
                <a:solidFill>
                  <a:srgbClr val="1B1B1B"/>
                </a:solidFill>
                <a:latin typeface="Calibri" pitchFamily="34" charset="0"/>
                <a:ea typeface="Calibri" pitchFamily="34" charset="-122"/>
                <a:cs typeface="Calibri" pitchFamily="34" charset="-120"/>
              </a:rPr>
              <a:t>Commission examples are cleaner than real product descriptions</a:t>
            </a:r>
            <a:endParaRPr lang="en-US" sz="1700" dirty="0"/>
          </a:p>
        </p:txBody>
      </p:sp>
      <p:sp>
        <p:nvSpPr>
          <p:cNvPr id="7" name="Text 5"/>
          <p:cNvSpPr txBox="1"/>
          <p:nvPr/>
        </p:nvSpPr>
        <p:spPr>
          <a:xfrm>
            <a:off x="6537960" y="1417320"/>
            <a:ext cx="4846320" cy="457200"/>
          </a:xfrm>
          <a:prstGeom prst="rect">
            <a:avLst/>
          </a:prstGeom>
          <a:noFill/>
          <a:ln/>
        </p:spPr>
        <p:txBody>
          <a:bodyPr wrap="square" lIns="0" tIns="0" rIns="0" bIns="0" rtlCol="0" anchor="ctr"/>
          <a:lstStyle/>
          <a:p>
            <a:pPr indent="0" marL="0">
              <a:buNone/>
            </a:pPr>
            <a:r>
              <a:rPr lang="en-US" sz="2000" b="1" dirty="0">
                <a:solidFill>
                  <a:srgbClr val="E8A317"/>
                </a:solidFill>
                <a:latin typeface="Cambria" pitchFamily="34" charset="0"/>
                <a:ea typeface="Cambria" pitchFamily="34" charset="-122"/>
                <a:cs typeface="Cambria" pitchFamily="34" charset="-120"/>
              </a:rPr>
              <a:t>Future work</a:t>
            </a:r>
            <a:endParaRPr lang="en-US" sz="2000" dirty="0"/>
          </a:p>
        </p:txBody>
      </p:sp>
      <p:sp>
        <p:nvSpPr>
          <p:cNvPr id="8" name="Text 6"/>
          <p:cNvSpPr txBox="1"/>
          <p:nvPr/>
        </p:nvSpPr>
        <p:spPr>
          <a:xfrm>
            <a:off x="6537960" y="2057400"/>
            <a:ext cx="4846320" cy="3931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A second, stronger generator, including a closed commercial model, on the same redacted inputs</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A second annotator and inter-annotator agreement</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Realistic product descriptions labelled against the guidelines</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A correctness-aware check: does the conclusion follow from the retrieved rule and the stated facts?</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Extension towards a thesis or paper</a:t>
            </a:r>
            <a:endParaRPr lang="en-US" sz="170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0A0"/>
                </a:solidFill>
                <a:latin typeface="Calibri" pitchFamily="34" charset="0"/>
                <a:ea typeface="Calibri" pitchFamily="34" charset="-122"/>
                <a:cs typeface="Calibri" pitchFamily="34" charset="-120"/>
              </a:rPr>
              <a:t>Case Study 2  |  Rahul Rawat  |  SRH Hochschule Heidelberg</a:t>
            </a:r>
            <a:endParaRPr lang="en-US" sz="900" dirty="0"/>
          </a:p>
        </p:txBody>
      </p:sp>
      <p:sp>
        <p:nvSpPr>
          <p:cNvPr id="10" name="Text 8"/>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8A90A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548640"/>
          </a:xfrm>
          <a:prstGeom prst="rect">
            <a:avLst/>
          </a:prstGeom>
          <a:noFill/>
          <a:ln/>
        </p:spPr>
        <p:txBody>
          <a:bodyPr wrap="square" lIns="0" tIns="0" rIns="0" bIns="0" rtlCol="0" anchor="ctr"/>
          <a:lstStyle/>
          <a:p>
            <a:pPr indent="0" marL="0">
              <a:buNone/>
            </a:pPr>
            <a:r>
              <a:rPr lang="en-US" sz="1600" b="1" spc="200" kern="0" dirty="0">
                <a:solidFill>
                  <a:srgbClr val="E8A317"/>
                </a:solidFill>
                <a:latin typeface="Calibri" pitchFamily="34" charset="0"/>
                <a:ea typeface="Calibri" pitchFamily="34" charset="-122"/>
                <a:cs typeface="Calibri" pitchFamily="34" charset="-120"/>
              </a:rPr>
              <a:t>Conclusion</a:t>
            </a:r>
            <a:endParaRPr lang="en-US" sz="1600" dirty="0"/>
          </a:p>
        </p:txBody>
      </p:sp>
      <p:sp>
        <p:nvSpPr>
          <p:cNvPr id="3" name="Text 1"/>
          <p:cNvSpPr txBox="1"/>
          <p:nvPr/>
        </p:nvSpPr>
        <p:spPr>
          <a:xfrm>
            <a:off x="731520" y="1463040"/>
            <a:ext cx="10698480" cy="1737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 high faithfulness score says almost nothing about whether a legal classification is right.</a:t>
            </a:r>
            <a:endParaRPr lang="en-US" sz="3600" dirty="0"/>
          </a:p>
        </p:txBody>
      </p:sp>
      <p:sp>
        <p:nvSpPr>
          <p:cNvPr id="4" name="Text 2"/>
          <p:cNvSpPr txBox="1"/>
          <p:nvPr/>
        </p:nvSpPr>
        <p:spPr>
          <a:xfrm>
            <a:off x="731520" y="3383280"/>
            <a:ext cx="10058400" cy="9144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Faithfulness is necessary but not sufficient. Wherever a ground truth exists, report it next to a correctness check.</a:t>
            </a:r>
            <a:endParaRPr lang="en-US" sz="2000" dirty="0"/>
          </a:p>
        </p:txBody>
      </p:sp>
      <p:sp>
        <p:nvSpPr>
          <p:cNvPr id="5" name="Text 3"/>
          <p:cNvSpPr txBox="1"/>
          <p:nvPr/>
        </p:nvSpPr>
        <p:spPr>
          <a:xfrm>
            <a:off x="731520" y="5120640"/>
            <a:ext cx="7315200" cy="548640"/>
          </a:xfrm>
          <a:prstGeom prst="rect">
            <a:avLst/>
          </a:prstGeom>
          <a:noFill/>
          <a:ln/>
        </p:spPr>
        <p:txBody>
          <a:bodyPr wrap="square" lIns="0" tIns="0" rIns="0" bIns="0" rtlCol="0" anchor="ctr"/>
          <a:lstStyle/>
          <a:p>
            <a:pPr indent="0" marL="0">
              <a:buNone/>
            </a:pPr>
            <a:r>
              <a:rPr lang="en-US" sz="2400" dirty="0">
                <a:solidFill>
                  <a:srgbClr val="FFFFFF"/>
                </a:solidFill>
                <a:latin typeface="Cambria" pitchFamily="34" charset="0"/>
                <a:ea typeface="Cambria" pitchFamily="34" charset="-122"/>
                <a:cs typeface="Cambria" pitchFamily="34" charset="-120"/>
              </a:rPr>
              <a:t>Thank you. Questions?</a:t>
            </a:r>
            <a:endParaRPr lang="en-US" sz="2400" dirty="0"/>
          </a:p>
        </p:txBody>
      </p:sp>
      <p:sp>
        <p:nvSpPr>
          <p:cNvPr id="6" name="Text 4"/>
          <p:cNvSpPr txBox="1"/>
          <p:nvPr/>
        </p:nvSpPr>
        <p:spPr>
          <a:xfrm>
            <a:off x="731520" y="5760720"/>
            <a:ext cx="7315200" cy="365760"/>
          </a:xfrm>
          <a:prstGeom prst="rect">
            <a:avLst/>
          </a:prstGeom>
          <a:noFill/>
          <a:ln/>
        </p:spPr>
        <p:txBody>
          <a:bodyPr wrap="square" lIns="0" tIns="0" rIns="0" bIns="0" rtlCol="0" anchor="ctr"/>
          <a:lstStyle/>
          <a:p>
            <a:pPr indent="0" marL="0">
              <a:buNone/>
            </a:pPr>
            <a:r>
              <a:rPr lang="en-US" sz="1300" dirty="0">
                <a:solidFill>
                  <a:srgbClr val="8FA3C8"/>
                </a:solidFill>
                <a:latin typeface="Calibri" pitchFamily="34" charset="0"/>
                <a:ea typeface="Calibri" pitchFamily="34" charset="-122"/>
                <a:cs typeface="Calibri" pitchFamily="34" charset="-120"/>
              </a:rPr>
              <a:t>github.com/rahulrawat20022002/case_study2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Faithful but wrong? Case Study 2</dc:title>
  <dc:subject>PptxGenJS Presentation</dc:subject>
  <dc:creator>Rahul Rawat</dc:creator>
  <cp:lastModifiedBy>Rahul Rawat</cp:lastModifiedBy>
  <cp:revision>1</cp:revision>
  <dcterms:created xsi:type="dcterms:W3CDTF">2026-09-26T13:45:47Z</dcterms:created>
  <dcterms:modified xsi:type="dcterms:W3CDTF">2026-09-26T13:45:47Z</dcterms:modified>
</cp:coreProperties>
</file>