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3.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4.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5.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6.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2" r:id="rId5"/>
    <p:sldMasterId id="2147483696" r:id="rId6"/>
    <p:sldMasterId id="2147483720" r:id="rId7"/>
    <p:sldMasterId id="2147483744" r:id="rId8"/>
    <p:sldMasterId id="2147483768" r:id="rId9"/>
    <p:sldMasterId id="2147483792" r:id="rId10"/>
  </p:sldMasterIdLst>
  <p:notesMasterIdLst>
    <p:notesMasterId r:id="rId29"/>
  </p:notesMasterIdLst>
  <p:sldIdLst>
    <p:sldId id="307" r:id="rId11"/>
    <p:sldId id="477" r:id="rId12"/>
    <p:sldId id="478" r:id="rId13"/>
    <p:sldId id="479" r:id="rId14"/>
    <p:sldId id="480" r:id="rId15"/>
    <p:sldId id="481" r:id="rId16"/>
    <p:sldId id="482" r:id="rId17"/>
    <p:sldId id="483" r:id="rId18"/>
    <p:sldId id="484" r:id="rId19"/>
    <p:sldId id="485" r:id="rId20"/>
    <p:sldId id="486" r:id="rId21"/>
    <p:sldId id="487" r:id="rId22"/>
    <p:sldId id="488" r:id="rId23"/>
    <p:sldId id="490" r:id="rId24"/>
    <p:sldId id="491" r:id="rId25"/>
    <p:sldId id="492" r:id="rId26"/>
    <p:sldId id="493" r:id="rId27"/>
    <p:sldId id="494" r:id="rId2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3818" userDrawn="1">
          <p15:clr>
            <a:srgbClr val="A4A3A4"/>
          </p15:clr>
        </p15:guide>
        <p15:guide id="3" orient="horz" pos="3807" userDrawn="1">
          <p15:clr>
            <a:srgbClr val="A4A3A4"/>
          </p15:clr>
        </p15:guide>
        <p15:guide id="4" orient="horz" pos="1088" userDrawn="1">
          <p15:clr>
            <a:srgbClr val="A4A3A4"/>
          </p15:clr>
        </p15:guide>
        <p15:guide id="5" pos="7450" userDrawn="1">
          <p15:clr>
            <a:srgbClr val="A4A3A4"/>
          </p15:clr>
        </p15:guide>
        <p15:guide id="6" pos="5162" userDrawn="1">
          <p15:clr>
            <a:srgbClr val="A4A3A4"/>
          </p15:clr>
        </p15:guide>
        <p15:guide id="7" pos="5995" userDrawn="1">
          <p15:clr>
            <a:srgbClr val="A4A3A4"/>
          </p15:clr>
        </p15:guide>
        <p15:guide id="8" pos="5010" userDrawn="1">
          <p15:clr>
            <a:srgbClr val="A4A3A4"/>
          </p15:clr>
        </p15:guide>
      </p15:sldGuideLst>
    </p:ext>
    <p:ext uri="{2D200454-40CA-4A62-9FC3-DE9A4176ACB9}">
      <p15:notesGuideLst xmlns:p15="http://schemas.microsoft.com/office/powerpoint/2012/main">
        <p15:guide id="1" orient="horz" pos="2908">
          <p15:clr>
            <a:srgbClr val="A4A3A4"/>
          </p15:clr>
        </p15:guide>
        <p15:guide id="2" pos="21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30"/>
    <a:srgbClr val="DF4807"/>
    <a:srgbClr val="2C2E2E"/>
    <a:srgbClr val="000000"/>
    <a:srgbClr val="B92659"/>
    <a:srgbClr val="6D7373"/>
    <a:srgbClr val="0067A0"/>
    <a:srgbClr val="AAA39D"/>
    <a:srgbClr val="66FF33"/>
    <a:srgbClr val="142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65" autoAdjust="0"/>
    <p:restoredTop sz="54640" autoAdjust="0"/>
  </p:normalViewPr>
  <p:slideViewPr>
    <p:cSldViewPr snapToGrid="0" showGuides="1">
      <p:cViewPr>
        <p:scale>
          <a:sx n="99" d="100"/>
          <a:sy n="99" d="100"/>
        </p:scale>
        <p:origin x="408" y="-536"/>
      </p:cViewPr>
      <p:guideLst>
        <p:guide orient="horz" pos="2181"/>
        <p:guide pos="3818"/>
        <p:guide orient="horz" pos="3807"/>
        <p:guide orient="horz" pos="1088"/>
        <p:guide pos="7450"/>
        <p:guide pos="5162"/>
        <p:guide pos="5995"/>
        <p:guide pos="501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5" d="100"/>
          <a:sy n="45" d="100"/>
        </p:scale>
        <p:origin x="-2792" y="-72"/>
      </p:cViewPr>
      <p:guideLst>
        <p:guide orient="horz" pos="2908"/>
        <p:guide pos="214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presProps" Target="presProps.xml"/><Relationship Id="rId8" Type="http://schemas.openxmlformats.org/officeDocument/2006/relationships/slideMaster" Target="slideMasters/slideMaster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bar"/>
        <c:grouping val="stacked"/>
        <c:varyColors val="1"/>
        <c:ser>
          <c:idx val="0"/>
          <c:order val="0"/>
          <c:tx>
            <c:strRef>
              <c:f>Sheet1!$B$1</c:f>
              <c:strCache>
                <c:ptCount val="1"/>
                <c:pt idx="0">
                  <c:v>High-risk</c:v>
                </c:pt>
              </c:strCache>
            </c:strRef>
          </c:tx>
          <c:spPr>
            <a:solidFill>
              <a:srgbClr val="DF4807"/>
            </a:solidFill>
          </c:spPr>
          <c:invertIfNegative val="1"/>
          <c:dLbls>
            <c:numFmt formatCode="0;;;" sourceLinked="0"/>
            <c:spPr>
              <a:noFill/>
              <a:ln>
                <a:noFill/>
              </a:ln>
              <a:effectLst/>
            </c:spPr>
            <c:txPr>
              <a:bodyPr/>
              <a:lstStyle/>
              <a:p>
                <a:pPr>
                  <a:defRPr sz="1000">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Sheet1!$B$2:$B$9</c:f>
              <c:numCache>
                <c:formatCode>General</c:formatCode>
                <c:ptCount val="8"/>
                <c:pt idx="0">
                  <c:v>14</c:v>
                </c:pt>
                <c:pt idx="1">
                  <c:v>8</c:v>
                </c:pt>
                <c:pt idx="2">
                  <c:v>9</c:v>
                </c:pt>
                <c:pt idx="3">
                  <c:v>14</c:v>
                </c:pt>
                <c:pt idx="4">
                  <c:v>21</c:v>
                </c:pt>
                <c:pt idx="5">
                  <c:v>0</c:v>
                </c:pt>
                <c:pt idx="6">
                  <c:v>0</c:v>
                </c:pt>
                <c:pt idx="7">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4DF-E942-B275-6123AB4BFADB}"/>
            </c:ext>
          </c:extLst>
        </c:ser>
        <c:ser>
          <c:idx val="1"/>
          <c:order val="1"/>
          <c:tx>
            <c:strRef>
              <c:f>Sheet1!$C$1</c:f>
              <c:strCache>
                <c:ptCount val="1"/>
                <c:pt idx="0">
                  <c:v>Not high-risk</c:v>
                </c:pt>
              </c:strCache>
            </c:strRef>
          </c:tx>
          <c:spPr>
            <a:solidFill>
              <a:srgbClr val="AAA39D"/>
            </a:solidFill>
          </c:spPr>
          <c:invertIfNegative val="1"/>
          <c:dLbls>
            <c:numFmt formatCode="0;;;" sourceLinked="0"/>
            <c:spPr>
              <a:noFill/>
              <a:ln>
                <a:noFill/>
              </a:ln>
              <a:effectLst/>
            </c:spPr>
            <c:txPr>
              <a:bodyPr/>
              <a:lstStyle/>
              <a:p>
                <a:pPr>
                  <a:defRPr sz="1000">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Sheet1!$C$2:$C$9</c:f>
              <c:numCache>
                <c:formatCode>General</c:formatCode>
                <c:ptCount val="8"/>
                <c:pt idx="0">
                  <c:v>18</c:v>
                </c:pt>
                <c:pt idx="1">
                  <c:v>10</c:v>
                </c:pt>
                <c:pt idx="2">
                  <c:v>19</c:v>
                </c:pt>
                <c:pt idx="3">
                  <c:v>18</c:v>
                </c:pt>
                <c:pt idx="4">
                  <c:v>22</c:v>
                </c:pt>
                <c:pt idx="5">
                  <c:v>23</c:v>
                </c:pt>
                <c:pt idx="6">
                  <c:v>23</c:v>
                </c:pt>
                <c:pt idx="7">
                  <c:v>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4DF-E942-B275-6123AB4BFADB}"/>
            </c:ext>
          </c:extLst>
        </c:ser>
        <c:dLbls>
          <c:dLblPos val="ctr"/>
          <c:showLegendKey val="0"/>
          <c:showVal val="1"/>
          <c:showCatName val="0"/>
          <c:showSerName val="0"/>
          <c:showPercent val="0"/>
          <c:showBubbleSize val="0"/>
        </c:dLbls>
        <c:gapWidth val="60"/>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AAA39D"/>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t"/>
        <c:majorGridlines>
          <c:spPr>
            <a:ln>
              <a:solidFill>
                <a:srgbClr val="E4E1DE"/>
              </a:solidFill>
            </a:ln>
          </c:spPr>
        </c:majorGridlines>
        <c:numFmt formatCode="General" sourceLinked="1"/>
        <c:majorTickMark val="out"/>
        <c:minorTickMark val="none"/>
        <c:tickLblPos val="nextTo"/>
        <c:spPr>
          <a:ln>
            <a:noFill/>
          </a:ln>
        </c:spPr>
        <c:txPr>
          <a:bodyPr/>
          <a:lstStyle/>
          <a:p>
            <a:pPr>
              <a:defRPr sz="10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57575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129 inputs stating the verdict</c:v>
                </c:pt>
              </c:strCache>
            </c:strRef>
          </c:tx>
          <c:spPr>
            <a:solidFill>
              <a:srgbClr val="DF4807"/>
            </a:solidFill>
          </c:spPr>
          <c:invertIfNegative val="1"/>
          <c:dLbls>
            <c:numFmt formatCode="0.000" sourceLinked="0"/>
            <c:spPr>
              <a:noFill/>
              <a:ln>
                <a:noFill/>
              </a:ln>
              <a:effectLst/>
            </c:spPr>
            <c:txPr>
              <a:bodyPr/>
              <a:lstStyle/>
              <a:p>
                <a:pPr>
                  <a:defRPr sz="1000">
                    <a:solidFill>
                      <a:srgbClr val="57575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Plain LLM</c:v>
                </c:pt>
                <c:pt idx="1">
                  <c:v>Standard RAG</c:v>
                </c:pt>
                <c:pt idx="2">
                  <c:v>Agent</c:v>
                </c:pt>
              </c:strCache>
            </c:strRef>
          </c:cat>
          <c:val>
            <c:numRef>
              <c:f>Sheet1!$B$2:$B$4</c:f>
              <c:numCache>
                <c:formatCode>General</c:formatCode>
                <c:ptCount val="3"/>
                <c:pt idx="0">
                  <c:v>0.93799999999999994</c:v>
                </c:pt>
                <c:pt idx="1">
                  <c:v>0.92200000000000004</c:v>
                </c:pt>
                <c:pt idx="2">
                  <c:v>0.96099999999999997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CF4-4E43-9FA5-7B6450B77FFD}"/>
            </c:ext>
          </c:extLst>
        </c:ser>
        <c:ser>
          <c:idx val="1"/>
          <c:order val="1"/>
          <c:tx>
            <c:strRef>
              <c:f>Sheet1!$C$1</c:f>
              <c:strCache>
                <c:ptCount val="1"/>
                <c:pt idx="0">
                  <c:v>86 clean inputs</c:v>
                </c:pt>
              </c:strCache>
            </c:strRef>
          </c:tx>
          <c:spPr>
            <a:solidFill>
              <a:srgbClr val="AAA39D"/>
            </a:solidFill>
          </c:spPr>
          <c:invertIfNegative val="1"/>
          <c:dLbls>
            <c:numFmt formatCode="0.000" sourceLinked="0"/>
            <c:spPr>
              <a:noFill/>
              <a:ln>
                <a:noFill/>
              </a:ln>
              <a:effectLst/>
            </c:spPr>
            <c:txPr>
              <a:bodyPr/>
              <a:lstStyle/>
              <a:p>
                <a:pPr>
                  <a:defRPr sz="1000">
                    <a:solidFill>
                      <a:srgbClr val="57575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Plain LLM</c:v>
                </c:pt>
                <c:pt idx="1">
                  <c:v>Standard RAG</c:v>
                </c:pt>
                <c:pt idx="2">
                  <c:v>Agent</c:v>
                </c:pt>
              </c:strCache>
            </c:strRef>
          </c:cat>
          <c:val>
            <c:numRef>
              <c:f>Sheet1!$C$2:$C$4</c:f>
              <c:numCache>
                <c:formatCode>General</c:formatCode>
                <c:ptCount val="3"/>
                <c:pt idx="0">
                  <c:v>0.67400000000000004</c:v>
                </c:pt>
                <c:pt idx="1">
                  <c:v>0.95299999999999996</c:v>
                </c:pt>
                <c:pt idx="2">
                  <c:v>0.95299999999999996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CF4-4E43-9FA5-7B6450B77FFD}"/>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AAA39D"/>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1000000000000001"/>
          <c:min val="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endParaRPr lang="en-US"/>
          </a:p>
        </c:txPr>
        <c:crossAx val="-2068027336"/>
        <c:crosses val="autoZero"/>
        <c:crossBetween val="between"/>
        <c:majorUnit val="0.2"/>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57575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Original inputs</c:v>
                </c:pt>
              </c:strCache>
            </c:strRef>
          </c:tx>
          <c:spPr>
            <a:solidFill>
              <a:srgbClr val="AAA39D"/>
            </a:solidFill>
          </c:spPr>
          <c:invertIfNegative val="1"/>
          <c:dLbls>
            <c:numFmt formatCode="0.000" sourceLinked="0"/>
            <c:spPr>
              <a:noFill/>
              <a:ln>
                <a:noFill/>
              </a:ln>
              <a:effectLst/>
            </c:spPr>
            <c:txPr>
              <a:bodyPr/>
              <a:lstStyle/>
              <a:p>
                <a:pPr>
                  <a:defRPr sz="1000">
                    <a:solidFill>
                      <a:srgbClr val="57575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Plain LLM</c:v>
                </c:pt>
                <c:pt idx="1">
                  <c:v>Standard RAG</c:v>
                </c:pt>
                <c:pt idx="2">
                  <c:v>Agent</c:v>
                </c:pt>
              </c:strCache>
            </c:strRef>
          </c:cat>
          <c:val>
            <c:numRef>
              <c:f>Sheet1!$B$2:$B$4</c:f>
              <c:numCache>
                <c:formatCode>General</c:formatCode>
                <c:ptCount val="3"/>
                <c:pt idx="0">
                  <c:v>0.83299999999999996</c:v>
                </c:pt>
                <c:pt idx="1">
                  <c:v>0.93500000000000005</c:v>
                </c:pt>
                <c:pt idx="2">
                  <c:v>0.95799999999999996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584-9F4A-AF55-06B9AF816D82}"/>
            </c:ext>
          </c:extLst>
        </c:ser>
        <c:ser>
          <c:idx val="1"/>
          <c:order val="1"/>
          <c:tx>
            <c:strRef>
              <c:f>Sheet1!$C$1</c:f>
              <c:strCache>
                <c:ptCount val="1"/>
                <c:pt idx="0">
                  <c:v>Redacted inputs</c:v>
                </c:pt>
              </c:strCache>
            </c:strRef>
          </c:tx>
          <c:spPr>
            <a:solidFill>
              <a:srgbClr val="DF4807"/>
            </a:solidFill>
          </c:spPr>
          <c:invertIfNegative val="1"/>
          <c:dLbls>
            <c:numFmt formatCode="0.000" sourceLinked="0"/>
            <c:spPr>
              <a:noFill/>
              <a:ln>
                <a:noFill/>
              </a:ln>
              <a:effectLst/>
            </c:spPr>
            <c:txPr>
              <a:bodyPr/>
              <a:lstStyle/>
              <a:p>
                <a:pPr>
                  <a:defRPr sz="1000">
                    <a:solidFill>
                      <a:srgbClr val="57575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Plain LLM</c:v>
                </c:pt>
                <c:pt idx="1">
                  <c:v>Standard RAG</c:v>
                </c:pt>
                <c:pt idx="2">
                  <c:v>Agent</c:v>
                </c:pt>
              </c:strCache>
            </c:strRef>
          </c:cat>
          <c:val>
            <c:numRef>
              <c:f>Sheet1!$C$2:$C$4</c:f>
              <c:numCache>
                <c:formatCode>General</c:formatCode>
                <c:ptCount val="3"/>
                <c:pt idx="0">
                  <c:v>0.68799999999999994</c:v>
                </c:pt>
                <c:pt idx="1">
                  <c:v>0.879</c:v>
                </c:pt>
                <c:pt idx="2">
                  <c:v>0.85599999999999998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584-9F4A-AF55-06B9AF816D82}"/>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AAA39D"/>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1000000000000001"/>
          <c:min val="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endParaRPr lang="en-US"/>
          </a:p>
        </c:txPr>
        <c:crossAx val="-2068027336"/>
        <c:crosses val="autoZero"/>
        <c:crossBetween val="between"/>
        <c:majorUnit val="0.2"/>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57575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Answers</c:v>
                </c:pt>
              </c:strCache>
            </c:strRef>
          </c:tx>
          <c:spPr>
            <a:solidFill>
              <a:srgbClr val="DF4807"/>
            </a:solidFill>
          </c:spPr>
          <c:invertIfNegative val="1"/>
          <c:dLbls>
            <c:numFmt formatCode="0" sourceLinked="0"/>
            <c:spPr>
              <a:noFill/>
              <a:ln>
                <a:noFill/>
              </a:ln>
              <a:effectLst/>
            </c:spPr>
            <c:txPr>
              <a:bodyPr/>
              <a:lstStyle/>
              <a:p>
                <a:pPr>
                  <a:defRPr sz="1000">
                    <a:solidFill>
                      <a:srgbClr val="57575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 Sector taken as the use case</c:v>
                </c:pt>
                <c:pt idx="1">
                  <c:v>B. 6(3) exception not applied</c:v>
                </c:pt>
                <c:pt idx="2">
                  <c:v>C. Profiling rule misused</c:v>
                </c:pt>
                <c:pt idx="3">
                  <c:v>D. Condition misread / fact invented</c:v>
                </c:pt>
                <c:pt idx="4">
                  <c:v>E. Too cautious on short input</c:v>
                </c:pt>
              </c:strCache>
            </c:strRef>
          </c:cat>
          <c:val>
            <c:numRef>
              <c:f>Sheet1!$B$2:$B$6</c:f>
              <c:numCache>
                <c:formatCode>General</c:formatCode>
                <c:ptCount val="5"/>
                <c:pt idx="0">
                  <c:v>6</c:v>
                </c:pt>
                <c:pt idx="1">
                  <c:v>4</c:v>
                </c:pt>
                <c:pt idx="2">
                  <c:v>3</c:v>
                </c:pt>
                <c:pt idx="3">
                  <c:v>2</c:v>
                </c:pt>
                <c:pt idx="4">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AC8-864E-849D-43EC5B9AD5ED}"/>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AAA39D"/>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7"/>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57575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A3E2A-35AE-479C-B172-30C9CAEEE094}" type="datetimeFigureOut">
              <a:rPr lang="de-DE" smtClean="0"/>
              <a:t>29.09.26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1045-FCBB-4EC9-AB5F-AA4CFDEA61CB}" type="slidenum">
              <a:rPr lang="de-DE" smtClean="0"/>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question behind </a:t>
            </a:r>
            <a:r>
              <a:rPr lang="de-DE" dirty="0" err="1"/>
              <a:t>this</a:t>
            </a:r>
            <a:r>
              <a:rPr lang="de-DE" dirty="0"/>
              <a:t> </a:t>
            </a:r>
            <a:r>
              <a:rPr lang="de-DE" dirty="0" err="1"/>
              <a:t>case</a:t>
            </a:r>
            <a:r>
              <a:rPr lang="de-DE" dirty="0"/>
              <a:t> </a:t>
            </a:r>
            <a:r>
              <a:rPr lang="de-DE" dirty="0" err="1"/>
              <a:t>study</a:t>
            </a:r>
            <a:r>
              <a:rPr dirty="0"/>
              <a:t> is simple. When an AI system gives a legal answer that looks well supported by its sources, can we trust that the answer is actually right?</a:t>
            </a:r>
          </a:p>
          <a:p>
            <a:endParaRPr dirty="0"/>
          </a:p>
          <a:p>
            <a:r>
              <a:rPr dirty="0"/>
              <a:t>I looked at this for one concrete task: deciding whether an AI system counts as high-risk under the EU AI Act.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 me start with the motivation and the task.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standard way to evaluate these tools is faithfulness, for example with RAGAS.</a:t>
            </a:r>
            <a:endParaRPr lang="de-DE" dirty="0"/>
          </a:p>
          <a:p>
            <a:endParaRPr lang="en-US" dirty="0"/>
          </a:p>
          <a:p>
            <a:r>
              <a:rPr dirty="0"/>
              <a:t>Faithfulness checks whether the claims in an answer can be traced back to the retrieved passages. It does not need an answer key, and that is exactly why it is so popular.</a:t>
            </a:r>
          </a:p>
          <a:p>
            <a:endParaRPr dirty="0"/>
          </a:p>
          <a:p>
            <a:r>
              <a:rPr dirty="0"/>
              <a:t>Correctness is a different question. Does the answer match the official one? </a:t>
            </a:r>
          </a:p>
          <a:p>
            <a:endParaRPr dirty="0"/>
          </a:p>
          <a:p>
            <a:r>
              <a:rPr dirty="0"/>
              <a:t>If we treat these as two separate axes, we get four combinations. The interesting ones are the two off the diagonal, and especially : faithful but wrong. An answer that looks well grounded, but reaches the wrong legal result.</a:t>
            </a:r>
          </a:p>
          <a:p>
            <a:endParaRPr dirty="0"/>
          </a:p>
          <a:p>
            <a:r>
              <a:rPr dirty="0"/>
              <a:t>My study measures whether these cases actually happen, and how often.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There are four steps.</a:t>
            </a:r>
          </a:p>
          <a:p>
            <a:endParaRPr dirty="0"/>
          </a:p>
          <a:p>
            <a:r>
              <a:rPr dirty="0"/>
              <a:t>First, what is the system used for. Second, does that use fall into one of the eight areas listed in Annex III, like employment or education. Third, the Article 6(3) filter: a system can still escape the high-risk label if it only does a narrow procedural or preparatory task. The exception is profiling, which always stays high-risk. And fourth, the final label.</a:t>
            </a:r>
          </a:p>
          <a:p>
            <a:endParaRPr dirty="0"/>
          </a:p>
          <a:p>
            <a:r>
              <a:rPr dirty="0"/>
              <a:t>What makes this study possible is the ground truth. In May 2026 the European Commission published draft guidelines with many worked examples, and each one ends with an official verdict. That gives me an answer key. I </a:t>
            </a:r>
            <a:r>
              <a:rPr lang="de-DE" dirty="0" err="1"/>
              <a:t>used</a:t>
            </a:r>
            <a:r>
              <a:rPr dirty="0"/>
              <a:t> that version for the whole project.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Next, the data and how I set up the evaluation.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From those worked examples I built a test set of 215 inputs, each with one official label. 66 are high-risk and 149 are not.</a:t>
            </a:r>
          </a:p>
          <a:p>
            <a:endParaRPr dirty="0"/>
          </a:p>
          <a:p>
            <a:r>
              <a:rPr dirty="0"/>
              <a:t>41 of them are Article 6(3) filter cases. These are the tricky ones, because the system is in a listed area but is still not high-risk.</a:t>
            </a:r>
          </a:p>
          <a:p>
            <a:endParaRPr dirty="0"/>
          </a:p>
          <a:p>
            <a:r>
              <a:rPr dirty="0"/>
              <a:t>You can also see that some areas, like law enforcement and migration, have no high-risk examples at all in the guidelines. So there, we can only test whether a system correctly says no.</a:t>
            </a:r>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the full framework. I want to highlight four design choices.</a:t>
            </a:r>
          </a:p>
          <a:p>
            <a:endParaRPr dirty="0"/>
          </a:p>
          <a:p>
            <a:r>
              <a:rPr dirty="0"/>
              <a:t>First, the source split. The worked examples became the test set, and only the rule text went into the retrieval corpus. So the model can never simply retrieve the answer.</a:t>
            </a:r>
          </a:p>
          <a:p>
            <a:endParaRPr dirty="0"/>
          </a:p>
          <a:p>
            <a:r>
              <a:rPr dirty="0"/>
              <a:t>Second, I compared three systems that share everything except the prompt. They all use the same model, </a:t>
            </a:r>
            <a:r>
              <a:rPr lang="de-DE" dirty="0"/>
              <a:t>Microsofts </a:t>
            </a:r>
            <a:r>
              <a:rPr dirty="0"/>
              <a:t>phi-4. The first</a:t>
            </a:r>
            <a:r>
              <a:rPr lang="de-DE" dirty="0"/>
              <a:t> </a:t>
            </a:r>
            <a:r>
              <a:rPr lang="de-DE" dirty="0" err="1"/>
              <a:t>configuration</a:t>
            </a:r>
            <a:r>
              <a:rPr dirty="0"/>
              <a:t> one gets no retrieval at all. The second is standard RAG, with the top five passages and a general instruction. The third is the agent. It gets the same passages, but its prompt walks through the legal test step by step.</a:t>
            </a:r>
          </a:p>
          <a:p>
            <a:endParaRPr dirty="0"/>
          </a:p>
          <a:p>
            <a:r>
              <a:rPr dirty="0"/>
              <a:t>Third, the two axes are measured separately. Faithfulness is scored by a different, larger model, Qwen 72B, so</a:t>
            </a:r>
            <a:r>
              <a:rPr lang="de-DE" dirty="0"/>
              <a:t> </a:t>
            </a:r>
            <a:r>
              <a:rPr lang="de-DE" dirty="0" err="1"/>
              <a:t>that</a:t>
            </a:r>
            <a:r>
              <a:rPr dirty="0"/>
              <a:t> no model grades its own work. Correctness is simply a lookup against the official label.</a:t>
            </a:r>
          </a:p>
          <a:p>
            <a:endParaRPr dirty="0"/>
          </a:p>
          <a:p>
            <a:r>
              <a:rPr dirty="0"/>
              <a:t>And fourth, everything runs locally with fixed model versions, so the results can be reproduced. </a:t>
            </a:r>
            <a:r>
              <a:rPr lang="de-DE" dirty="0"/>
              <a:t>And </a:t>
            </a:r>
            <a:r>
              <a:rPr lang="de-DE" dirty="0" err="1"/>
              <a:t>this</a:t>
            </a:r>
            <a:r>
              <a:rPr lang="de-DE" dirty="0"/>
              <a:t> time </a:t>
            </a:r>
            <a:r>
              <a:rPr lang="de-DE" dirty="0" err="1"/>
              <a:t>with</a:t>
            </a:r>
            <a:r>
              <a:rPr lang="de-DE" dirty="0"/>
              <a:t> </a:t>
            </a:r>
            <a:r>
              <a:rPr lang="de-DE" dirty="0" err="1"/>
              <a:t>local</a:t>
            </a:r>
            <a:r>
              <a:rPr lang="de-DE" dirty="0"/>
              <a:t> </a:t>
            </a:r>
            <a:r>
              <a:rPr lang="de-DE" dirty="0" err="1"/>
              <a:t>model</a:t>
            </a:r>
            <a:r>
              <a:rPr lang="de-DE" dirty="0"/>
              <a:t> a</a:t>
            </a:r>
            <a:r>
              <a:rPr dirty="0" err="1"/>
              <a:t>ll</a:t>
            </a:r>
            <a:r>
              <a:rPr dirty="0"/>
              <a:t> 645 answers came back without a single failure.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want to be open about one problem I found along the way.</a:t>
            </a:r>
          </a:p>
          <a:p>
            <a:endParaRPr dirty="0"/>
          </a:p>
          <a:p>
            <a:r>
              <a:rPr dirty="0"/>
              <a:t>The first run gave accuracy that looked too good. When I checked, I saw that the extraction had kept the Commission's own </a:t>
            </a:r>
            <a:r>
              <a:rPr lang="de-DE" dirty="0" err="1"/>
              <a:t>labels</a:t>
            </a:r>
            <a:r>
              <a:rPr dirty="0"/>
              <a:t> inside many of the inputs. Sentences like "it therefore falls outside point 4(a)</a:t>
            </a:r>
            <a:r>
              <a:rPr lang="de-DE" dirty="0"/>
              <a:t> high </a:t>
            </a:r>
            <a:r>
              <a:rPr lang="de-DE" dirty="0" err="1"/>
              <a:t>risk</a:t>
            </a:r>
            <a:r>
              <a:rPr dirty="0"/>
              <a:t>". That affected 60 percent of the inputs.</a:t>
            </a:r>
          </a:p>
          <a:p>
            <a:endParaRPr dirty="0"/>
          </a:p>
          <a:p>
            <a:r>
              <a:rPr lang="en-US" dirty="0"/>
              <a:t>The plain model scored 94 percent on the inputs that contained the label, but only 67 percent on the 86 inputs that did not. It was basically reading the answer.</a:t>
            </a:r>
          </a:p>
          <a:p>
            <a:endParaRPr dirty="0"/>
          </a:p>
          <a:p>
            <a:r>
              <a:rPr dirty="0"/>
              <a:t>So I removed every legal conclusion from the inputs, kept only the facts, checked the edited rows by hand, and ran everything again. All results from now on are on these cleaned inputs.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to the results. There are two main ones.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first result is about accuracy</a:t>
            </a:r>
            <a:r>
              <a:rPr lang="de-DE" dirty="0"/>
              <a:t> </a:t>
            </a:r>
            <a:r>
              <a:rPr lang="de-DE" dirty="0" err="1"/>
              <a:t>where</a:t>
            </a:r>
            <a:r>
              <a:rPr lang="de-DE" dirty="0"/>
              <a:t> </a:t>
            </a:r>
            <a:r>
              <a:rPr dirty="0"/>
              <a:t>Retrieval clearly helps.</a:t>
            </a:r>
          </a:p>
          <a:p>
            <a:endParaRPr dirty="0"/>
          </a:p>
          <a:p>
            <a:r>
              <a:rPr dirty="0"/>
              <a:t>Without retrieval, the model gets 69 percent right. With standard RAG, it gets 88 percent. That is 19 points, and the difference is </a:t>
            </a:r>
            <a:r>
              <a:rPr lang="de-DE" dirty="0" err="1"/>
              <a:t>noticable</a:t>
            </a:r>
            <a:r>
              <a:rPr dirty="0"/>
              <a:t>.</a:t>
            </a:r>
          </a:p>
          <a:p>
            <a:endParaRPr dirty="0"/>
          </a:p>
          <a:p>
            <a:r>
              <a:rPr dirty="0"/>
              <a:t>Without retrieval, the model wrongly called 60 systems high-risk. With retrieval, only 17.</a:t>
            </a:r>
          </a:p>
          <a:p>
            <a:endParaRPr dirty="0"/>
          </a:p>
          <a:p>
            <a:r>
              <a:rPr dirty="0"/>
              <a:t>But the structured agent did not beat standard RAG. It scored 86 percent against 88, and that difference is not significant. So the step-by-step legal prompt did not help.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(Optional slide. Skip if you are short on time.)</a:t>
            </a:r>
          </a:p>
          <a:p>
            <a:endParaRPr dirty="0"/>
          </a:p>
          <a:p>
            <a:r>
              <a:rPr dirty="0"/>
              <a:t>Briefly, where the systems struggle.</a:t>
            </a:r>
          </a:p>
          <a:p>
            <a:endParaRPr dirty="0"/>
          </a:p>
          <a:p>
            <a:r>
              <a:rPr dirty="0"/>
              <a:t>Critical infrastructure was the hardest area for both RAG systems. The legal test there is whether the AI is a safety component, not just whether it is used in that sector, and the models often missed that.</a:t>
            </a:r>
          </a:p>
          <a:p>
            <a:endParaRPr dirty="0"/>
          </a:p>
          <a:p>
            <a:r>
              <a:rPr dirty="0"/>
              <a:t>And the plain model almost completely failed in law enforcement. It called most police use cases high-risk. Retrieval fixed that.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main finding.</a:t>
            </a:r>
          </a:p>
          <a:p>
            <a:endParaRPr dirty="0"/>
          </a:p>
          <a:p>
            <a:r>
              <a:rPr dirty="0"/>
              <a:t>Each dot is one answer, and </a:t>
            </a:r>
            <a:r>
              <a:rPr lang="de-DE" dirty="0"/>
              <a:t>X </a:t>
            </a:r>
            <a:r>
              <a:rPr lang="de-DE" dirty="0" err="1"/>
              <a:t>axis</a:t>
            </a:r>
            <a:r>
              <a:rPr lang="de-DE" dirty="0"/>
              <a:t> </a:t>
            </a:r>
            <a:r>
              <a:rPr dirty="0"/>
              <a:t>is the faithfulness score. The answers are split into correct ones and wrong ones. If faithfulness told us anything about correctness, the correct answers would sit higher.</a:t>
            </a:r>
          </a:p>
          <a:p>
            <a:endParaRPr dirty="0"/>
          </a:p>
          <a:p>
            <a:r>
              <a:rPr dirty="0"/>
              <a:t>For the agent, on the right, they don't. The wrong answers actually score slightly higher on average.</a:t>
            </a:r>
          </a:p>
          <a:p>
            <a:endParaRPr dirty="0"/>
          </a:p>
          <a:p>
            <a:r>
              <a:rPr dirty="0"/>
              <a:t>To put a number on it, I used the AUC. It is the chance that a random correct answer scores higher than a random wrong one. The </a:t>
            </a:r>
            <a:r>
              <a:rPr lang="de-DE" dirty="0" err="1"/>
              <a:t>configuration</a:t>
            </a:r>
            <a:r>
              <a:rPr lang="de-DE" dirty="0"/>
              <a:t> 3</a:t>
            </a:r>
            <a:r>
              <a:rPr dirty="0"/>
              <a:t> gets 0.465</a:t>
            </a:r>
            <a:r>
              <a:rPr lang="de-DE" dirty="0"/>
              <a:t>.</a:t>
            </a:r>
          </a:p>
          <a:p>
            <a:endParaRPr dirty="0"/>
          </a:p>
          <a:p>
            <a:r>
              <a:rPr dirty="0"/>
              <a:t>In other words, for the agent, the faithfulness</a:t>
            </a:r>
            <a:r>
              <a:rPr lang="de-DE" dirty="0"/>
              <a:t> </a:t>
            </a:r>
            <a:r>
              <a:rPr dirty="0"/>
              <a:t>score</a:t>
            </a:r>
            <a:r>
              <a:rPr lang="de-DE" dirty="0"/>
              <a:t> </a:t>
            </a:r>
            <a:r>
              <a:rPr lang="de-DE" dirty="0" err="1"/>
              <a:t>alone</a:t>
            </a:r>
            <a:r>
              <a:rPr dirty="0"/>
              <a:t> cannot tell a right answer from a wrong one.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are the same answers sorted into the four buckets.</a:t>
            </a:r>
          </a:p>
          <a:p>
            <a:endParaRPr dirty="0"/>
          </a:p>
          <a:p>
            <a:r>
              <a:rPr dirty="0"/>
              <a:t>For the </a:t>
            </a:r>
            <a:r>
              <a:rPr lang="de-DE" dirty="0" err="1"/>
              <a:t>structured</a:t>
            </a:r>
            <a:r>
              <a:rPr lang="de-DE" dirty="0"/>
              <a:t> RAG</a:t>
            </a:r>
            <a:r>
              <a:rPr dirty="0"/>
              <a:t>, 17 of its 31 wrong answers still pass as faithful. It is more than half of the errors.</a:t>
            </a:r>
          </a:p>
          <a:p>
            <a:endParaRPr dirty="0"/>
          </a:p>
          <a:p>
            <a:r>
              <a:rPr dirty="0"/>
              <a:t>The other side is large too. About half of the correct answers are marked as unfaithful. </a:t>
            </a:r>
            <a:r>
              <a:rPr lang="de-DE" dirty="0"/>
              <a:t>So </a:t>
            </a:r>
            <a:r>
              <a:rPr lang="de-DE" dirty="0" err="1"/>
              <a:t>here</a:t>
            </a:r>
            <a:r>
              <a:rPr lang="de-DE" dirty="0"/>
              <a:t> </a:t>
            </a:r>
            <a:r>
              <a:rPr dirty="0"/>
              <a:t>when an answer repeats facts from the input, those facts are not in the passages, so they count as unsupported.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en-US" dirty="0"/>
              <a:t>So why do wrong answers look well grounded? </a:t>
            </a:r>
          </a:p>
          <a:p>
            <a:pPr rtl="0"/>
            <a:endParaRPr lang="en-US" dirty="0"/>
          </a:p>
          <a:p>
            <a:pPr rtl="0"/>
            <a:r>
              <a:rPr lang="en-US" dirty="0"/>
              <a:t>The biggest group: the model sees the sector and stops there. for example it reads from the example "It's used in electricity, so it's high-risk." But the real test is whether it's a safety component. The model skipped that.</a:t>
            </a:r>
          </a:p>
          <a:p>
            <a:pPr rtl="0"/>
            <a:endParaRPr lang="en-US" dirty="0"/>
          </a:p>
          <a:p>
            <a:pPr rtl="0"/>
            <a:r>
              <a:rPr lang="en-US" dirty="0"/>
              <a:t>The key point: in 14 of the 17 cases, the model had the right rule in front of it. It just applied it wrongly. And faithfulness only checks whether the rule is in the passages, not whether it was applied correctly.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 me conclude.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takeaways.</a:t>
            </a:r>
          </a:p>
          <a:p>
            <a:endParaRPr dirty="0"/>
          </a:p>
          <a:p>
            <a:r>
              <a:rPr dirty="0"/>
              <a:t>First, faithfulness is not correctness. For the agent, it was no better than chance at spotting wrong answers.</a:t>
            </a:r>
          </a:p>
          <a:p>
            <a:endParaRPr dirty="0"/>
          </a:p>
          <a:p>
            <a:r>
              <a:rPr dirty="0"/>
              <a:t>Second, most errors are errors in applying the rule, not in finding it. And that is exactly what the metric cannot see.</a:t>
            </a:r>
          </a:p>
          <a:p>
            <a:endParaRPr dirty="0"/>
          </a:p>
          <a:p>
            <a:r>
              <a:rPr dirty="0"/>
              <a:t>Third, retrieval made a big difference, but the more elaborate prompt did not.</a:t>
            </a:r>
          </a:p>
          <a:p>
            <a:endParaRPr dirty="0"/>
          </a:p>
          <a:p>
            <a:r>
              <a:rPr dirty="0"/>
              <a:t>And fourth, test sets built from worked examples can leak the answer. Here, that inflated accuracy by up to 15 points and changed which system looked best.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Of course, this study </a:t>
            </a:r>
            <a:r>
              <a:rPr lang="de-DE" dirty="0"/>
              <a:t>also </a:t>
            </a:r>
            <a:r>
              <a:rPr lang="de-DE" dirty="0" err="1"/>
              <a:t>comes</a:t>
            </a:r>
            <a:r>
              <a:rPr lang="de-DE" dirty="0"/>
              <a:t> </a:t>
            </a:r>
            <a:r>
              <a:rPr lang="de-DE" dirty="0" err="1"/>
              <a:t>with</a:t>
            </a:r>
            <a:r>
              <a:rPr lang="de-DE" dirty="0"/>
              <a:t> the</a:t>
            </a:r>
            <a:r>
              <a:rPr dirty="0"/>
              <a:t> limits.</a:t>
            </a:r>
          </a:p>
          <a:p>
            <a:endParaRPr dirty="0"/>
          </a:p>
          <a:p>
            <a:r>
              <a:rPr dirty="0"/>
              <a:t>I used one generator and one judge, so the results may depend on those models. I was the only annotator. And the Commission's examples are cleaner than </a:t>
            </a:r>
            <a:r>
              <a:rPr lang="de-DE" dirty="0" err="1"/>
              <a:t>when</a:t>
            </a:r>
            <a:r>
              <a:rPr lang="de-DE" dirty="0"/>
              <a:t> </a:t>
            </a:r>
            <a:r>
              <a:rPr lang="de-DE" dirty="0" err="1"/>
              <a:t>used</a:t>
            </a:r>
            <a:r>
              <a:rPr lang="de-DE" dirty="0"/>
              <a:t> in </a:t>
            </a:r>
            <a:r>
              <a:rPr dirty="0"/>
              <a:t>real product descriptions.</a:t>
            </a:r>
          </a:p>
          <a:p>
            <a:endParaRPr dirty="0"/>
          </a:p>
          <a:p>
            <a:r>
              <a:rPr lang="de-DE" dirty="0" err="1"/>
              <a:t>Now</a:t>
            </a:r>
            <a:r>
              <a:rPr lang="de-DE" dirty="0"/>
              <a:t> the </a:t>
            </a:r>
            <a:r>
              <a:rPr lang="de-DE" dirty="0" err="1"/>
              <a:t>future</a:t>
            </a:r>
            <a:r>
              <a:rPr lang="de-DE" dirty="0"/>
              <a:t> </a:t>
            </a:r>
            <a:r>
              <a:rPr lang="de-DE" dirty="0" err="1"/>
              <a:t>work</a:t>
            </a:r>
            <a:r>
              <a:rPr dirty="0"/>
              <a:t>: a stronger second model, a second annotator, more realistic inputs, and a check that tests whether the conclusion really follows from the rule and the facts.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if there is one thing to take away, it is this.</a:t>
            </a:r>
          </a:p>
          <a:p>
            <a:endParaRPr dirty="0"/>
          </a:p>
          <a:p>
            <a:pPr rtl="0"/>
            <a:r>
              <a:rPr lang="en-US" dirty="0"/>
              <a:t>An answer can look well supported and still be legally wrong. So faithfulness alone is not enough. If we know the right answer, we should check it too.</a:t>
            </a:r>
          </a:p>
          <a:p>
            <a:endParaRPr dirty="0"/>
          </a:p>
          <a:p>
            <a:r>
              <a:rPr dirty="0"/>
              <a:t>Thank you very much. </a:t>
            </a:r>
            <a:r>
              <a:rPr lang="de-DE" dirty="0" err="1"/>
              <a:t>That</a:t>
            </a:r>
            <a:r>
              <a:rPr lang="de-DE" dirty="0"/>
              <a:t> </a:t>
            </a:r>
            <a:r>
              <a:rPr lang="de-DE" dirty="0" err="1"/>
              <a:t>is</a:t>
            </a:r>
            <a:r>
              <a:rPr lang="de-DE" dirty="0"/>
              <a:t> all </a:t>
            </a:r>
            <a:r>
              <a:rPr lang="de-DE" dirty="0" err="1"/>
              <a:t>from</a:t>
            </a:r>
            <a:r>
              <a:rPr lang="de-DE" dirty="0"/>
              <a:t> </a:t>
            </a:r>
            <a:r>
              <a:rPr lang="de-DE" dirty="0" err="1"/>
              <a:t>my</a:t>
            </a:r>
            <a:r>
              <a:rPr lang="de-DE" dirty="0"/>
              <a:t> </a:t>
            </a:r>
            <a:r>
              <a:rPr lang="de-DE" dirty="0" err="1"/>
              <a:t>side</a:t>
            </a:r>
            <a:r>
              <a:rPr lang="de-DE" dirty="0"/>
              <a:t>.</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3.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21" Type="http://schemas.openxmlformats.org/officeDocument/2006/relationships/slideLayout" Target="../slideLayouts/slideLayout90.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slideLayout" Target="../slideLayouts/slideLayout89.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24" Type="http://schemas.openxmlformats.org/officeDocument/2006/relationships/theme" Target="../theme/theme4.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3" Type="http://schemas.openxmlformats.org/officeDocument/2006/relationships/slideLayout" Target="../slideLayouts/slideLayout95.xml"/><Relationship Id="rId21" Type="http://schemas.openxmlformats.org/officeDocument/2006/relationships/slideLayout" Target="../slideLayouts/slideLayout113.xml"/><Relationship Id="rId7" Type="http://schemas.openxmlformats.org/officeDocument/2006/relationships/slideLayout" Target="../slideLayouts/slideLayout99.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 Type="http://schemas.openxmlformats.org/officeDocument/2006/relationships/slideLayout" Target="../slideLayouts/slideLayout94.xml"/><Relationship Id="rId16" Type="http://schemas.openxmlformats.org/officeDocument/2006/relationships/slideLayout" Target="../slideLayouts/slideLayout108.xml"/><Relationship Id="rId20" Type="http://schemas.openxmlformats.org/officeDocument/2006/relationships/slideLayout" Target="../slideLayouts/slideLayout112.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24" Type="http://schemas.openxmlformats.org/officeDocument/2006/relationships/theme" Target="../theme/theme5.xml"/><Relationship Id="rId5" Type="http://schemas.openxmlformats.org/officeDocument/2006/relationships/slideLayout" Target="../slideLayouts/slideLayout97.xml"/><Relationship Id="rId15" Type="http://schemas.openxmlformats.org/officeDocument/2006/relationships/slideLayout" Target="../slideLayouts/slideLayout107.xml"/><Relationship Id="rId23" Type="http://schemas.openxmlformats.org/officeDocument/2006/relationships/slideLayout" Target="../slideLayouts/slideLayout115.x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 Id="rId22" Type="http://schemas.openxmlformats.org/officeDocument/2006/relationships/slideLayout" Target="../slideLayouts/slideLayout11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3.xml"/><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theme" Target="../theme/theme6.xml"/><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18" Type="http://schemas.openxmlformats.org/officeDocument/2006/relationships/slideLayout" Target="../slideLayouts/slideLayout156.xml"/><Relationship Id="rId3" Type="http://schemas.openxmlformats.org/officeDocument/2006/relationships/slideLayout" Target="../slideLayouts/slideLayout141.xml"/><Relationship Id="rId21" Type="http://schemas.openxmlformats.org/officeDocument/2006/relationships/slideLayout" Target="../slideLayouts/slideLayout159.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slideLayout" Target="../slideLayouts/slideLayout155.xml"/><Relationship Id="rId2" Type="http://schemas.openxmlformats.org/officeDocument/2006/relationships/slideLayout" Target="../slideLayouts/slideLayout140.xml"/><Relationship Id="rId16" Type="http://schemas.openxmlformats.org/officeDocument/2006/relationships/slideLayout" Target="../slideLayouts/slideLayout154.xml"/><Relationship Id="rId20" Type="http://schemas.openxmlformats.org/officeDocument/2006/relationships/slideLayout" Target="../slideLayouts/slideLayout158.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24" Type="http://schemas.openxmlformats.org/officeDocument/2006/relationships/theme" Target="../theme/theme7.xml"/><Relationship Id="rId5" Type="http://schemas.openxmlformats.org/officeDocument/2006/relationships/slideLayout" Target="../slideLayouts/slideLayout143.xml"/><Relationship Id="rId15" Type="http://schemas.openxmlformats.org/officeDocument/2006/relationships/slideLayout" Target="../slideLayouts/slideLayout153.xml"/><Relationship Id="rId23" Type="http://schemas.openxmlformats.org/officeDocument/2006/relationships/slideLayout" Target="../slideLayouts/slideLayout161.xml"/><Relationship Id="rId10" Type="http://schemas.openxmlformats.org/officeDocument/2006/relationships/slideLayout" Target="../slideLayouts/slideLayout148.xml"/><Relationship Id="rId19" Type="http://schemas.openxmlformats.org/officeDocument/2006/relationships/slideLayout" Target="../slideLayouts/slideLayout157.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 Id="rId22" Type="http://schemas.openxmlformats.org/officeDocument/2006/relationships/slideLayout" Target="../slideLayouts/slideLayout1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79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4807"/>
        </a:solidFill>
        <a:effectLst/>
      </p:bgPr>
    </p:bg>
    <p:spTree>
      <p:nvGrpSpPr>
        <p:cNvPr id="1" name=""/>
        <p:cNvGrpSpPr/>
        <p:nvPr/>
      </p:nvGrpSpPr>
      <p:grpSpPr>
        <a:xfrm>
          <a:off x="0" y="0"/>
          <a:ext cx="0" cy="0"/>
          <a:chOff x="0" y="0"/>
          <a:chExt cx="0" cy="0"/>
        </a:xfrm>
      </p:grpSpPr>
      <p:sp>
        <p:nvSpPr>
          <p:cNvPr id="15" name="Teil des Logos"/>
          <p:cNvSpPr/>
          <p:nvPr/>
        </p:nvSpPr>
        <p:spPr>
          <a:xfrm>
            <a:off x="0" y="1929487"/>
            <a:ext cx="6239665" cy="4928513"/>
          </a:xfrm>
          <a:custGeom>
            <a:avLst/>
            <a:gdLst>
              <a:gd name="connsiteX0" fmla="*/ 343733 w 6239665"/>
              <a:gd name="connsiteY0" fmla="*/ 1 h 4928513"/>
              <a:gd name="connsiteX1" fmla="*/ 363365 w 6239665"/>
              <a:gd name="connsiteY1" fmla="*/ 454 h 4928513"/>
              <a:gd name="connsiteX2" fmla="*/ 391501 w 6239665"/>
              <a:gd name="connsiteY2" fmla="*/ 1 h 4928513"/>
              <a:gd name="connsiteX3" fmla="*/ 913851 w 6239665"/>
              <a:gd name="connsiteY3" fmla="*/ 12035 h 4928513"/>
              <a:gd name="connsiteX4" fmla="*/ 6190318 w 6239665"/>
              <a:gd name="connsiteY4" fmla="*/ 4641670 h 4928513"/>
              <a:gd name="connsiteX5" fmla="*/ 6239665 w 6239665"/>
              <a:gd name="connsiteY5" fmla="*/ 4928513 h 4928513"/>
              <a:gd name="connsiteX6" fmla="*/ 2549806 w 6239665"/>
              <a:gd name="connsiteY6" fmla="*/ 4928513 h 4928513"/>
              <a:gd name="connsiteX7" fmla="*/ 2495430 w 6239665"/>
              <a:gd name="connsiteY7" fmla="*/ 4786236 h 4928513"/>
              <a:gd name="connsiteX8" fmla="*/ 45385 w 6239665"/>
              <a:gd name="connsiteY8" fmla="*/ 3413227 h 4928513"/>
              <a:gd name="connsiteX9" fmla="*/ 0 w 6239665"/>
              <a:gd name="connsiteY9" fmla="*/ 3409750 h 4928513"/>
              <a:gd name="connsiteX10" fmla="*/ 0 w 6239665"/>
              <a:gd name="connsiteY10" fmla="*/ 5528 h 492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39665" h="4928513">
                <a:moveTo>
                  <a:pt x="343733" y="1"/>
                </a:moveTo>
                <a:lnTo>
                  <a:pt x="363365" y="454"/>
                </a:lnTo>
                <a:lnTo>
                  <a:pt x="391501" y="1"/>
                </a:lnTo>
                <a:cubicBezTo>
                  <a:pt x="574027" y="-6"/>
                  <a:pt x="748982" y="4008"/>
                  <a:pt x="913851" y="12035"/>
                </a:cubicBezTo>
                <a:cubicBezTo>
                  <a:pt x="3765486" y="120637"/>
                  <a:pt x="5666021" y="1924912"/>
                  <a:pt x="6190318" y="4641670"/>
                </a:cubicBezTo>
                <a:lnTo>
                  <a:pt x="6239665" y="4928513"/>
                </a:lnTo>
                <a:lnTo>
                  <a:pt x="2549806" y="4928513"/>
                </a:lnTo>
                <a:lnTo>
                  <a:pt x="2495430" y="4786236"/>
                </a:lnTo>
                <a:cubicBezTo>
                  <a:pt x="2118161" y="3890405"/>
                  <a:pt x="1345158" y="3534960"/>
                  <a:pt x="45385" y="3413227"/>
                </a:cubicBezTo>
                <a:lnTo>
                  <a:pt x="0" y="3409750"/>
                </a:lnTo>
                <a:lnTo>
                  <a:pt x="0" y="5528"/>
                </a:lnTo>
                <a:close/>
              </a:path>
            </a:pathLst>
          </a:custGeom>
          <a:solidFill>
            <a:srgbClr val="FFFFFF">
              <a:alpha val="18000"/>
            </a:srgbClr>
          </a:solidFill>
          <a:ln w="80179" cap="flat">
            <a:noFill/>
            <a:prstDash val="solid"/>
            <a:round/>
          </a:ln>
        </p:spPr>
        <p:txBody>
          <a:bodyPr lIns="90979" tIns="45489" rIns="90979" bIns="45489" rtlCol="0" anchor="ctr"/>
          <a:lstStyle/>
          <a:p>
            <a:endParaRPr lang="de-DE"/>
          </a:p>
        </p:txBody>
      </p:sp>
      <p:sp>
        <p:nvSpPr>
          <p:cNvPr id="6" name="Untertitel 5"/>
          <p:cNvSpPr>
            <a:spLocks noGrp="1"/>
          </p:cNvSpPr>
          <p:nvPr>
            <p:ph type="subTitle" idx="1"/>
          </p:nvPr>
        </p:nvSpPr>
        <p:spPr>
          <a:xfrm>
            <a:off x="630168" y="3513332"/>
            <a:ext cx="10058400" cy="1048109"/>
          </a:xfrm>
        </p:spPr>
        <p:txBody>
          <a:bodyPr/>
          <a:lstStyle/>
          <a:p>
            <a:r>
              <a:rPr b="1"/>
              <a:t>Evaluating RAG-based high-risk classification under the EU AI Act against an authoritative answer key</a:t>
            </a:r>
            <a:endParaRPr lang="en-US" altLang="en-GB" b="0" dirty="0"/>
          </a:p>
          <a:p>
            <a:r>
              <a:rPr b="0"/>
              <a:t>Master of Science Data Science and Analytics – Case Study 2 – September 2026</a:t>
            </a:r>
          </a:p>
          <a:p>
            <a:r>
              <a:rPr b="0"/>
              <a:t>Rahul Rawat  |  Supervisor: Prof. Dr. Swati Chandna</a:t>
            </a:r>
          </a:p>
        </p:txBody>
      </p:sp>
      <p:sp>
        <p:nvSpPr>
          <p:cNvPr id="5" name="Titel 4"/>
          <p:cNvSpPr>
            <a:spLocks noGrp="1"/>
          </p:cNvSpPr>
          <p:nvPr>
            <p:ph type="ctrTitle"/>
          </p:nvPr>
        </p:nvSpPr>
        <p:spPr>
          <a:xfrm>
            <a:off x="630168" y="536308"/>
            <a:ext cx="9071274" cy="3018316"/>
          </a:xfrm>
        </p:spPr>
        <p:txBody>
          <a:bodyPr/>
          <a:lstStyle/>
          <a:p>
            <a:r>
              <a:t>Faithful but wrong?</a:t>
            </a:r>
          </a:p>
        </p:txBody>
      </p:sp>
      <p:sp>
        <p:nvSpPr>
          <p:cNvPr id="7" name="Textplatzhalter 6"/>
          <p:cNvSpPr>
            <a:spLocks noGrp="1"/>
          </p:cNvSpPr>
          <p:nvPr>
            <p:ph type="body" sz="quarter" idx="10"/>
          </p:nvPr>
        </p:nvSpPr>
        <p:spPr/>
        <p:txBody>
          <a:bodyPr/>
          <a:lstStyle/>
          <a:p>
            <a:r>
              <a:rPr lang="de-DE" dirty="0" err="1"/>
              <a:t>Passionate</a:t>
            </a:r>
            <a:r>
              <a:rPr lang="de-DE" dirty="0"/>
              <a:t> </a:t>
            </a:r>
            <a:r>
              <a:rPr lang="de-DE" dirty="0" err="1"/>
              <a:t>about</a:t>
            </a:r>
            <a:r>
              <a:rPr lang="de-DE" dirty="0"/>
              <a:t> </a:t>
            </a:r>
            <a:br>
              <a:rPr lang="de-DE" dirty="0"/>
            </a:br>
            <a:r>
              <a:rPr lang="de-DE" dirty="0" err="1"/>
              <a:t>life</a:t>
            </a:r>
            <a:r>
              <a:rPr lang="de-DE" dirty="0"/>
              <a:t>.</a:t>
            </a:r>
          </a:p>
        </p:txBody>
      </p:sp>
      <p:sp>
        <p:nvSpPr>
          <p:cNvPr id="2" name="Holding/Dienstleist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AAA39D"/>
          </a:solidFill>
          <a:ln w="6638" cap="flat">
            <a:noFill/>
            <a:prstDash val="solid"/>
            <a:round/>
          </a:ln>
        </p:spPr>
        <p:txBody>
          <a:bodyPr rtlCol="0" anchor="ctr"/>
          <a:lstStyle/>
          <a:p>
            <a:endParaRPr lang="de-DE"/>
          </a:p>
        </p:txBody>
      </p:sp>
      <p:sp>
        <p:nvSpPr>
          <p:cNvPr id="3" name="Gesundheit"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0067A0"/>
          </a:solidFill>
          <a:ln w="6638" cap="flat">
            <a:noFill/>
            <a:prstDash val="solid"/>
            <a:round/>
          </a:ln>
        </p:spPr>
        <p:txBody>
          <a:bodyPr rtlCol="0" anchor="ctr"/>
          <a:lstStyle/>
          <a:p>
            <a:endParaRPr lang="de-DE"/>
          </a:p>
        </p:txBody>
      </p:sp>
      <p:sp>
        <p:nvSpPr>
          <p:cNvPr id="9" name="Bild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
        <p:nvSpPr>
          <p:cNvPr id="4" name="Logo flex."/>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FFFFFF"/>
          </a:solidFill>
          <a:ln w="6638" cap="flat">
            <a:noFill/>
            <a:prstDash val="solid"/>
            <a:round/>
          </a:ln>
        </p:spPr>
        <p:txBody>
          <a:bodyPr rtlCol="0" anchor="ctr"/>
          <a:lstStyle/>
          <a:p>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Motivation and task</a:t>
            </a:r>
          </a:p>
        </p:txBody>
      </p:sp>
      <p:sp>
        <p:nvSpPr>
          <p:cNvPr id="3" name="Text Placeholder 2"/>
          <p:cNvSpPr>
            <a:spLocks noGrp="1"/>
          </p:cNvSpPr>
          <p:nvPr>
            <p:ph type="body" idx="1"/>
          </p:nvPr>
        </p:nvSpPr>
        <p:spPr/>
        <p:txBody>
          <a:bodyPr/>
          <a:lstStyle/>
          <a:p>
            <a:r>
              <a:t>01</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2</a:t>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Is grounded the same as right?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457200"/>
          </a:xfrm>
          <a:prstGeom prst="rect">
            <a:avLst/>
          </a:prstGeom>
          <a:noFill/>
        </p:spPr>
        <p:txBody>
          <a:bodyPr wrap="square" lIns="0" tIns="0" rIns="0" bIns="0" anchor="t">
            <a:spAutoFit/>
          </a:bodyPr>
          <a:lstStyle/>
          <a:p>
            <a:pPr algn="l">
              <a:spcAft>
                <a:spcPts val="400"/>
              </a:spcAft>
            </a:pPr>
            <a:r>
              <a:rPr sz="1600" b="0" i="0">
                <a:solidFill>
                  <a:srgbClr val="575756"/>
                </a:solidFill>
              </a:rPr>
              <a:t>RAG compliance tools are usually judged by how grounded their answers are.</a:t>
            </a:r>
          </a:p>
        </p:txBody>
      </p:sp>
      <p:sp>
        <p:nvSpPr>
          <p:cNvPr id="8" name="Rectangle 7"/>
          <p:cNvSpPr/>
          <p:nvPr/>
        </p:nvSpPr>
        <p:spPr>
          <a:xfrm>
            <a:off x="356616" y="1965960"/>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2148840"/>
            <a:ext cx="4754880" cy="365760"/>
          </a:xfrm>
          <a:prstGeom prst="rect">
            <a:avLst/>
          </a:prstGeom>
          <a:noFill/>
        </p:spPr>
        <p:txBody>
          <a:bodyPr wrap="square" lIns="0" tIns="0" rIns="0" bIns="0" anchor="t">
            <a:spAutoFit/>
          </a:bodyPr>
          <a:lstStyle/>
          <a:p>
            <a:pPr algn="l">
              <a:spcAft>
                <a:spcPts val="400"/>
              </a:spcAft>
            </a:pPr>
            <a:r>
              <a:rPr sz="1800" b="1" i="0">
                <a:solidFill>
                  <a:srgbClr val="DF4807"/>
                </a:solidFill>
              </a:rPr>
              <a:t>Faithfulness (RAGAS)</a:t>
            </a:r>
          </a:p>
        </p:txBody>
      </p:sp>
      <p:sp>
        <p:nvSpPr>
          <p:cNvPr id="10" name="TextBox 9"/>
          <p:cNvSpPr txBox="1"/>
          <p:nvPr/>
        </p:nvSpPr>
        <p:spPr>
          <a:xfrm>
            <a:off x="548640" y="2606039"/>
            <a:ext cx="4754880" cy="914400"/>
          </a:xfrm>
          <a:prstGeom prst="rect">
            <a:avLst/>
          </a:prstGeom>
          <a:noFill/>
        </p:spPr>
        <p:txBody>
          <a:bodyPr wrap="square" lIns="0" tIns="0" rIns="0" bIns="0" anchor="t">
            <a:spAutoFit/>
          </a:bodyPr>
          <a:lstStyle/>
          <a:p>
            <a:pPr algn="l">
              <a:spcAft>
                <a:spcPts val="400"/>
              </a:spcAft>
            </a:pPr>
            <a:r>
              <a:rPr sz="1400" b="0" i="0">
                <a:solidFill>
                  <a:srgbClr val="575756"/>
                </a:solidFill>
              </a:rPr>
              <a:t>Share of the answer's claims that can be traced to the retrieved passages. Needs no answer key, which is why it is so widely used.</a:t>
            </a:r>
          </a:p>
        </p:txBody>
      </p:sp>
      <p:sp>
        <p:nvSpPr>
          <p:cNvPr id="11" name="Rectangle 10"/>
          <p:cNvSpPr/>
          <p:nvPr/>
        </p:nvSpPr>
        <p:spPr>
          <a:xfrm>
            <a:off x="356616" y="3840479"/>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640" y="4023359"/>
            <a:ext cx="4754880" cy="365760"/>
          </a:xfrm>
          <a:prstGeom prst="rect">
            <a:avLst/>
          </a:prstGeom>
          <a:noFill/>
        </p:spPr>
        <p:txBody>
          <a:bodyPr wrap="square" lIns="0" tIns="0" rIns="0" bIns="0" anchor="t">
            <a:spAutoFit/>
          </a:bodyPr>
          <a:lstStyle/>
          <a:p>
            <a:pPr algn="l">
              <a:spcAft>
                <a:spcPts val="400"/>
              </a:spcAft>
            </a:pPr>
            <a:r>
              <a:rPr sz="1800" b="1" i="0">
                <a:solidFill>
                  <a:srgbClr val="DF4807"/>
                </a:solidFill>
              </a:rPr>
              <a:t>Correctness</a:t>
            </a:r>
          </a:p>
        </p:txBody>
      </p:sp>
      <p:sp>
        <p:nvSpPr>
          <p:cNvPr id="13" name="TextBox 12"/>
          <p:cNvSpPr txBox="1"/>
          <p:nvPr/>
        </p:nvSpPr>
        <p:spPr>
          <a:xfrm>
            <a:off x="548640" y="4480559"/>
            <a:ext cx="4754880" cy="914400"/>
          </a:xfrm>
          <a:prstGeom prst="rect">
            <a:avLst/>
          </a:prstGeom>
          <a:noFill/>
        </p:spPr>
        <p:txBody>
          <a:bodyPr wrap="square" lIns="0" tIns="0" rIns="0" bIns="0" anchor="t">
            <a:spAutoFit/>
          </a:bodyPr>
          <a:lstStyle/>
          <a:p>
            <a:pPr algn="l">
              <a:spcAft>
                <a:spcPts val="400"/>
              </a:spcAft>
            </a:pPr>
            <a:r>
              <a:rPr sz="1400" b="0" i="0">
                <a:solidFill>
                  <a:srgbClr val="575756"/>
                </a:solidFill>
              </a:rPr>
              <a:t>Does the predicted label match the official answer? Needs a ground truth, which legal tasks rarely have.</a:t>
            </a:r>
          </a:p>
        </p:txBody>
      </p:sp>
      <p:sp>
        <p:nvSpPr>
          <p:cNvPr id="14" name="TextBox 13"/>
          <p:cNvSpPr txBox="1"/>
          <p:nvPr/>
        </p:nvSpPr>
        <p:spPr>
          <a:xfrm>
            <a:off x="6035040" y="1965960"/>
            <a:ext cx="5486400" cy="365760"/>
          </a:xfrm>
          <a:prstGeom prst="rect">
            <a:avLst/>
          </a:prstGeom>
          <a:noFill/>
        </p:spPr>
        <p:txBody>
          <a:bodyPr wrap="square" lIns="0" tIns="0" rIns="0" bIns="0" anchor="t">
            <a:spAutoFit/>
          </a:bodyPr>
          <a:lstStyle/>
          <a:p>
            <a:pPr algn="l">
              <a:spcAft>
                <a:spcPts val="400"/>
              </a:spcAft>
            </a:pPr>
            <a:r>
              <a:rPr sz="1600" b="1" i="0">
                <a:solidFill>
                  <a:srgbClr val="575756"/>
                </a:solidFill>
              </a:rPr>
              <a:t>Two independent axes, four buckets</a:t>
            </a:r>
          </a:p>
        </p:txBody>
      </p:sp>
      <p:sp>
        <p:nvSpPr>
          <p:cNvPr id="15" name="Rectangle 14"/>
          <p:cNvSpPr/>
          <p:nvPr/>
        </p:nvSpPr>
        <p:spPr>
          <a:xfrm>
            <a:off x="6035040" y="2468880"/>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172200" y="2743200"/>
            <a:ext cx="2377440" cy="822960"/>
          </a:xfrm>
          <a:prstGeom prst="rect">
            <a:avLst/>
          </a:prstGeom>
          <a:noFill/>
        </p:spPr>
        <p:txBody>
          <a:bodyPr wrap="square" lIns="0" tIns="0" rIns="0" bIns="0" anchor="t">
            <a:spAutoFit/>
          </a:bodyPr>
          <a:lstStyle/>
          <a:p>
            <a:pPr algn="ctr">
              <a:spcAft>
                <a:spcPts val="400"/>
              </a:spcAft>
            </a:pPr>
            <a:r>
              <a:rPr sz="1500" b="1" i="0">
                <a:solidFill>
                  <a:srgbClr val="575756"/>
                </a:solidFill>
              </a:rPr>
              <a:t>Right and faithful</a:t>
            </a:r>
          </a:p>
          <a:p>
            <a:pPr algn="ctr">
              <a:spcAft>
                <a:spcPts val="400"/>
              </a:spcAft>
            </a:pPr>
            <a:r>
              <a:rPr sz="1200" b="0" i="1">
                <a:solidFill>
                  <a:srgbClr val="575756"/>
                </a:solidFill>
              </a:rPr>
              <a:t>expected</a:t>
            </a:r>
          </a:p>
        </p:txBody>
      </p:sp>
      <p:sp>
        <p:nvSpPr>
          <p:cNvPr id="17" name="Rectangle 16"/>
          <p:cNvSpPr/>
          <p:nvPr/>
        </p:nvSpPr>
        <p:spPr>
          <a:xfrm>
            <a:off x="8823959" y="2468880"/>
            <a:ext cx="2651760" cy="1344168"/>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961119" y="2743200"/>
            <a:ext cx="2377440" cy="822960"/>
          </a:xfrm>
          <a:prstGeom prst="rect">
            <a:avLst/>
          </a:prstGeom>
          <a:noFill/>
        </p:spPr>
        <p:txBody>
          <a:bodyPr wrap="square" lIns="0" tIns="0" rIns="0" bIns="0" anchor="t">
            <a:spAutoFit/>
          </a:bodyPr>
          <a:lstStyle/>
          <a:p>
            <a:pPr algn="ctr">
              <a:spcAft>
                <a:spcPts val="400"/>
              </a:spcAft>
            </a:pPr>
            <a:r>
              <a:rPr sz="1500" b="1" i="0">
                <a:solidFill>
                  <a:srgbClr val="DF4807"/>
                </a:solidFill>
              </a:rPr>
              <a:t>Right but unfaithful</a:t>
            </a:r>
          </a:p>
          <a:p>
            <a:pPr algn="ctr">
              <a:spcAft>
                <a:spcPts val="400"/>
              </a:spcAft>
            </a:pPr>
            <a:r>
              <a:rPr sz="1200" b="0" i="1">
                <a:solidFill>
                  <a:srgbClr val="DF4807"/>
                </a:solidFill>
              </a:rPr>
              <a:t>finding</a:t>
            </a:r>
          </a:p>
        </p:txBody>
      </p:sp>
      <p:sp>
        <p:nvSpPr>
          <p:cNvPr id="19" name="Rectangle 18"/>
          <p:cNvSpPr/>
          <p:nvPr/>
        </p:nvSpPr>
        <p:spPr>
          <a:xfrm>
            <a:off x="6035040" y="3950208"/>
            <a:ext cx="2651760" cy="1344168"/>
          </a:xfrm>
          <a:prstGeom prst="rect">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172200" y="4224528"/>
            <a:ext cx="2377440" cy="822960"/>
          </a:xfrm>
          <a:prstGeom prst="rect">
            <a:avLst/>
          </a:prstGeom>
          <a:noFill/>
        </p:spPr>
        <p:txBody>
          <a:bodyPr wrap="square" lIns="0" tIns="0" rIns="0" bIns="0" anchor="t">
            <a:spAutoFit/>
          </a:bodyPr>
          <a:lstStyle/>
          <a:p>
            <a:pPr algn="ctr">
              <a:spcAft>
                <a:spcPts val="400"/>
              </a:spcAft>
            </a:pPr>
            <a:r>
              <a:rPr sz="1500" b="1" i="0">
                <a:solidFill>
                  <a:srgbClr val="FFFFFF"/>
                </a:solidFill>
              </a:rPr>
              <a:t>Faithful but wrong</a:t>
            </a:r>
          </a:p>
          <a:p>
            <a:pPr algn="ctr">
              <a:spcAft>
                <a:spcPts val="400"/>
              </a:spcAft>
            </a:pPr>
            <a:r>
              <a:rPr sz="1200" b="0" i="1">
                <a:solidFill>
                  <a:srgbClr val="FFFFFF"/>
                </a:solidFill>
              </a:rPr>
              <a:t>headline finding</a:t>
            </a:r>
          </a:p>
        </p:txBody>
      </p:sp>
      <p:sp>
        <p:nvSpPr>
          <p:cNvPr id="21" name="Rectangle 20"/>
          <p:cNvSpPr/>
          <p:nvPr/>
        </p:nvSpPr>
        <p:spPr>
          <a:xfrm>
            <a:off x="8823959" y="3950208"/>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961119" y="4224528"/>
            <a:ext cx="2377440" cy="822960"/>
          </a:xfrm>
          <a:prstGeom prst="rect">
            <a:avLst/>
          </a:prstGeom>
          <a:noFill/>
        </p:spPr>
        <p:txBody>
          <a:bodyPr wrap="square" lIns="0" tIns="0" rIns="0" bIns="0" anchor="t">
            <a:spAutoFit/>
          </a:bodyPr>
          <a:lstStyle/>
          <a:p>
            <a:pPr algn="ctr">
              <a:spcAft>
                <a:spcPts val="400"/>
              </a:spcAft>
            </a:pPr>
            <a:r>
              <a:rPr sz="1500" b="1" i="0">
                <a:solidFill>
                  <a:srgbClr val="575756"/>
                </a:solidFill>
              </a:rPr>
              <a:t>Wrong and unfaithful</a:t>
            </a:r>
          </a:p>
          <a:p>
            <a:pPr algn="ctr">
              <a:spcAft>
                <a:spcPts val="400"/>
              </a:spcAft>
            </a:pPr>
            <a:r>
              <a:rPr sz="1200" b="0" i="1">
                <a:solidFill>
                  <a:srgbClr val="575756"/>
                </a:solidFill>
              </a:rPr>
              <a:t>expected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Article 6 high-risk classification</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4</a:t>
            </a:fld>
            <a:endParaRPr lang="de-DE"/>
          </a:p>
        </p:txBody>
      </p:sp>
      <p:sp>
        <p:nvSpPr>
          <p:cNvPr id="7" name="TextBox 6"/>
          <p:cNvSpPr txBox="1"/>
          <p:nvPr/>
        </p:nvSpPr>
        <p:spPr>
          <a:xfrm>
            <a:off x="356616" y="1325880"/>
            <a:ext cx="11155680" cy="365760"/>
          </a:xfrm>
          <a:prstGeom prst="rect">
            <a:avLst/>
          </a:prstGeom>
          <a:noFill/>
        </p:spPr>
        <p:txBody>
          <a:bodyPr wrap="square" lIns="0" tIns="0" rIns="0" bIns="0" anchor="t">
            <a:spAutoFit/>
          </a:bodyPr>
          <a:lstStyle/>
          <a:p>
            <a:pPr algn="l">
              <a:spcAft>
                <a:spcPts val="400"/>
              </a:spcAft>
            </a:pPr>
            <a:r>
              <a:rPr sz="1600" b="0" i="0">
                <a:solidFill>
                  <a:srgbClr val="575756"/>
                </a:solidFill>
              </a:rPr>
              <a:t>Annex III route of the EU AI Act, including the Article 6(3) filter</a:t>
            </a:r>
          </a:p>
        </p:txBody>
      </p:sp>
      <p:sp>
        <p:nvSpPr>
          <p:cNvPr id="8" name="Rectangle 7"/>
          <p:cNvSpPr/>
          <p:nvPr/>
        </p:nvSpPr>
        <p:spPr>
          <a:xfrm>
            <a:off x="356616"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539496"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10" name="TextBox 9"/>
          <p:cNvSpPr txBox="1"/>
          <p:nvPr/>
        </p:nvSpPr>
        <p:spPr>
          <a:xfrm>
            <a:off x="539496" y="2651760"/>
            <a:ext cx="2240280" cy="411480"/>
          </a:xfrm>
          <a:prstGeom prst="rect">
            <a:avLst/>
          </a:prstGeom>
          <a:noFill/>
        </p:spPr>
        <p:txBody>
          <a:bodyPr wrap="square" lIns="0" tIns="0" rIns="0" bIns="0" anchor="t">
            <a:spAutoFit/>
          </a:bodyPr>
          <a:lstStyle/>
          <a:p>
            <a:pPr algn="l">
              <a:spcAft>
                <a:spcPts val="400"/>
              </a:spcAft>
            </a:pPr>
            <a:r>
              <a:rPr sz="1600" b="1" i="0">
                <a:solidFill>
                  <a:srgbClr val="DF4807"/>
                </a:solidFill>
              </a:rPr>
              <a:t>Intended purpose</a:t>
            </a:r>
          </a:p>
        </p:txBody>
      </p:sp>
      <p:sp>
        <p:nvSpPr>
          <p:cNvPr id="11" name="TextBox 10"/>
          <p:cNvSpPr txBox="1"/>
          <p:nvPr/>
        </p:nvSpPr>
        <p:spPr>
          <a:xfrm>
            <a:off x="539496" y="3108960"/>
            <a:ext cx="2240280" cy="1280160"/>
          </a:xfrm>
          <a:prstGeom prst="rect">
            <a:avLst/>
          </a:prstGeom>
          <a:noFill/>
        </p:spPr>
        <p:txBody>
          <a:bodyPr wrap="square" lIns="0" tIns="0" rIns="0" bIns="0" anchor="t">
            <a:spAutoFit/>
          </a:bodyPr>
          <a:lstStyle/>
          <a:p>
            <a:pPr algn="l">
              <a:spcAft>
                <a:spcPts val="400"/>
              </a:spcAft>
            </a:pPr>
            <a:r>
              <a:rPr sz="1250" b="0" i="0">
                <a:solidFill>
                  <a:srgbClr val="575756"/>
                </a:solidFill>
              </a:rPr>
              <a:t>What does the system do, for whom, with which data?</a:t>
            </a:r>
          </a:p>
        </p:txBody>
      </p:sp>
      <p:sp>
        <p:nvSpPr>
          <p:cNvPr id="12" name="Rectangle 11"/>
          <p:cNvSpPr/>
          <p:nvPr/>
        </p:nvSpPr>
        <p:spPr>
          <a:xfrm>
            <a:off x="3209544"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392424"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14" name="TextBox 13"/>
          <p:cNvSpPr txBox="1"/>
          <p:nvPr/>
        </p:nvSpPr>
        <p:spPr>
          <a:xfrm>
            <a:off x="3392424" y="2651760"/>
            <a:ext cx="2240280" cy="411480"/>
          </a:xfrm>
          <a:prstGeom prst="rect">
            <a:avLst/>
          </a:prstGeom>
          <a:noFill/>
        </p:spPr>
        <p:txBody>
          <a:bodyPr wrap="square" lIns="0" tIns="0" rIns="0" bIns="0" anchor="t">
            <a:spAutoFit/>
          </a:bodyPr>
          <a:lstStyle/>
          <a:p>
            <a:pPr algn="l">
              <a:spcAft>
                <a:spcPts val="400"/>
              </a:spcAft>
            </a:pPr>
            <a:r>
              <a:rPr sz="1600" b="1" i="0">
                <a:solidFill>
                  <a:srgbClr val="DF4807"/>
                </a:solidFill>
              </a:rPr>
              <a:t>Annex III use case?</a:t>
            </a:r>
          </a:p>
        </p:txBody>
      </p:sp>
      <p:sp>
        <p:nvSpPr>
          <p:cNvPr id="15" name="TextBox 14"/>
          <p:cNvSpPr txBox="1"/>
          <p:nvPr/>
        </p:nvSpPr>
        <p:spPr>
          <a:xfrm>
            <a:off x="3392424" y="3108960"/>
            <a:ext cx="2240280" cy="1280160"/>
          </a:xfrm>
          <a:prstGeom prst="rect">
            <a:avLst/>
          </a:prstGeom>
          <a:noFill/>
        </p:spPr>
        <p:txBody>
          <a:bodyPr wrap="square" lIns="0" tIns="0" rIns="0" bIns="0" anchor="t">
            <a:spAutoFit/>
          </a:bodyPr>
          <a:lstStyle/>
          <a:p>
            <a:pPr algn="l">
              <a:spcAft>
                <a:spcPts val="400"/>
              </a:spcAft>
            </a:pPr>
            <a:r>
              <a:rPr sz="1250" b="0" i="0">
                <a:solidFill>
                  <a:srgbClr val="575756"/>
                </a:solidFill>
              </a:rPr>
              <a:t>Eight areas: biometrics, critical infrastructure, education, employment, essential services, law enforcement, migration, justice and democracy</a:t>
            </a:r>
          </a:p>
        </p:txBody>
      </p:sp>
      <p:sp>
        <p:nvSpPr>
          <p:cNvPr id="16" name="Rectangle 15"/>
          <p:cNvSpPr/>
          <p:nvPr/>
        </p:nvSpPr>
        <p:spPr>
          <a:xfrm>
            <a:off x="6062472"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245352"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8" name="TextBox 17"/>
          <p:cNvSpPr txBox="1"/>
          <p:nvPr/>
        </p:nvSpPr>
        <p:spPr>
          <a:xfrm>
            <a:off x="6245352" y="2651760"/>
            <a:ext cx="2240280" cy="411480"/>
          </a:xfrm>
          <a:prstGeom prst="rect">
            <a:avLst/>
          </a:prstGeom>
          <a:noFill/>
        </p:spPr>
        <p:txBody>
          <a:bodyPr wrap="square" lIns="0" tIns="0" rIns="0" bIns="0" anchor="t">
            <a:spAutoFit/>
          </a:bodyPr>
          <a:lstStyle/>
          <a:p>
            <a:pPr algn="l">
              <a:spcAft>
                <a:spcPts val="400"/>
              </a:spcAft>
            </a:pPr>
            <a:r>
              <a:rPr sz="1600" b="1" i="0">
                <a:solidFill>
                  <a:srgbClr val="DF4807"/>
                </a:solidFill>
              </a:rPr>
              <a:t>Article 6(3) filter</a:t>
            </a:r>
          </a:p>
        </p:txBody>
      </p:sp>
      <p:sp>
        <p:nvSpPr>
          <p:cNvPr id="19" name="TextBox 18"/>
          <p:cNvSpPr txBox="1"/>
          <p:nvPr/>
        </p:nvSpPr>
        <p:spPr>
          <a:xfrm>
            <a:off x="6245352" y="3108960"/>
            <a:ext cx="2240280" cy="1280160"/>
          </a:xfrm>
          <a:prstGeom prst="rect">
            <a:avLst/>
          </a:prstGeom>
          <a:noFill/>
        </p:spPr>
        <p:txBody>
          <a:bodyPr wrap="square" lIns="0" tIns="0" rIns="0" bIns="0" anchor="t">
            <a:spAutoFit/>
          </a:bodyPr>
          <a:lstStyle/>
          <a:p>
            <a:pPr algn="l">
              <a:spcAft>
                <a:spcPts val="400"/>
              </a:spcAft>
            </a:pPr>
            <a:r>
              <a:rPr sz="1250" b="0" i="0">
                <a:solidFill>
                  <a:srgbClr val="575756"/>
                </a:solidFill>
              </a:rPr>
              <a:t>Out again if only a narrow procedural or preparatory task, or improving completed human work. Profiling always stays high-risk.</a:t>
            </a:r>
          </a:p>
        </p:txBody>
      </p:sp>
      <p:sp>
        <p:nvSpPr>
          <p:cNvPr id="20" name="Rectangle 19"/>
          <p:cNvSpPr/>
          <p:nvPr/>
        </p:nvSpPr>
        <p:spPr>
          <a:xfrm>
            <a:off x="8915400"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9098280"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22" name="TextBox 21"/>
          <p:cNvSpPr txBox="1"/>
          <p:nvPr/>
        </p:nvSpPr>
        <p:spPr>
          <a:xfrm>
            <a:off x="9098280" y="2651760"/>
            <a:ext cx="2240280" cy="411480"/>
          </a:xfrm>
          <a:prstGeom prst="rect">
            <a:avLst/>
          </a:prstGeom>
          <a:noFill/>
        </p:spPr>
        <p:txBody>
          <a:bodyPr wrap="square" lIns="0" tIns="0" rIns="0" bIns="0" anchor="t">
            <a:spAutoFit/>
          </a:bodyPr>
          <a:lstStyle/>
          <a:p>
            <a:pPr algn="l">
              <a:spcAft>
                <a:spcPts val="400"/>
              </a:spcAft>
            </a:pPr>
            <a:r>
              <a:rPr sz="1600" b="1" i="0">
                <a:solidFill>
                  <a:srgbClr val="DF4807"/>
                </a:solidFill>
              </a:rPr>
              <a:t>Label</a:t>
            </a:r>
          </a:p>
        </p:txBody>
      </p:sp>
      <p:sp>
        <p:nvSpPr>
          <p:cNvPr id="23" name="TextBox 22"/>
          <p:cNvSpPr txBox="1"/>
          <p:nvPr/>
        </p:nvSpPr>
        <p:spPr>
          <a:xfrm>
            <a:off x="9098280" y="3108960"/>
            <a:ext cx="2240280" cy="1280160"/>
          </a:xfrm>
          <a:prstGeom prst="rect">
            <a:avLst/>
          </a:prstGeom>
          <a:noFill/>
        </p:spPr>
        <p:txBody>
          <a:bodyPr wrap="square" lIns="0" tIns="0" rIns="0" bIns="0" anchor="t">
            <a:spAutoFit/>
          </a:bodyPr>
          <a:lstStyle/>
          <a:p>
            <a:pPr algn="l">
              <a:spcAft>
                <a:spcPts val="400"/>
              </a:spcAft>
            </a:pPr>
            <a:r>
              <a:rPr sz="1250" b="0" i="0">
                <a:solidFill>
                  <a:srgbClr val="575756"/>
                </a:solidFill>
              </a:rPr>
              <a:t>high-risk or not-high-risk, with an explanation</a:t>
            </a:r>
          </a:p>
        </p:txBody>
      </p:sp>
      <p:sp>
        <p:nvSpPr>
          <p:cNvPr id="24" name="Rectangle 23"/>
          <p:cNvSpPr/>
          <p:nvPr/>
        </p:nvSpPr>
        <p:spPr>
          <a:xfrm>
            <a:off x="356616" y="4709160"/>
            <a:ext cx="11155680" cy="12344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4846320"/>
            <a:ext cx="10789920" cy="1005840"/>
          </a:xfrm>
          <a:prstGeom prst="rect">
            <a:avLst/>
          </a:prstGeom>
          <a:noFill/>
        </p:spPr>
        <p:txBody>
          <a:bodyPr wrap="square" lIns="0" tIns="0" rIns="0" bIns="0" anchor="t">
            <a:spAutoFit/>
          </a:bodyPr>
          <a:lstStyle/>
          <a:p>
            <a:pPr algn="l">
              <a:spcAft>
                <a:spcPts val="0"/>
              </a:spcAft>
            </a:pPr>
            <a:r>
              <a:rPr sz="1400" b="1" i="0">
                <a:solidFill>
                  <a:srgbClr val="DF4807"/>
                </a:solidFill>
              </a:rPr>
              <a:t>Ground truth: </a:t>
            </a:r>
          </a:p>
          <a:p>
            <a:pPr algn="l">
              <a:spcAft>
                <a:spcPts val="0"/>
              </a:spcAft>
            </a:pPr>
            <a:r>
              <a:rPr sz="1400" b="0" i="0">
                <a:solidFill>
                  <a:srgbClr val="575756"/>
                </a:solidFill>
              </a:rPr>
              <a:t>the European Commission's draft guidelines on Annex III (19 May 2026, frozen). Every worked example ends in an authoritative verdict, so each test input has one known correct answer. Article 6(1) product safety is out of scope.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and method</a:t>
            </a:r>
          </a:p>
        </p:txBody>
      </p:sp>
      <p:sp>
        <p:nvSpPr>
          <p:cNvPr id="3" name="Text Placeholder 2"/>
          <p:cNvSpPr>
            <a:spLocks noGrp="1"/>
          </p:cNvSpPr>
          <p:nvPr>
            <p:ph type="body" idx="1"/>
          </p:nvPr>
        </p:nvSpPr>
        <p:spPr/>
        <p:txBody>
          <a:bodyPr/>
          <a:lstStyle/>
          <a:p>
            <a:r>
              <a:t>02</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5</a:t>
            </a:fld>
            <a:endParaRPr lang="de-D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set: 215 inputs with official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6</a:t>
            </a:fld>
            <a:endParaRPr lang="de-DE"/>
          </a:p>
        </p:txBody>
      </p:sp>
      <p:sp>
        <p:nvSpPr>
          <p:cNvPr id="7" name="TextBox 6"/>
          <p:cNvSpPr txBox="1"/>
          <p:nvPr/>
        </p:nvSpPr>
        <p:spPr>
          <a:xfrm>
            <a:off x="356616" y="1325880"/>
            <a:ext cx="7315200" cy="365760"/>
          </a:xfrm>
          <a:prstGeom prst="rect">
            <a:avLst/>
          </a:prstGeom>
          <a:noFill/>
        </p:spPr>
        <p:txBody>
          <a:bodyPr wrap="square" lIns="0" tIns="0" rIns="0" bIns="0" anchor="t">
            <a:spAutoFit/>
          </a:bodyPr>
          <a:lstStyle/>
          <a:p>
            <a:pPr algn="l">
              <a:spcAft>
                <a:spcPts val="400"/>
              </a:spcAft>
            </a:pPr>
            <a:r>
              <a:rPr sz="1600" b="0" i="0">
                <a:solidFill>
                  <a:srgbClr val="575756"/>
                </a:solidFill>
              </a:rPr>
              <a:t>Extracted from the worked examples; all eight Annex III areas covered</a:t>
            </a:r>
          </a:p>
        </p:txBody>
      </p:sp>
      <p:graphicFrame>
        <p:nvGraphicFramePr>
          <p:cNvPr id="8" name="Chart 7"/>
          <p:cNvGraphicFramePr>
            <a:graphicFrameLocks noGrp="1"/>
          </p:cNvGraphicFramePr>
          <p:nvPr/>
        </p:nvGraphicFramePr>
        <p:xfrm>
          <a:off x="356616" y="1828800"/>
          <a:ext cx="7498079"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8412480" y="1920240"/>
            <a:ext cx="3108960" cy="594360"/>
          </a:xfrm>
          <a:prstGeom prst="rect">
            <a:avLst/>
          </a:prstGeom>
          <a:noFill/>
        </p:spPr>
        <p:txBody>
          <a:bodyPr wrap="square" lIns="0" tIns="0" rIns="0" bIns="0" anchor="t">
            <a:spAutoFit/>
          </a:bodyPr>
          <a:lstStyle/>
          <a:p>
            <a:pPr algn="l">
              <a:spcAft>
                <a:spcPts val="400"/>
              </a:spcAft>
            </a:pPr>
            <a:r>
              <a:rPr sz="3400" b="1" i="0">
                <a:solidFill>
                  <a:srgbClr val="DF4807"/>
                </a:solidFill>
              </a:rPr>
              <a:t>215</a:t>
            </a:r>
          </a:p>
        </p:txBody>
      </p:sp>
      <p:sp>
        <p:nvSpPr>
          <p:cNvPr id="10" name="TextBox 9"/>
          <p:cNvSpPr txBox="1"/>
          <p:nvPr/>
        </p:nvSpPr>
        <p:spPr>
          <a:xfrm>
            <a:off x="8412480" y="2542032"/>
            <a:ext cx="3108960" cy="685800"/>
          </a:xfrm>
          <a:prstGeom prst="rect">
            <a:avLst/>
          </a:prstGeom>
          <a:noFill/>
        </p:spPr>
        <p:txBody>
          <a:bodyPr wrap="square" lIns="0" tIns="0" rIns="0" bIns="0" anchor="t">
            <a:spAutoFit/>
          </a:bodyPr>
          <a:lstStyle/>
          <a:p>
            <a:pPr algn="l">
              <a:spcAft>
                <a:spcPts val="400"/>
              </a:spcAft>
            </a:pPr>
            <a:r>
              <a:rPr sz="1200" b="0" i="0">
                <a:solidFill>
                  <a:srgbClr val="575756"/>
                </a:solidFill>
              </a:rPr>
              <a:t>test inputs, one gold label each</a:t>
            </a:r>
          </a:p>
        </p:txBody>
      </p:sp>
      <p:sp>
        <p:nvSpPr>
          <p:cNvPr id="11" name="TextBox 10"/>
          <p:cNvSpPr txBox="1"/>
          <p:nvPr/>
        </p:nvSpPr>
        <p:spPr>
          <a:xfrm>
            <a:off x="8412480" y="3291840"/>
            <a:ext cx="3108960" cy="594360"/>
          </a:xfrm>
          <a:prstGeom prst="rect">
            <a:avLst/>
          </a:prstGeom>
          <a:noFill/>
        </p:spPr>
        <p:txBody>
          <a:bodyPr wrap="square" lIns="0" tIns="0" rIns="0" bIns="0" anchor="t">
            <a:spAutoFit/>
          </a:bodyPr>
          <a:lstStyle/>
          <a:p>
            <a:pPr algn="l">
              <a:spcAft>
                <a:spcPts val="400"/>
              </a:spcAft>
            </a:pPr>
            <a:r>
              <a:rPr sz="3400" b="1" i="0">
                <a:solidFill>
                  <a:srgbClr val="DF4807"/>
                </a:solidFill>
              </a:rPr>
              <a:t>66 / 149</a:t>
            </a:r>
          </a:p>
        </p:txBody>
      </p:sp>
      <p:sp>
        <p:nvSpPr>
          <p:cNvPr id="12" name="TextBox 11"/>
          <p:cNvSpPr txBox="1"/>
          <p:nvPr/>
        </p:nvSpPr>
        <p:spPr>
          <a:xfrm>
            <a:off x="8412480" y="3913632"/>
            <a:ext cx="3108960" cy="685800"/>
          </a:xfrm>
          <a:prstGeom prst="rect">
            <a:avLst/>
          </a:prstGeom>
          <a:noFill/>
        </p:spPr>
        <p:txBody>
          <a:bodyPr wrap="square" lIns="0" tIns="0" rIns="0" bIns="0" anchor="t">
            <a:spAutoFit/>
          </a:bodyPr>
          <a:lstStyle/>
          <a:p>
            <a:pPr algn="l">
              <a:spcAft>
                <a:spcPts val="400"/>
              </a:spcAft>
            </a:pPr>
            <a:r>
              <a:rPr sz="1200" b="0" i="0">
                <a:solidFill>
                  <a:srgbClr val="575756"/>
                </a:solidFill>
              </a:rPr>
              <a:t>high-risk / not high-risk (31% / 69%)</a:t>
            </a:r>
          </a:p>
        </p:txBody>
      </p:sp>
      <p:sp>
        <p:nvSpPr>
          <p:cNvPr id="13" name="TextBox 12"/>
          <p:cNvSpPr txBox="1"/>
          <p:nvPr/>
        </p:nvSpPr>
        <p:spPr>
          <a:xfrm>
            <a:off x="8412480" y="4663440"/>
            <a:ext cx="3108960" cy="594360"/>
          </a:xfrm>
          <a:prstGeom prst="rect">
            <a:avLst/>
          </a:prstGeom>
          <a:noFill/>
        </p:spPr>
        <p:txBody>
          <a:bodyPr wrap="square" lIns="0" tIns="0" rIns="0" bIns="0" anchor="t">
            <a:spAutoFit/>
          </a:bodyPr>
          <a:lstStyle/>
          <a:p>
            <a:pPr algn="l">
              <a:spcAft>
                <a:spcPts val="400"/>
              </a:spcAft>
            </a:pPr>
            <a:r>
              <a:rPr sz="3400" b="1" i="0">
                <a:solidFill>
                  <a:srgbClr val="DF4807"/>
                </a:solidFill>
              </a:rPr>
              <a:t>41</a:t>
            </a:r>
          </a:p>
        </p:txBody>
      </p:sp>
      <p:sp>
        <p:nvSpPr>
          <p:cNvPr id="14" name="TextBox 13"/>
          <p:cNvSpPr txBox="1"/>
          <p:nvPr/>
        </p:nvSpPr>
        <p:spPr>
          <a:xfrm>
            <a:off x="8412480" y="5285231"/>
            <a:ext cx="3108960" cy="685800"/>
          </a:xfrm>
          <a:prstGeom prst="rect">
            <a:avLst/>
          </a:prstGeom>
          <a:noFill/>
        </p:spPr>
        <p:txBody>
          <a:bodyPr wrap="square" lIns="0" tIns="0" rIns="0" bIns="0" anchor="t">
            <a:spAutoFit/>
          </a:bodyPr>
          <a:lstStyle/>
          <a:p>
            <a:pPr algn="l">
              <a:spcAft>
                <a:spcPts val="400"/>
              </a:spcAft>
            </a:pPr>
            <a:r>
              <a:rPr sz="1200" b="0" i="0">
                <a:solidFill>
                  <a:srgbClr val="575756"/>
                </a:solidFill>
              </a:rPr>
              <a:t>Article 6(3) filter cases, all not high-risk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Evaluation framework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7</a:t>
            </a:fld>
            <a:endParaRPr lang="de-DE"/>
          </a:p>
        </p:txBody>
      </p:sp>
      <p:pic>
        <p:nvPicPr>
          <p:cNvPr id="7" name="Picture 6" descr="arch_detailed.png"/>
          <p:cNvPicPr>
            <a:picLocks noChangeAspect="1"/>
          </p:cNvPicPr>
          <p:nvPr/>
        </p:nvPicPr>
        <p:blipFill>
          <a:blip r:embed="rId3"/>
          <a:stretch>
            <a:fillRect/>
          </a:stretch>
        </p:blipFill>
        <p:spPr>
          <a:xfrm>
            <a:off x="356616" y="1280160"/>
            <a:ext cx="3872923" cy="4892040"/>
          </a:xfrm>
          <a:prstGeom prst="rect">
            <a:avLst/>
          </a:prstGeom>
        </p:spPr>
      </p:pic>
      <p:sp>
        <p:nvSpPr>
          <p:cNvPr id="8" name="Oval 7"/>
          <p:cNvSpPr/>
          <p:nvPr/>
        </p:nvSpPr>
        <p:spPr>
          <a:xfrm>
            <a:off x="4572000" y="137160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9" name="TextBox 8"/>
          <p:cNvSpPr txBox="1"/>
          <p:nvPr/>
        </p:nvSpPr>
        <p:spPr>
          <a:xfrm>
            <a:off x="5120640" y="1353312"/>
            <a:ext cx="6400800" cy="365760"/>
          </a:xfrm>
          <a:prstGeom prst="rect">
            <a:avLst/>
          </a:prstGeom>
          <a:noFill/>
        </p:spPr>
        <p:txBody>
          <a:bodyPr wrap="square" lIns="0" tIns="0" rIns="0" bIns="0" anchor="t">
            <a:spAutoFit/>
          </a:bodyPr>
          <a:lstStyle/>
          <a:p>
            <a:pPr algn="l">
              <a:spcAft>
                <a:spcPts val="400"/>
              </a:spcAft>
            </a:pPr>
            <a:r>
              <a:rPr sz="1600" b="1" i="0">
                <a:solidFill>
                  <a:srgbClr val="DF4807"/>
                </a:solidFill>
              </a:rPr>
              <a:t>Source split</a:t>
            </a:r>
          </a:p>
        </p:txBody>
      </p:sp>
      <p:sp>
        <p:nvSpPr>
          <p:cNvPr id="10" name="TextBox 9"/>
          <p:cNvSpPr txBox="1"/>
          <p:nvPr/>
        </p:nvSpPr>
        <p:spPr>
          <a:xfrm>
            <a:off x="5120640" y="1737360"/>
            <a:ext cx="6400800" cy="777240"/>
          </a:xfrm>
          <a:prstGeom prst="rect">
            <a:avLst/>
          </a:prstGeom>
          <a:noFill/>
        </p:spPr>
        <p:txBody>
          <a:bodyPr wrap="square" lIns="0" tIns="0" rIns="0" bIns="0" anchor="t">
            <a:spAutoFit/>
          </a:bodyPr>
          <a:lstStyle/>
          <a:p>
            <a:pPr algn="l">
              <a:spcAft>
                <a:spcPts val="400"/>
              </a:spcAft>
            </a:pPr>
            <a:r>
              <a:rPr sz="1300" b="0" i="0">
                <a:solidFill>
                  <a:srgbClr val="575756"/>
                </a:solidFill>
              </a:rPr>
              <a:t>Worked examples become the test set; only normative text (400 chunks) goes into the retrieval corpus, so labels cannot leak through retrieval.</a:t>
            </a:r>
          </a:p>
        </p:txBody>
      </p:sp>
      <p:sp>
        <p:nvSpPr>
          <p:cNvPr id="11" name="Oval 10"/>
          <p:cNvSpPr/>
          <p:nvPr/>
        </p:nvSpPr>
        <p:spPr>
          <a:xfrm>
            <a:off x="4572000" y="25603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12" name="TextBox 11"/>
          <p:cNvSpPr txBox="1"/>
          <p:nvPr/>
        </p:nvSpPr>
        <p:spPr>
          <a:xfrm>
            <a:off x="5120640" y="2542032"/>
            <a:ext cx="6400800" cy="365760"/>
          </a:xfrm>
          <a:prstGeom prst="rect">
            <a:avLst/>
          </a:prstGeom>
          <a:noFill/>
        </p:spPr>
        <p:txBody>
          <a:bodyPr wrap="square" lIns="0" tIns="0" rIns="0" bIns="0" anchor="t">
            <a:spAutoFit/>
          </a:bodyPr>
          <a:lstStyle/>
          <a:p>
            <a:pPr algn="l">
              <a:spcAft>
                <a:spcPts val="400"/>
              </a:spcAft>
            </a:pPr>
            <a:r>
              <a:rPr sz="1600" b="1" i="0">
                <a:solidFill>
                  <a:srgbClr val="DF4807"/>
                </a:solidFill>
              </a:rPr>
              <a:t>Three systems, one generator</a:t>
            </a:r>
          </a:p>
        </p:txBody>
      </p:sp>
      <p:sp>
        <p:nvSpPr>
          <p:cNvPr id="13" name="TextBox 12"/>
          <p:cNvSpPr txBox="1"/>
          <p:nvPr/>
        </p:nvSpPr>
        <p:spPr>
          <a:xfrm>
            <a:off x="5120640" y="2926079"/>
            <a:ext cx="6400800" cy="777240"/>
          </a:xfrm>
          <a:prstGeom prst="rect">
            <a:avLst/>
          </a:prstGeom>
          <a:noFill/>
        </p:spPr>
        <p:txBody>
          <a:bodyPr wrap="square" lIns="0" tIns="0" rIns="0" bIns="0" anchor="t">
            <a:spAutoFit/>
          </a:bodyPr>
          <a:lstStyle/>
          <a:p>
            <a:pPr algn="l">
              <a:spcAft>
                <a:spcPts val="400"/>
              </a:spcAft>
            </a:pPr>
            <a:r>
              <a:rPr sz="1300" b="0" i="0">
                <a:solidFill>
                  <a:srgbClr val="575756"/>
                </a:solidFill>
              </a:rPr>
              <a:t>phi-4 (14B) for all: plain LLM with no retrieval; standard RAG with top 5 passages (hybrid BM25 + dense) and a generic prompt; agent with the same passages and a prompt that walks the legal test step by step.</a:t>
            </a:r>
          </a:p>
        </p:txBody>
      </p:sp>
      <p:sp>
        <p:nvSpPr>
          <p:cNvPr id="14" name="Oval 13"/>
          <p:cNvSpPr/>
          <p:nvPr/>
        </p:nvSpPr>
        <p:spPr>
          <a:xfrm>
            <a:off x="4572000" y="3749039"/>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5" name="TextBox 14"/>
          <p:cNvSpPr txBox="1"/>
          <p:nvPr/>
        </p:nvSpPr>
        <p:spPr>
          <a:xfrm>
            <a:off x="5120640" y="3730752"/>
            <a:ext cx="6400800" cy="365760"/>
          </a:xfrm>
          <a:prstGeom prst="rect">
            <a:avLst/>
          </a:prstGeom>
          <a:noFill/>
        </p:spPr>
        <p:txBody>
          <a:bodyPr wrap="square" lIns="0" tIns="0" rIns="0" bIns="0" anchor="t">
            <a:spAutoFit/>
          </a:bodyPr>
          <a:lstStyle/>
          <a:p>
            <a:pPr algn="l">
              <a:spcAft>
                <a:spcPts val="400"/>
              </a:spcAft>
            </a:pPr>
            <a:r>
              <a:rPr sz="1600" b="1" i="0">
                <a:solidFill>
                  <a:srgbClr val="DF4807"/>
                </a:solidFill>
              </a:rPr>
              <a:t>Two independent axes</a:t>
            </a:r>
          </a:p>
        </p:txBody>
      </p:sp>
      <p:sp>
        <p:nvSpPr>
          <p:cNvPr id="16" name="TextBox 15"/>
          <p:cNvSpPr txBox="1"/>
          <p:nvPr/>
        </p:nvSpPr>
        <p:spPr>
          <a:xfrm>
            <a:off x="5120640" y="4114800"/>
            <a:ext cx="6400800" cy="777240"/>
          </a:xfrm>
          <a:prstGeom prst="rect">
            <a:avLst/>
          </a:prstGeom>
          <a:noFill/>
        </p:spPr>
        <p:txBody>
          <a:bodyPr wrap="square" lIns="0" tIns="0" rIns="0" bIns="0" anchor="t">
            <a:spAutoFit/>
          </a:bodyPr>
          <a:lstStyle/>
          <a:p>
            <a:pPr algn="l">
              <a:spcAft>
                <a:spcPts val="400"/>
              </a:spcAft>
            </a:pPr>
            <a:r>
              <a:rPr sz="1300" b="0" i="0">
                <a:solidFill>
                  <a:srgbClr val="575756"/>
                </a:solidFill>
              </a:rPr>
              <a:t>Judge (Qwen2.5-72B, separate model family) scores RAGAS faithfulness; correctness is a plain lookup against the Commission label.</a:t>
            </a:r>
          </a:p>
        </p:txBody>
      </p:sp>
      <p:sp>
        <p:nvSpPr>
          <p:cNvPr id="17" name="Oval 16"/>
          <p:cNvSpPr/>
          <p:nvPr/>
        </p:nvSpPr>
        <p:spPr>
          <a:xfrm>
            <a:off x="4572000" y="49377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18" name="TextBox 17"/>
          <p:cNvSpPr txBox="1"/>
          <p:nvPr/>
        </p:nvSpPr>
        <p:spPr>
          <a:xfrm>
            <a:off x="5120640" y="4919472"/>
            <a:ext cx="6400800" cy="365760"/>
          </a:xfrm>
          <a:prstGeom prst="rect">
            <a:avLst/>
          </a:prstGeom>
          <a:noFill/>
        </p:spPr>
        <p:txBody>
          <a:bodyPr wrap="square" lIns="0" tIns="0" rIns="0" bIns="0" anchor="t">
            <a:spAutoFit/>
          </a:bodyPr>
          <a:lstStyle/>
          <a:p>
            <a:pPr algn="l">
              <a:spcAft>
                <a:spcPts val="400"/>
              </a:spcAft>
            </a:pPr>
            <a:r>
              <a:rPr sz="1600" b="1" i="0">
                <a:solidFill>
                  <a:srgbClr val="DF4807"/>
                </a:solidFill>
              </a:rPr>
              <a:t>Reproducible</a:t>
            </a:r>
          </a:p>
        </p:txBody>
      </p:sp>
      <p:sp>
        <p:nvSpPr>
          <p:cNvPr id="19" name="TextBox 18"/>
          <p:cNvSpPr txBox="1"/>
          <p:nvPr/>
        </p:nvSpPr>
        <p:spPr>
          <a:xfrm>
            <a:off x="5120640" y="5303520"/>
            <a:ext cx="6400800" cy="777240"/>
          </a:xfrm>
          <a:prstGeom prst="rect">
            <a:avLst/>
          </a:prstGeom>
          <a:noFill/>
        </p:spPr>
        <p:txBody>
          <a:bodyPr wrap="square" lIns="0" tIns="0" rIns="0" bIns="0" anchor="t">
            <a:spAutoFit/>
          </a:bodyPr>
          <a:lstStyle/>
          <a:p>
            <a:pPr algn="l">
              <a:spcAft>
                <a:spcPts val="400"/>
              </a:spcAft>
            </a:pPr>
            <a:r>
              <a:rPr sz="1300" b="0" i="0">
                <a:solidFill>
                  <a:srgbClr val="575756"/>
                </a:solidFill>
              </a:rPr>
              <a:t>Local models on the university GPU, pinned revisions, greedy decoding. 645 generations, 0 parse failures, 0 errors.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label leak found and fixed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8</a:t>
            </a:fld>
            <a:endParaRPr lang="de-DE"/>
          </a:p>
        </p:txBody>
      </p:sp>
      <p:sp>
        <p:nvSpPr>
          <p:cNvPr id="7" name="TextBox 6"/>
          <p:cNvSpPr txBox="1"/>
          <p:nvPr/>
        </p:nvSpPr>
        <p:spPr>
          <a:xfrm>
            <a:off x="356616" y="1325880"/>
            <a:ext cx="10972800" cy="365760"/>
          </a:xfrm>
          <a:prstGeom prst="rect">
            <a:avLst/>
          </a:prstGeom>
          <a:noFill/>
        </p:spPr>
        <p:txBody>
          <a:bodyPr wrap="square" lIns="0" tIns="0" rIns="0" bIns="0" anchor="t">
            <a:spAutoFit/>
          </a:bodyPr>
          <a:lstStyle/>
          <a:p>
            <a:pPr algn="l">
              <a:spcAft>
                <a:spcPts val="400"/>
              </a:spcAft>
            </a:pPr>
            <a:r>
              <a:rPr sz="1600" b="0" i="0">
                <a:solidFill>
                  <a:srgbClr val="575756"/>
                </a:solidFill>
              </a:rPr>
              <a:t>60% of inputs contained the Commission's own verdict (first run, before redaction)</a:t>
            </a:r>
          </a:p>
        </p:txBody>
      </p:sp>
      <p:graphicFrame>
        <p:nvGraphicFramePr>
          <p:cNvPr id="8" name="Chart 7"/>
          <p:cNvGraphicFramePr>
            <a:graphicFrameLocks noGrp="1"/>
          </p:cNvGraphicFramePr>
          <p:nvPr/>
        </p:nvGraphicFramePr>
        <p:xfrm>
          <a:off x="356616" y="1828800"/>
          <a:ext cx="60350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6766560" y="1920240"/>
            <a:ext cx="4754880" cy="365760"/>
          </a:xfrm>
          <a:prstGeom prst="rect">
            <a:avLst/>
          </a:prstGeom>
          <a:noFill/>
        </p:spPr>
        <p:txBody>
          <a:bodyPr wrap="square" lIns="0" tIns="0" rIns="0" bIns="0" anchor="t">
            <a:spAutoFit/>
          </a:bodyPr>
          <a:lstStyle/>
          <a:p>
            <a:pPr algn="l">
              <a:spcAft>
                <a:spcPts val="400"/>
              </a:spcAft>
            </a:pPr>
            <a:r>
              <a:rPr sz="1600" b="1" i="0">
                <a:solidFill>
                  <a:srgbClr val="DF4807"/>
                </a:solidFill>
              </a:rPr>
              <a:t>What happened</a:t>
            </a:r>
          </a:p>
        </p:txBody>
      </p:sp>
      <p:sp>
        <p:nvSpPr>
          <p:cNvPr id="10" name="TextBox 9"/>
          <p:cNvSpPr txBox="1"/>
          <p:nvPr/>
        </p:nvSpPr>
        <p:spPr>
          <a:xfrm>
            <a:off x="6766560" y="2331720"/>
            <a:ext cx="4754880" cy="1188720"/>
          </a:xfrm>
          <a:prstGeom prst="rect">
            <a:avLst/>
          </a:prstGeom>
          <a:noFill/>
        </p:spPr>
        <p:txBody>
          <a:bodyPr wrap="square" lIns="0" tIns="0" rIns="0" bIns="0" anchor="t">
            <a:spAutoFit/>
          </a:bodyPr>
          <a:lstStyle/>
          <a:p>
            <a:pPr algn="l">
              <a:spcAft>
                <a:spcPts val="400"/>
              </a:spcAft>
            </a:pPr>
            <a:r>
              <a:rPr sz="1300" b="0" i="0">
                <a:solidFill>
                  <a:srgbClr val="575756"/>
                </a:solidFill>
              </a:rPr>
              <a:t>The extractor kept each example's closing verdict, e.g. "It therefore falls outside the use case of point 4(a)". The plain model was reading the answer.</a:t>
            </a:r>
          </a:p>
        </p:txBody>
      </p:sp>
      <p:sp>
        <p:nvSpPr>
          <p:cNvPr id="11" name="TextBox 10"/>
          <p:cNvSpPr txBox="1"/>
          <p:nvPr/>
        </p:nvSpPr>
        <p:spPr>
          <a:xfrm>
            <a:off x="6766560" y="3520440"/>
            <a:ext cx="4754880" cy="365760"/>
          </a:xfrm>
          <a:prstGeom prst="rect">
            <a:avLst/>
          </a:prstGeom>
          <a:noFill/>
        </p:spPr>
        <p:txBody>
          <a:bodyPr wrap="square" lIns="0" tIns="0" rIns="0" bIns="0" anchor="t">
            <a:spAutoFit/>
          </a:bodyPr>
          <a:lstStyle/>
          <a:p>
            <a:pPr algn="l">
              <a:spcAft>
                <a:spcPts val="400"/>
              </a:spcAft>
            </a:pPr>
            <a:r>
              <a:rPr sz="1600" b="1" i="0">
                <a:solidFill>
                  <a:srgbClr val="DF4807"/>
                </a:solidFill>
              </a:rPr>
              <a:t>How it was fixed</a:t>
            </a:r>
          </a:p>
        </p:txBody>
      </p:sp>
      <p:sp>
        <p:nvSpPr>
          <p:cNvPr id="12" name="TextBox 11"/>
          <p:cNvSpPr txBox="1"/>
          <p:nvPr/>
        </p:nvSpPr>
        <p:spPr>
          <a:xfrm>
            <a:off x="6766560" y="3931920"/>
            <a:ext cx="4754880" cy="2194560"/>
          </a:xfrm>
          <a:prstGeom prst="rect">
            <a:avLst/>
          </a:prstGeom>
          <a:noFill/>
        </p:spPr>
        <p:txBody>
          <a:bodyPr wrap="square" lIns="0" tIns="0" rIns="0" bIns="0" anchor="t">
            <a:spAutoFit/>
          </a:bodyPr>
          <a:lstStyle/>
          <a:p>
            <a:pPr marL="228600" indent="-228600" algn="l">
              <a:spcAft>
                <a:spcPts val="400"/>
              </a:spcAft>
              <a:buChar char="–"/>
            </a:pPr>
            <a:r>
              <a:rPr sz="1300" b="0" i="0">
                <a:solidFill>
                  <a:srgbClr val="575756"/>
                </a:solidFill>
              </a:rPr>
              <a:t>Kept what the system does; removed every legal conclusion and citation</a:t>
            </a:r>
          </a:p>
          <a:p>
            <a:pPr marL="228600" indent="-228600" algn="l">
              <a:spcAft>
                <a:spcPts val="400"/>
              </a:spcAft>
              <a:buChar char="–"/>
            </a:pPr>
            <a:r>
              <a:rPr sz="1300" b="0" i="0">
                <a:solidFill>
                  <a:srgbClr val="575756"/>
                </a:solidFill>
              </a:rPr>
              <a:t>96 rows automatic, 31 hand-edited, 46 reviewed by the author</a:t>
            </a:r>
          </a:p>
          <a:p>
            <a:pPr marL="228600" indent="-228600" algn="l">
              <a:spcAft>
                <a:spcPts val="400"/>
              </a:spcAft>
              <a:buChar char="–"/>
            </a:pPr>
            <a:r>
              <a:rPr sz="1300" b="0" i="0">
                <a:solidFill>
                  <a:srgbClr val="575756"/>
                </a:solidFill>
              </a:rPr>
              <a:t>IDs and gold labels unchanged; all systems rerun</a:t>
            </a:r>
          </a:p>
          <a:p>
            <a:pPr marL="228600" indent="-228600" algn="l">
              <a:spcAft>
                <a:spcPts val="400"/>
              </a:spcAft>
              <a:buChar char="–"/>
            </a:pPr>
            <a:r>
              <a:rPr sz="1300" b="0" i="0">
                <a:solidFill>
                  <a:srgbClr val="575756"/>
                </a:solidFill>
              </a:rPr>
              <a:t>Mean input length 557 to 392 characters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idx="1"/>
          </p:nvPr>
        </p:nvSpPr>
        <p:spPr/>
        <p:txBody>
          <a:bodyPr/>
          <a:lstStyle/>
          <a:p>
            <a:r>
              <a:t>03</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9</a:t>
            </a:fld>
            <a:endParaRPr lang="de-D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 1: retrieval helps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10</a:t>
            </a:fld>
            <a:endParaRPr lang="de-DE"/>
          </a:p>
        </p:txBody>
      </p:sp>
      <p:sp>
        <p:nvSpPr>
          <p:cNvPr id="7" name="TextBox 6"/>
          <p:cNvSpPr txBox="1"/>
          <p:nvPr/>
        </p:nvSpPr>
        <p:spPr>
          <a:xfrm>
            <a:off x="356616" y="1325880"/>
            <a:ext cx="10972800" cy="365760"/>
          </a:xfrm>
          <a:prstGeom prst="rect">
            <a:avLst/>
          </a:prstGeom>
          <a:noFill/>
        </p:spPr>
        <p:txBody>
          <a:bodyPr wrap="square" lIns="0" tIns="0" rIns="0" bIns="0" anchor="t">
            <a:spAutoFit/>
          </a:bodyPr>
          <a:lstStyle/>
          <a:p>
            <a:pPr algn="l">
              <a:spcAft>
                <a:spcPts val="400"/>
              </a:spcAft>
            </a:pPr>
            <a:r>
              <a:rPr sz="1600" b="0" i="0">
                <a:solidFill>
                  <a:srgbClr val="575756"/>
                </a:solidFill>
              </a:rPr>
              <a:t>…but the structured prompt does not. Accuracy on 215 inputs, before and after redaction</a:t>
            </a:r>
          </a:p>
        </p:txBody>
      </p:sp>
      <p:graphicFrame>
        <p:nvGraphicFramePr>
          <p:cNvPr id="8" name="Chart 7"/>
          <p:cNvGraphicFramePr>
            <a:graphicFrameLocks noGrp="1"/>
          </p:cNvGraphicFramePr>
          <p:nvPr/>
        </p:nvGraphicFramePr>
        <p:xfrm>
          <a:off x="356616" y="1828800"/>
          <a:ext cx="65836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7406640" y="1920240"/>
            <a:ext cx="4114800" cy="594360"/>
          </a:xfrm>
          <a:prstGeom prst="rect">
            <a:avLst/>
          </a:prstGeom>
          <a:noFill/>
        </p:spPr>
        <p:txBody>
          <a:bodyPr wrap="square" lIns="0" tIns="0" rIns="0" bIns="0" anchor="t">
            <a:spAutoFit/>
          </a:bodyPr>
          <a:lstStyle/>
          <a:p>
            <a:pPr algn="l">
              <a:spcAft>
                <a:spcPts val="400"/>
              </a:spcAft>
            </a:pPr>
            <a:r>
              <a:rPr sz="3400" b="1" i="0">
                <a:solidFill>
                  <a:srgbClr val="DF4807"/>
                </a:solidFill>
              </a:rPr>
              <a:t>+19 pts</a:t>
            </a:r>
          </a:p>
        </p:txBody>
      </p:sp>
      <p:sp>
        <p:nvSpPr>
          <p:cNvPr id="10" name="TextBox 9"/>
          <p:cNvSpPr txBox="1"/>
          <p:nvPr/>
        </p:nvSpPr>
        <p:spPr>
          <a:xfrm>
            <a:off x="7406640" y="2542032"/>
            <a:ext cx="4114800" cy="685800"/>
          </a:xfrm>
          <a:prstGeom prst="rect">
            <a:avLst/>
          </a:prstGeom>
          <a:noFill/>
        </p:spPr>
        <p:txBody>
          <a:bodyPr wrap="square" lIns="0" tIns="0" rIns="0" bIns="0" anchor="t">
            <a:spAutoFit/>
          </a:bodyPr>
          <a:lstStyle/>
          <a:p>
            <a:pPr algn="l">
              <a:spcAft>
                <a:spcPts val="400"/>
              </a:spcAft>
            </a:pPr>
            <a:r>
              <a:rPr sz="1200" b="0" i="0">
                <a:solidFill>
                  <a:srgbClr val="575756"/>
                </a:solidFill>
              </a:rPr>
              <a:t>standard RAG vs plain LLM on redacted inputs (McNemar p &lt; 0.001)</a:t>
            </a:r>
          </a:p>
        </p:txBody>
      </p:sp>
      <p:sp>
        <p:nvSpPr>
          <p:cNvPr id="11" name="TextBox 10"/>
          <p:cNvSpPr txBox="1"/>
          <p:nvPr/>
        </p:nvSpPr>
        <p:spPr>
          <a:xfrm>
            <a:off x="7406640" y="3291840"/>
            <a:ext cx="4114800" cy="594360"/>
          </a:xfrm>
          <a:prstGeom prst="rect">
            <a:avLst/>
          </a:prstGeom>
          <a:noFill/>
        </p:spPr>
        <p:txBody>
          <a:bodyPr wrap="square" lIns="0" tIns="0" rIns="0" bIns="0" anchor="t">
            <a:spAutoFit/>
          </a:bodyPr>
          <a:lstStyle/>
          <a:p>
            <a:pPr algn="l">
              <a:spcAft>
                <a:spcPts val="400"/>
              </a:spcAft>
            </a:pPr>
            <a:r>
              <a:rPr sz="3400" b="1" i="0">
                <a:solidFill>
                  <a:srgbClr val="DF4807"/>
                </a:solidFill>
              </a:rPr>
              <a:t>60 vs 17</a:t>
            </a:r>
          </a:p>
        </p:txBody>
      </p:sp>
      <p:sp>
        <p:nvSpPr>
          <p:cNvPr id="12" name="TextBox 11"/>
          <p:cNvSpPr txBox="1"/>
          <p:nvPr/>
        </p:nvSpPr>
        <p:spPr>
          <a:xfrm>
            <a:off x="7406640" y="3913632"/>
            <a:ext cx="4114800" cy="685800"/>
          </a:xfrm>
          <a:prstGeom prst="rect">
            <a:avLst/>
          </a:prstGeom>
          <a:noFill/>
        </p:spPr>
        <p:txBody>
          <a:bodyPr wrap="square" lIns="0" tIns="0" rIns="0" bIns="0" anchor="t">
            <a:spAutoFit/>
          </a:bodyPr>
          <a:lstStyle/>
          <a:p>
            <a:pPr algn="l">
              <a:spcAft>
                <a:spcPts val="400"/>
              </a:spcAft>
            </a:pPr>
            <a:r>
              <a:rPr sz="1200" b="0" i="0">
                <a:solidFill>
                  <a:srgbClr val="575756"/>
                </a:solidFill>
              </a:rPr>
              <a:t>false high-risk calls: plain LLM vs standard RAG</a:t>
            </a:r>
          </a:p>
        </p:txBody>
      </p:sp>
      <p:sp>
        <p:nvSpPr>
          <p:cNvPr id="13" name="TextBox 12"/>
          <p:cNvSpPr txBox="1"/>
          <p:nvPr/>
        </p:nvSpPr>
        <p:spPr>
          <a:xfrm>
            <a:off x="7406640" y="4663440"/>
            <a:ext cx="4114800" cy="594360"/>
          </a:xfrm>
          <a:prstGeom prst="rect">
            <a:avLst/>
          </a:prstGeom>
          <a:noFill/>
        </p:spPr>
        <p:txBody>
          <a:bodyPr wrap="square" lIns="0" tIns="0" rIns="0" bIns="0" anchor="t">
            <a:spAutoFit/>
          </a:bodyPr>
          <a:lstStyle/>
          <a:p>
            <a:pPr algn="l">
              <a:spcAft>
                <a:spcPts val="400"/>
              </a:spcAft>
            </a:pPr>
            <a:r>
              <a:rPr sz="3400" b="1" i="0">
                <a:solidFill>
                  <a:srgbClr val="DF4807"/>
                </a:solidFill>
              </a:rPr>
              <a:t>p = 0.30</a:t>
            </a:r>
          </a:p>
        </p:txBody>
      </p:sp>
      <p:sp>
        <p:nvSpPr>
          <p:cNvPr id="14" name="TextBox 13"/>
          <p:cNvSpPr txBox="1"/>
          <p:nvPr/>
        </p:nvSpPr>
        <p:spPr>
          <a:xfrm>
            <a:off x="7406640" y="5285231"/>
            <a:ext cx="4114800" cy="685800"/>
          </a:xfrm>
          <a:prstGeom prst="rect">
            <a:avLst/>
          </a:prstGeom>
          <a:noFill/>
        </p:spPr>
        <p:txBody>
          <a:bodyPr wrap="square" lIns="0" tIns="0" rIns="0" bIns="0" anchor="t">
            <a:spAutoFit/>
          </a:bodyPr>
          <a:lstStyle/>
          <a:p>
            <a:pPr algn="l">
              <a:spcAft>
                <a:spcPts val="400"/>
              </a:spcAft>
            </a:pPr>
            <a:r>
              <a:rPr sz="1200" b="0" i="0">
                <a:solidFill>
                  <a:srgbClr val="575756"/>
                </a:solidFill>
              </a:rPr>
              <a:t>agent vs standard RAG: no significant difference (0.856 vs 0.879)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systems struggle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11</a:t>
            </a:fld>
            <a:endParaRPr lang="de-DE"/>
          </a:p>
        </p:txBody>
      </p:sp>
      <p:sp>
        <p:nvSpPr>
          <p:cNvPr id="7" name="TextBox 6"/>
          <p:cNvSpPr txBox="1"/>
          <p:nvPr/>
        </p:nvSpPr>
        <p:spPr>
          <a:xfrm>
            <a:off x="356616" y="1325880"/>
            <a:ext cx="10972800" cy="365760"/>
          </a:xfrm>
          <a:prstGeom prst="rect">
            <a:avLst/>
          </a:prstGeom>
          <a:noFill/>
        </p:spPr>
        <p:txBody>
          <a:bodyPr wrap="square" lIns="0" tIns="0" rIns="0" bIns="0" anchor="t">
            <a:spAutoFit/>
          </a:bodyPr>
          <a:lstStyle/>
          <a:p>
            <a:pPr algn="l">
              <a:spcAft>
                <a:spcPts val="400"/>
              </a:spcAft>
            </a:pPr>
            <a:r>
              <a:rPr sz="1600" b="0" i="0">
                <a:solidFill>
                  <a:srgbClr val="575756"/>
                </a:solidFill>
              </a:rPr>
              <a:t>Accuracy by Annex III area and error types (redacted inputs)</a:t>
            </a:r>
          </a:p>
        </p:txBody>
      </p:sp>
      <p:pic>
        <p:nvPicPr>
          <p:cNvPr id="8" name="Picture 7" descr="fig_area_heatmap.png"/>
          <p:cNvPicPr>
            <a:picLocks noChangeAspect="1"/>
          </p:cNvPicPr>
          <p:nvPr/>
        </p:nvPicPr>
        <p:blipFill>
          <a:blip r:embed="rId3"/>
          <a:stretch>
            <a:fillRect/>
          </a:stretch>
        </p:blipFill>
        <p:spPr>
          <a:xfrm>
            <a:off x="356616" y="1828800"/>
            <a:ext cx="7315200" cy="2679312"/>
          </a:xfrm>
          <a:prstGeom prst="rect">
            <a:avLst/>
          </a:prstGeom>
        </p:spPr>
      </p:pic>
      <p:pic>
        <p:nvPicPr>
          <p:cNvPr id="9" name="Picture 8" descr="fig_confusion.png"/>
          <p:cNvPicPr>
            <a:picLocks noChangeAspect="1"/>
          </p:cNvPicPr>
          <p:nvPr/>
        </p:nvPicPr>
        <p:blipFill>
          <a:blip r:embed="rId4"/>
          <a:stretch>
            <a:fillRect/>
          </a:stretch>
        </p:blipFill>
        <p:spPr>
          <a:xfrm>
            <a:off x="356616" y="4572000"/>
            <a:ext cx="4572000" cy="1603424"/>
          </a:xfrm>
          <a:prstGeom prst="rect">
            <a:avLst/>
          </a:prstGeom>
        </p:spPr>
      </p:pic>
      <p:sp>
        <p:nvSpPr>
          <p:cNvPr id="10" name="Rectangle 9"/>
          <p:cNvSpPr/>
          <p:nvPr/>
        </p:nvSpPr>
        <p:spPr>
          <a:xfrm>
            <a:off x="8046720" y="1828800"/>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0" y="1965960"/>
            <a:ext cx="3108960" cy="365760"/>
          </a:xfrm>
          <a:prstGeom prst="rect">
            <a:avLst/>
          </a:prstGeom>
          <a:noFill/>
        </p:spPr>
        <p:txBody>
          <a:bodyPr wrap="square" lIns="0" tIns="0" rIns="0" bIns="0" anchor="t">
            <a:spAutoFit/>
          </a:bodyPr>
          <a:lstStyle/>
          <a:p>
            <a:pPr algn="l">
              <a:spcAft>
                <a:spcPts val="400"/>
              </a:spcAft>
            </a:pPr>
            <a:r>
              <a:rPr sz="1500" b="1" i="0">
                <a:solidFill>
                  <a:srgbClr val="DF4807"/>
                </a:solidFill>
              </a:rPr>
              <a:t>Critical infrastructure</a:t>
            </a:r>
          </a:p>
        </p:txBody>
      </p:sp>
      <p:sp>
        <p:nvSpPr>
          <p:cNvPr id="12" name="TextBox 11"/>
          <p:cNvSpPr txBox="1"/>
          <p:nvPr/>
        </p:nvSpPr>
        <p:spPr>
          <a:xfrm>
            <a:off x="8229600" y="2377440"/>
            <a:ext cx="3108960" cy="1280160"/>
          </a:xfrm>
          <a:prstGeom prst="rect">
            <a:avLst/>
          </a:prstGeom>
          <a:noFill/>
        </p:spPr>
        <p:txBody>
          <a:bodyPr wrap="square" lIns="0" tIns="0" rIns="0" bIns="0" anchor="t">
            <a:spAutoFit/>
          </a:bodyPr>
          <a:lstStyle/>
          <a:p>
            <a:pPr algn="l">
              <a:spcAft>
                <a:spcPts val="400"/>
              </a:spcAft>
            </a:pPr>
            <a:r>
              <a:rPr sz="1300" b="0" i="0">
                <a:solidFill>
                  <a:srgbClr val="575756"/>
                </a:solidFill>
              </a:rPr>
              <a:t>Hardest for both RAG systems (0.61, 0.56). The test is safety component, not sector.</a:t>
            </a:r>
          </a:p>
        </p:txBody>
      </p:sp>
      <p:sp>
        <p:nvSpPr>
          <p:cNvPr id="13" name="Rectangle 12"/>
          <p:cNvSpPr/>
          <p:nvPr/>
        </p:nvSpPr>
        <p:spPr>
          <a:xfrm>
            <a:off x="8046720" y="3977639"/>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29600" y="4114800"/>
            <a:ext cx="3108960" cy="365760"/>
          </a:xfrm>
          <a:prstGeom prst="rect">
            <a:avLst/>
          </a:prstGeom>
          <a:noFill/>
        </p:spPr>
        <p:txBody>
          <a:bodyPr wrap="square" lIns="0" tIns="0" rIns="0" bIns="0" anchor="t">
            <a:spAutoFit/>
          </a:bodyPr>
          <a:lstStyle/>
          <a:p>
            <a:pPr algn="l">
              <a:spcAft>
                <a:spcPts val="400"/>
              </a:spcAft>
            </a:pPr>
            <a:r>
              <a:rPr sz="1500" b="1" i="0">
                <a:solidFill>
                  <a:srgbClr val="DF4807"/>
                </a:solidFill>
              </a:rPr>
              <a:t>Law enforcement</a:t>
            </a:r>
          </a:p>
        </p:txBody>
      </p:sp>
      <p:sp>
        <p:nvSpPr>
          <p:cNvPr id="15" name="TextBox 14"/>
          <p:cNvSpPr txBox="1"/>
          <p:nvPr/>
        </p:nvSpPr>
        <p:spPr>
          <a:xfrm>
            <a:off x="8229600" y="4526280"/>
            <a:ext cx="3108960" cy="1280160"/>
          </a:xfrm>
          <a:prstGeom prst="rect">
            <a:avLst/>
          </a:prstGeom>
          <a:noFill/>
        </p:spPr>
        <p:txBody>
          <a:bodyPr wrap="square" lIns="0" tIns="0" rIns="0" bIns="0" anchor="t">
            <a:spAutoFit/>
          </a:bodyPr>
          <a:lstStyle/>
          <a:p>
            <a:pPr algn="l">
              <a:spcAft>
                <a:spcPts val="400"/>
              </a:spcAft>
            </a:pPr>
            <a:r>
              <a:rPr sz="1300" b="0" i="0">
                <a:solidFill>
                  <a:srgbClr val="575756"/>
                </a:solidFill>
              </a:rPr>
              <a:t>Plain LLM collapses to 0.26: it calls most police uses high-risk. RAG fixes this (0.87+).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 2: faithfulness misses wrong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12</a:t>
            </a:fld>
            <a:endParaRPr lang="de-DE"/>
          </a:p>
        </p:txBody>
      </p:sp>
      <p:sp>
        <p:nvSpPr>
          <p:cNvPr id="7" name="TextBox 6"/>
          <p:cNvSpPr txBox="1"/>
          <p:nvPr/>
        </p:nvSpPr>
        <p:spPr>
          <a:xfrm>
            <a:off x="356616" y="1325880"/>
            <a:ext cx="10972800" cy="365760"/>
          </a:xfrm>
          <a:prstGeom prst="rect">
            <a:avLst/>
          </a:prstGeom>
          <a:noFill/>
        </p:spPr>
        <p:txBody>
          <a:bodyPr wrap="square" lIns="0" tIns="0" rIns="0" bIns="0" anchor="t">
            <a:spAutoFit/>
          </a:bodyPr>
          <a:lstStyle/>
          <a:p>
            <a:pPr algn="l">
              <a:spcAft>
                <a:spcPts val="400"/>
              </a:spcAft>
            </a:pPr>
            <a:r>
              <a:rPr sz="1600" b="0" i="0">
                <a:solidFill>
                  <a:srgbClr val="575756"/>
                </a:solidFill>
              </a:rPr>
              <a:t>RAGAS faithfulness of every answer, split by whether the label was correct</a:t>
            </a:r>
          </a:p>
        </p:txBody>
      </p:sp>
      <p:pic>
        <p:nvPicPr>
          <p:cNvPr id="8" name="Picture 7" descr="fig3_faithfulness.png"/>
          <p:cNvPicPr>
            <a:picLocks noChangeAspect="1"/>
          </p:cNvPicPr>
          <p:nvPr/>
        </p:nvPicPr>
        <p:blipFill>
          <a:blip r:embed="rId3"/>
          <a:stretch>
            <a:fillRect/>
          </a:stretch>
        </p:blipFill>
        <p:spPr>
          <a:xfrm>
            <a:off x="356616" y="1828800"/>
            <a:ext cx="7863840" cy="4045852"/>
          </a:xfrm>
          <a:prstGeom prst="rect">
            <a:avLst/>
          </a:prstGeom>
        </p:spPr>
      </p:pic>
      <p:sp>
        <p:nvSpPr>
          <p:cNvPr id="9" name="TextBox 8"/>
          <p:cNvSpPr txBox="1"/>
          <p:nvPr/>
        </p:nvSpPr>
        <p:spPr>
          <a:xfrm>
            <a:off x="8595360" y="1920240"/>
            <a:ext cx="3017520" cy="594360"/>
          </a:xfrm>
          <a:prstGeom prst="rect">
            <a:avLst/>
          </a:prstGeom>
          <a:noFill/>
        </p:spPr>
        <p:txBody>
          <a:bodyPr wrap="square" lIns="0" tIns="0" rIns="0" bIns="0" anchor="t">
            <a:spAutoFit/>
          </a:bodyPr>
          <a:lstStyle/>
          <a:p>
            <a:pPr algn="l">
              <a:spcAft>
                <a:spcPts val="400"/>
              </a:spcAft>
            </a:pPr>
            <a:r>
              <a:rPr sz="3400" b="1" i="0">
                <a:solidFill>
                  <a:srgbClr val="DF4807"/>
                </a:solidFill>
              </a:rPr>
              <a:t>0.465</a:t>
            </a:r>
          </a:p>
        </p:txBody>
      </p:sp>
      <p:sp>
        <p:nvSpPr>
          <p:cNvPr id="10" name="TextBox 9"/>
          <p:cNvSpPr txBox="1"/>
          <p:nvPr/>
        </p:nvSpPr>
        <p:spPr>
          <a:xfrm>
            <a:off x="8595360" y="2542032"/>
            <a:ext cx="3017520" cy="685800"/>
          </a:xfrm>
          <a:prstGeom prst="rect">
            <a:avLst/>
          </a:prstGeom>
          <a:noFill/>
        </p:spPr>
        <p:txBody>
          <a:bodyPr wrap="square" lIns="0" tIns="0" rIns="0" bIns="0" anchor="t">
            <a:spAutoFit/>
          </a:bodyPr>
          <a:lstStyle/>
          <a:p>
            <a:pPr algn="l">
              <a:spcAft>
                <a:spcPts val="400"/>
              </a:spcAft>
            </a:pPr>
            <a:r>
              <a:rPr sz="1200" b="0" i="0">
                <a:solidFill>
                  <a:srgbClr val="575756"/>
                </a:solidFill>
              </a:rPr>
              <a:t>agent AUC (95% CI 0.36 to 0.57): chance level</a:t>
            </a:r>
          </a:p>
        </p:txBody>
      </p:sp>
      <p:sp>
        <p:nvSpPr>
          <p:cNvPr id="11" name="TextBox 10"/>
          <p:cNvSpPr txBox="1"/>
          <p:nvPr/>
        </p:nvSpPr>
        <p:spPr>
          <a:xfrm>
            <a:off x="8595360" y="3291840"/>
            <a:ext cx="3017520" cy="594360"/>
          </a:xfrm>
          <a:prstGeom prst="rect">
            <a:avLst/>
          </a:prstGeom>
          <a:noFill/>
        </p:spPr>
        <p:txBody>
          <a:bodyPr wrap="square" lIns="0" tIns="0" rIns="0" bIns="0" anchor="t">
            <a:spAutoFit/>
          </a:bodyPr>
          <a:lstStyle/>
          <a:p>
            <a:pPr algn="l">
              <a:spcAft>
                <a:spcPts val="400"/>
              </a:spcAft>
            </a:pPr>
            <a:r>
              <a:rPr sz="3000" b="1" i="0">
                <a:solidFill>
                  <a:srgbClr val="DF4807"/>
                </a:solidFill>
              </a:rPr>
              <a:t>0.49 vs 0.45</a:t>
            </a:r>
          </a:p>
        </p:txBody>
      </p:sp>
      <p:sp>
        <p:nvSpPr>
          <p:cNvPr id="12" name="TextBox 11"/>
          <p:cNvSpPr txBox="1"/>
          <p:nvPr/>
        </p:nvSpPr>
        <p:spPr>
          <a:xfrm>
            <a:off x="8595360" y="3913632"/>
            <a:ext cx="3017520" cy="685800"/>
          </a:xfrm>
          <a:prstGeom prst="rect">
            <a:avLst/>
          </a:prstGeom>
          <a:noFill/>
        </p:spPr>
        <p:txBody>
          <a:bodyPr wrap="square" lIns="0" tIns="0" rIns="0" bIns="0" anchor="t">
            <a:spAutoFit/>
          </a:bodyPr>
          <a:lstStyle/>
          <a:p>
            <a:pPr algn="l">
              <a:spcAft>
                <a:spcPts val="400"/>
              </a:spcAft>
            </a:pPr>
            <a:r>
              <a:rPr sz="1200" b="0" i="0">
                <a:solidFill>
                  <a:srgbClr val="575756"/>
                </a:solidFill>
              </a:rPr>
              <a:t>agent: wrong answers score slightly higher than right ones</a:t>
            </a:r>
          </a:p>
        </p:txBody>
      </p:sp>
      <p:sp>
        <p:nvSpPr>
          <p:cNvPr id="13" name="TextBox 12"/>
          <p:cNvSpPr txBox="1"/>
          <p:nvPr/>
        </p:nvSpPr>
        <p:spPr>
          <a:xfrm>
            <a:off x="8595360" y="4663440"/>
            <a:ext cx="3017520" cy="594360"/>
          </a:xfrm>
          <a:prstGeom prst="rect">
            <a:avLst/>
          </a:prstGeom>
          <a:noFill/>
        </p:spPr>
        <p:txBody>
          <a:bodyPr wrap="square" lIns="0" tIns="0" rIns="0" bIns="0" anchor="t">
            <a:spAutoFit/>
          </a:bodyPr>
          <a:lstStyle/>
          <a:p>
            <a:pPr algn="l">
              <a:spcAft>
                <a:spcPts val="400"/>
              </a:spcAft>
            </a:pPr>
            <a:r>
              <a:rPr sz="3400" b="1" i="0">
                <a:solidFill>
                  <a:srgbClr val="575756"/>
                </a:solidFill>
              </a:rPr>
              <a:t>0.615</a:t>
            </a:r>
          </a:p>
        </p:txBody>
      </p:sp>
      <p:sp>
        <p:nvSpPr>
          <p:cNvPr id="14" name="TextBox 13"/>
          <p:cNvSpPr txBox="1"/>
          <p:nvPr/>
        </p:nvSpPr>
        <p:spPr>
          <a:xfrm>
            <a:off x="8595360" y="5285231"/>
            <a:ext cx="3017520" cy="685800"/>
          </a:xfrm>
          <a:prstGeom prst="rect">
            <a:avLst/>
          </a:prstGeom>
          <a:noFill/>
        </p:spPr>
        <p:txBody>
          <a:bodyPr wrap="square" lIns="0" tIns="0" rIns="0" bIns="0" anchor="t">
            <a:spAutoFit/>
          </a:bodyPr>
          <a:lstStyle/>
          <a:p>
            <a:pPr algn="l">
              <a:spcAft>
                <a:spcPts val="400"/>
              </a:spcAft>
            </a:pPr>
            <a:r>
              <a:rPr sz="1200" b="0" i="0">
                <a:solidFill>
                  <a:srgbClr val="575756"/>
                </a:solidFill>
              </a:rPr>
              <a:t>standard RAG AUC: weak signal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Both off-diagonal buckets are populated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13</a:t>
            </a:fld>
            <a:endParaRPr lang="de-DE"/>
          </a:p>
        </p:txBody>
      </p:sp>
      <p:sp>
        <p:nvSpPr>
          <p:cNvPr id="7" name="TextBox 6"/>
          <p:cNvSpPr txBox="1"/>
          <p:nvPr/>
        </p:nvSpPr>
        <p:spPr>
          <a:xfrm>
            <a:off x="356616" y="1325880"/>
            <a:ext cx="10972800" cy="365760"/>
          </a:xfrm>
          <a:prstGeom prst="rect">
            <a:avLst/>
          </a:prstGeom>
          <a:noFill/>
        </p:spPr>
        <p:txBody>
          <a:bodyPr wrap="square" lIns="0" tIns="0" rIns="0" bIns="0" anchor="t">
            <a:spAutoFit/>
          </a:bodyPr>
          <a:lstStyle/>
          <a:p>
            <a:pPr algn="l">
              <a:spcAft>
                <a:spcPts val="400"/>
              </a:spcAft>
            </a:pPr>
            <a:r>
              <a:rPr sz="1600" b="0" i="0">
                <a:solidFill>
                  <a:srgbClr val="575756"/>
                </a:solidFill>
              </a:rPr>
              <a:t>Four-bucket matrix at a faithful cut of 0.5</a:t>
            </a:r>
          </a:p>
        </p:txBody>
      </p:sp>
      <p:pic>
        <p:nvPicPr>
          <p:cNvPr id="8" name="Picture 7" descr="fig_buckets.png"/>
          <p:cNvPicPr>
            <a:picLocks noChangeAspect="1"/>
          </p:cNvPicPr>
          <p:nvPr/>
        </p:nvPicPr>
        <p:blipFill>
          <a:blip r:embed="rId3"/>
          <a:stretch>
            <a:fillRect/>
          </a:stretch>
        </p:blipFill>
        <p:spPr>
          <a:xfrm>
            <a:off x="356616" y="1828800"/>
            <a:ext cx="7863840" cy="3471085"/>
          </a:xfrm>
          <a:prstGeom prst="rect">
            <a:avLst/>
          </a:prstGeom>
        </p:spPr>
      </p:pic>
      <p:sp>
        <p:nvSpPr>
          <p:cNvPr id="9" name="TextBox 8"/>
          <p:cNvSpPr txBox="1"/>
          <p:nvPr/>
        </p:nvSpPr>
        <p:spPr>
          <a:xfrm>
            <a:off x="8595360" y="1920240"/>
            <a:ext cx="3017520" cy="594360"/>
          </a:xfrm>
          <a:prstGeom prst="rect">
            <a:avLst/>
          </a:prstGeom>
          <a:noFill/>
        </p:spPr>
        <p:txBody>
          <a:bodyPr wrap="square" lIns="0" tIns="0" rIns="0" bIns="0" anchor="t">
            <a:spAutoFit/>
          </a:bodyPr>
          <a:lstStyle/>
          <a:p>
            <a:pPr algn="l">
              <a:spcAft>
                <a:spcPts val="400"/>
              </a:spcAft>
            </a:pPr>
            <a:r>
              <a:rPr sz="3400" b="1" i="0">
                <a:solidFill>
                  <a:srgbClr val="DF4807"/>
                </a:solidFill>
              </a:rPr>
              <a:t>17 of 31</a:t>
            </a:r>
          </a:p>
        </p:txBody>
      </p:sp>
      <p:sp>
        <p:nvSpPr>
          <p:cNvPr id="10" name="TextBox 9"/>
          <p:cNvSpPr txBox="1"/>
          <p:nvPr/>
        </p:nvSpPr>
        <p:spPr>
          <a:xfrm>
            <a:off x="8595360" y="2542032"/>
            <a:ext cx="3017520" cy="685800"/>
          </a:xfrm>
          <a:prstGeom prst="rect">
            <a:avLst/>
          </a:prstGeom>
          <a:noFill/>
        </p:spPr>
        <p:txBody>
          <a:bodyPr wrap="square" lIns="0" tIns="0" rIns="0" bIns="0" anchor="t">
            <a:spAutoFit/>
          </a:bodyPr>
          <a:lstStyle/>
          <a:p>
            <a:pPr algn="l">
              <a:spcAft>
                <a:spcPts val="400"/>
              </a:spcAft>
            </a:pPr>
            <a:r>
              <a:rPr sz="1200" b="0" i="0">
                <a:solidFill>
                  <a:srgbClr val="575756"/>
                </a:solidFill>
              </a:rPr>
              <a:t>agent errors that pass as faithful (55%)</a:t>
            </a:r>
          </a:p>
        </p:txBody>
      </p:sp>
      <p:sp>
        <p:nvSpPr>
          <p:cNvPr id="11" name="TextBox 10"/>
          <p:cNvSpPr txBox="1"/>
          <p:nvPr/>
        </p:nvSpPr>
        <p:spPr>
          <a:xfrm>
            <a:off x="8595360" y="3291840"/>
            <a:ext cx="3017520" cy="594360"/>
          </a:xfrm>
          <a:prstGeom prst="rect">
            <a:avLst/>
          </a:prstGeom>
          <a:noFill/>
        </p:spPr>
        <p:txBody>
          <a:bodyPr wrap="square" lIns="0" tIns="0" rIns="0" bIns="0" anchor="t">
            <a:spAutoFit/>
          </a:bodyPr>
          <a:lstStyle/>
          <a:p>
            <a:pPr algn="l">
              <a:spcAft>
                <a:spcPts val="400"/>
              </a:spcAft>
            </a:pPr>
            <a:r>
              <a:rPr sz="3400" b="1" i="0">
                <a:solidFill>
                  <a:srgbClr val="575756"/>
                </a:solidFill>
              </a:rPr>
              <a:t>93 of 184</a:t>
            </a:r>
          </a:p>
        </p:txBody>
      </p:sp>
      <p:sp>
        <p:nvSpPr>
          <p:cNvPr id="12" name="TextBox 11"/>
          <p:cNvSpPr txBox="1"/>
          <p:nvPr/>
        </p:nvSpPr>
        <p:spPr>
          <a:xfrm>
            <a:off x="8595360" y="3913632"/>
            <a:ext cx="3017520" cy="685800"/>
          </a:xfrm>
          <a:prstGeom prst="rect">
            <a:avLst/>
          </a:prstGeom>
          <a:noFill/>
        </p:spPr>
        <p:txBody>
          <a:bodyPr wrap="square" lIns="0" tIns="0" rIns="0" bIns="0" anchor="t">
            <a:spAutoFit/>
          </a:bodyPr>
          <a:lstStyle/>
          <a:p>
            <a:pPr algn="l">
              <a:spcAft>
                <a:spcPts val="400"/>
              </a:spcAft>
            </a:pPr>
            <a:r>
              <a:rPr sz="1200" b="0" i="0">
                <a:solidFill>
                  <a:srgbClr val="575756"/>
                </a:solidFill>
              </a:rPr>
              <a:t>correct agent answers scored as unfaithful</a:t>
            </a:r>
          </a:p>
        </p:txBody>
      </p:sp>
      <p:sp>
        <p:nvSpPr>
          <p:cNvPr id="13" name="TextBox 12"/>
          <p:cNvSpPr txBox="1"/>
          <p:nvPr/>
        </p:nvSpPr>
        <p:spPr>
          <a:xfrm>
            <a:off x="356616" y="5440680"/>
            <a:ext cx="7863840" cy="731520"/>
          </a:xfrm>
          <a:prstGeom prst="rect">
            <a:avLst/>
          </a:prstGeom>
          <a:noFill/>
        </p:spPr>
        <p:txBody>
          <a:bodyPr wrap="square" lIns="0" tIns="0" rIns="0" bIns="0" anchor="t">
            <a:spAutoFit/>
          </a:bodyPr>
          <a:lstStyle/>
          <a:p>
            <a:pPr algn="l">
              <a:spcAft>
                <a:spcPts val="400"/>
              </a:spcAft>
            </a:pPr>
            <a:r>
              <a:rPr sz="1200" b="0" i="0">
                <a:solidFill>
                  <a:srgbClr val="575756"/>
                </a:solidFill>
              </a:rPr>
              <a:t>Part of the right-but-unfaithful effect is mechanical: sentences that restate the input are not in the passages, so the judge marks them unsupported. That is how RAGAS is defined.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wrong answers look grounded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14</a:t>
            </a:fld>
            <a:endParaRPr lang="de-DE"/>
          </a:p>
        </p:txBody>
      </p:sp>
      <p:sp>
        <p:nvSpPr>
          <p:cNvPr id="7" name="TextBox 6"/>
          <p:cNvSpPr txBox="1"/>
          <p:nvPr/>
        </p:nvSpPr>
        <p:spPr>
          <a:xfrm>
            <a:off x="356616" y="1325880"/>
            <a:ext cx="10972800" cy="365760"/>
          </a:xfrm>
          <a:prstGeom prst="rect">
            <a:avLst/>
          </a:prstGeom>
          <a:noFill/>
        </p:spPr>
        <p:txBody>
          <a:bodyPr wrap="square" lIns="0" tIns="0" rIns="0" bIns="0" anchor="t">
            <a:spAutoFit/>
          </a:bodyPr>
          <a:lstStyle/>
          <a:p>
            <a:pPr algn="l">
              <a:spcAft>
                <a:spcPts val="400"/>
              </a:spcAft>
            </a:pPr>
            <a:r>
              <a:rPr sz="1600" b="0" i="0">
                <a:solidFill>
                  <a:srgbClr val="575756"/>
                </a:solidFill>
              </a:rPr>
              <a:t>All 17 faithful-but-wrong agent answers read and categorised</a:t>
            </a:r>
          </a:p>
        </p:txBody>
      </p:sp>
      <p:graphicFrame>
        <p:nvGraphicFramePr>
          <p:cNvPr id="8" name="Chart 7"/>
          <p:cNvGraphicFramePr>
            <a:graphicFrameLocks noGrp="1"/>
          </p:cNvGraphicFramePr>
          <p:nvPr/>
        </p:nvGraphicFramePr>
        <p:xfrm>
          <a:off x="356616" y="1783080"/>
          <a:ext cx="58521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356616" y="4892040"/>
            <a:ext cx="2743200" cy="594360"/>
          </a:xfrm>
          <a:prstGeom prst="rect">
            <a:avLst/>
          </a:prstGeom>
          <a:noFill/>
        </p:spPr>
        <p:txBody>
          <a:bodyPr wrap="square" lIns="0" tIns="0" rIns="0" bIns="0" anchor="t">
            <a:spAutoFit/>
          </a:bodyPr>
          <a:lstStyle/>
          <a:p>
            <a:pPr algn="l">
              <a:spcAft>
                <a:spcPts val="400"/>
              </a:spcAft>
            </a:pPr>
            <a:r>
              <a:rPr sz="3400" b="1" i="0">
                <a:solidFill>
                  <a:srgbClr val="DF4807"/>
                </a:solidFill>
              </a:rPr>
              <a:t>14 / 17</a:t>
            </a:r>
          </a:p>
        </p:txBody>
      </p:sp>
      <p:sp>
        <p:nvSpPr>
          <p:cNvPr id="10" name="TextBox 9"/>
          <p:cNvSpPr txBox="1"/>
          <p:nvPr/>
        </p:nvSpPr>
        <p:spPr>
          <a:xfrm>
            <a:off x="356616" y="5513831"/>
            <a:ext cx="2743200" cy="685800"/>
          </a:xfrm>
          <a:prstGeom prst="rect">
            <a:avLst/>
          </a:prstGeom>
          <a:noFill/>
        </p:spPr>
        <p:txBody>
          <a:bodyPr wrap="square" lIns="0" tIns="0" rIns="0" bIns="0" anchor="t">
            <a:spAutoFit/>
          </a:bodyPr>
          <a:lstStyle/>
          <a:p>
            <a:pPr algn="l">
              <a:spcAft>
                <a:spcPts val="400"/>
              </a:spcAft>
            </a:pPr>
            <a:r>
              <a:rPr sz="1200" b="0" i="0">
                <a:solidFill>
                  <a:srgbClr val="575756"/>
                </a:solidFill>
              </a:rPr>
              <a:t>had the correct guideline section retrieved</a:t>
            </a:r>
          </a:p>
        </p:txBody>
      </p:sp>
      <p:sp>
        <p:nvSpPr>
          <p:cNvPr id="11" name="TextBox 10"/>
          <p:cNvSpPr txBox="1"/>
          <p:nvPr/>
        </p:nvSpPr>
        <p:spPr>
          <a:xfrm>
            <a:off x="3291840" y="4892040"/>
            <a:ext cx="2926080" cy="594360"/>
          </a:xfrm>
          <a:prstGeom prst="rect">
            <a:avLst/>
          </a:prstGeom>
          <a:noFill/>
        </p:spPr>
        <p:txBody>
          <a:bodyPr wrap="square" lIns="0" tIns="0" rIns="0" bIns="0" anchor="t">
            <a:spAutoFit/>
          </a:bodyPr>
          <a:lstStyle/>
          <a:p>
            <a:pPr algn="l">
              <a:spcAft>
                <a:spcPts val="400"/>
              </a:spcAft>
            </a:pPr>
            <a:r>
              <a:rPr sz="3400" b="1" i="0">
                <a:solidFill>
                  <a:srgbClr val="DF4807"/>
                </a:solidFill>
              </a:rPr>
              <a:t>21 / 31</a:t>
            </a:r>
          </a:p>
        </p:txBody>
      </p:sp>
      <p:sp>
        <p:nvSpPr>
          <p:cNvPr id="12" name="TextBox 11"/>
          <p:cNvSpPr txBox="1"/>
          <p:nvPr/>
        </p:nvSpPr>
        <p:spPr>
          <a:xfrm>
            <a:off x="3291840" y="5513831"/>
            <a:ext cx="2926080" cy="685800"/>
          </a:xfrm>
          <a:prstGeom prst="rect">
            <a:avLst/>
          </a:prstGeom>
          <a:noFill/>
        </p:spPr>
        <p:txBody>
          <a:bodyPr wrap="square" lIns="0" tIns="0" rIns="0" bIns="0" anchor="t">
            <a:spAutoFit/>
          </a:bodyPr>
          <a:lstStyle/>
          <a:p>
            <a:pPr algn="l">
              <a:spcAft>
                <a:spcPts val="400"/>
              </a:spcAft>
            </a:pPr>
            <a:r>
              <a:rPr sz="1200" b="0" i="0">
                <a:solidFill>
                  <a:srgbClr val="575756"/>
                </a:solidFill>
              </a:rPr>
              <a:t>verdict statements judged 'supported'</a:t>
            </a:r>
          </a:p>
        </p:txBody>
      </p:sp>
      <p:sp>
        <p:nvSpPr>
          <p:cNvPr id="13" name="Rectangle 12"/>
          <p:cNvSpPr/>
          <p:nvPr/>
        </p:nvSpPr>
        <p:spPr>
          <a:xfrm>
            <a:off x="6583680" y="1783080"/>
            <a:ext cx="4937760" cy="434340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12280" y="1920240"/>
            <a:ext cx="4480560" cy="4114800"/>
          </a:xfrm>
          <a:prstGeom prst="rect">
            <a:avLst/>
          </a:prstGeom>
          <a:noFill/>
        </p:spPr>
        <p:txBody>
          <a:bodyPr wrap="square" lIns="0" tIns="0" rIns="0" bIns="0" anchor="t">
            <a:spAutoFit/>
          </a:bodyPr>
          <a:lstStyle/>
          <a:p>
            <a:pPr algn="l">
              <a:spcAft>
                <a:spcPts val="800"/>
              </a:spcAft>
            </a:pPr>
            <a:r>
              <a:rPr sz="1600" b="1" i="0">
                <a:solidFill>
                  <a:srgbClr val="DF4807"/>
                </a:solidFill>
              </a:rPr>
              <a:t>Case: input 207</a:t>
            </a:r>
          </a:p>
          <a:p>
            <a:pPr algn="l">
              <a:spcAft>
                <a:spcPts val="1000"/>
              </a:spcAft>
            </a:pPr>
            <a:r>
              <a:rPr sz="1300" b="0" i="0">
                <a:solidFill>
                  <a:srgbClr val="575756"/>
                </a:solidFill>
              </a:rPr>
              <a:t>A tool that pre-classifies incoming court cases by type.</a:t>
            </a:r>
          </a:p>
          <a:p>
            <a:pPr algn="l">
              <a:spcAft>
                <a:spcPts val="0"/>
              </a:spcAft>
            </a:pPr>
            <a:r>
              <a:rPr sz="1300" b="1" i="0">
                <a:solidFill>
                  <a:srgbClr val="575756"/>
                </a:solidFill>
              </a:rPr>
              <a:t>Agent: </a:t>
            </a:r>
          </a:p>
          <a:p>
            <a:pPr algn="l">
              <a:spcAft>
                <a:spcPts val="1000"/>
              </a:spcAft>
            </a:pPr>
            <a:r>
              <a:rPr sz="1300" b="0" i="0">
                <a:solidFill>
                  <a:srgbClr val="575756"/>
                </a:solidFill>
              </a:rPr>
              <a:t>places it under point 8(a), then asserts no Article 6(3) condition applies. Label: high-risk.</a:t>
            </a:r>
          </a:p>
          <a:p>
            <a:pPr algn="l">
              <a:spcAft>
                <a:spcPts val="0"/>
              </a:spcAft>
            </a:pPr>
            <a:r>
              <a:rPr sz="1300" b="1" i="0">
                <a:solidFill>
                  <a:srgbClr val="575756"/>
                </a:solidFill>
              </a:rPr>
              <a:t>Commission: </a:t>
            </a:r>
          </a:p>
          <a:p>
            <a:pPr algn="l">
              <a:spcAft>
                <a:spcPts val="1000"/>
              </a:spcAft>
            </a:pPr>
            <a:r>
              <a:rPr sz="1300" b="0" i="0">
                <a:solidFill>
                  <a:srgbClr val="575756"/>
                </a:solidFill>
              </a:rPr>
              <a:t>narrow procedural / preparatory task. Not high-risk.</a:t>
            </a:r>
          </a:p>
          <a:p>
            <a:pPr algn="l">
              <a:spcAft>
                <a:spcPts val="400"/>
              </a:spcAft>
            </a:pPr>
            <a:r>
              <a:rPr sz="1400" b="1" i="0">
                <a:solidFill>
                  <a:srgbClr val="DF4807"/>
                </a:solidFill>
              </a:rPr>
              <a:t>Faithfulness: 6 of 6 statements supported = 1.00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04</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15</a:t>
            </a:fld>
            <a:endParaRPr lang="de-D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16</a:t>
            </a:fld>
            <a:endParaRPr lang="de-DE"/>
          </a:p>
        </p:txBody>
      </p:sp>
      <p:sp>
        <p:nvSpPr>
          <p:cNvPr id="7" name="Rectangle 6"/>
          <p:cNvSpPr/>
          <p:nvPr/>
        </p:nvSpPr>
        <p:spPr>
          <a:xfrm>
            <a:off x="356616" y="1463040"/>
            <a:ext cx="5440680" cy="210312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58521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9" name="TextBox 8"/>
          <p:cNvSpPr txBox="1"/>
          <p:nvPr/>
        </p:nvSpPr>
        <p:spPr>
          <a:xfrm>
            <a:off x="1133856" y="1691640"/>
            <a:ext cx="4480560" cy="457200"/>
          </a:xfrm>
          <a:prstGeom prst="rect">
            <a:avLst/>
          </a:prstGeom>
          <a:noFill/>
        </p:spPr>
        <p:txBody>
          <a:bodyPr wrap="square" lIns="0" tIns="0" rIns="0" bIns="0" anchor="t">
            <a:spAutoFit/>
          </a:bodyPr>
          <a:lstStyle/>
          <a:p>
            <a:pPr algn="l">
              <a:spcAft>
                <a:spcPts val="400"/>
              </a:spcAft>
            </a:pPr>
            <a:r>
              <a:rPr sz="1600" b="1" i="0">
                <a:solidFill>
                  <a:srgbClr val="DF4807"/>
                </a:solidFill>
              </a:rPr>
              <a:t>Faithfulness is not correctness</a:t>
            </a:r>
          </a:p>
        </p:txBody>
      </p:sp>
      <p:sp>
        <p:nvSpPr>
          <p:cNvPr id="10" name="TextBox 9"/>
          <p:cNvSpPr txBox="1"/>
          <p:nvPr/>
        </p:nvSpPr>
        <p:spPr>
          <a:xfrm>
            <a:off x="1133856" y="2240280"/>
            <a:ext cx="4480560" cy="1234440"/>
          </a:xfrm>
          <a:prstGeom prst="rect">
            <a:avLst/>
          </a:prstGeom>
          <a:noFill/>
        </p:spPr>
        <p:txBody>
          <a:bodyPr wrap="square" lIns="0" tIns="0" rIns="0" bIns="0" anchor="t">
            <a:spAutoFit/>
          </a:bodyPr>
          <a:lstStyle/>
          <a:p>
            <a:pPr algn="l">
              <a:spcAft>
                <a:spcPts val="400"/>
              </a:spcAft>
            </a:pPr>
            <a:r>
              <a:rPr sz="1300" b="0" i="0">
                <a:solidFill>
                  <a:srgbClr val="575756"/>
                </a:solidFill>
              </a:rPr>
              <a:t>For the agent, faithfulness is at chance level for spotting wrong labels (AUC 0.465). 17 of 31 errors pass as faithful.</a:t>
            </a:r>
          </a:p>
        </p:txBody>
      </p:sp>
      <p:sp>
        <p:nvSpPr>
          <p:cNvPr id="11" name="Rectangle 10"/>
          <p:cNvSpPr/>
          <p:nvPr/>
        </p:nvSpPr>
        <p:spPr>
          <a:xfrm>
            <a:off x="6025896" y="146304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25449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13" name="TextBox 12"/>
          <p:cNvSpPr txBox="1"/>
          <p:nvPr/>
        </p:nvSpPr>
        <p:spPr>
          <a:xfrm>
            <a:off x="6803136" y="1691640"/>
            <a:ext cx="4480560" cy="457200"/>
          </a:xfrm>
          <a:prstGeom prst="rect">
            <a:avLst/>
          </a:prstGeom>
          <a:noFill/>
        </p:spPr>
        <p:txBody>
          <a:bodyPr wrap="square" lIns="0" tIns="0" rIns="0" bIns="0" anchor="t">
            <a:spAutoFit/>
          </a:bodyPr>
          <a:lstStyle/>
          <a:p>
            <a:pPr algn="l">
              <a:spcAft>
                <a:spcPts val="400"/>
              </a:spcAft>
            </a:pPr>
            <a:r>
              <a:rPr sz="1600" b="1" i="0">
                <a:solidFill>
                  <a:srgbClr val="DF4807"/>
                </a:solidFill>
              </a:rPr>
              <a:t>Errors are application errors</a:t>
            </a:r>
          </a:p>
        </p:txBody>
      </p:sp>
      <p:sp>
        <p:nvSpPr>
          <p:cNvPr id="14" name="TextBox 13"/>
          <p:cNvSpPr txBox="1"/>
          <p:nvPr/>
        </p:nvSpPr>
        <p:spPr>
          <a:xfrm>
            <a:off x="6803136" y="2240280"/>
            <a:ext cx="4480560" cy="1234440"/>
          </a:xfrm>
          <a:prstGeom prst="rect">
            <a:avLst/>
          </a:prstGeom>
          <a:noFill/>
        </p:spPr>
        <p:txBody>
          <a:bodyPr wrap="square" lIns="0" tIns="0" rIns="0" bIns="0" anchor="t">
            <a:spAutoFit/>
          </a:bodyPr>
          <a:lstStyle/>
          <a:p>
            <a:pPr algn="l">
              <a:spcAft>
                <a:spcPts val="400"/>
              </a:spcAft>
            </a:pPr>
            <a:r>
              <a:rPr sz="1300" b="0" i="0">
                <a:solidFill>
                  <a:srgbClr val="575756"/>
                </a:solidFill>
              </a:rPr>
              <a:t>The right passage was retrieved in 14 of 17 cases; the model misapplied the rule, which RAGAS cannot see.</a:t>
            </a:r>
          </a:p>
        </p:txBody>
      </p:sp>
      <p:sp>
        <p:nvSpPr>
          <p:cNvPr id="15" name="Rectangle 14"/>
          <p:cNvSpPr/>
          <p:nvPr/>
        </p:nvSpPr>
        <p:spPr>
          <a:xfrm>
            <a:off x="35661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58521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7" name="TextBox 16"/>
          <p:cNvSpPr txBox="1"/>
          <p:nvPr/>
        </p:nvSpPr>
        <p:spPr>
          <a:xfrm>
            <a:off x="1133856" y="4023360"/>
            <a:ext cx="4480560" cy="457200"/>
          </a:xfrm>
          <a:prstGeom prst="rect">
            <a:avLst/>
          </a:prstGeom>
          <a:noFill/>
        </p:spPr>
        <p:txBody>
          <a:bodyPr wrap="square" lIns="0" tIns="0" rIns="0" bIns="0" anchor="t">
            <a:spAutoFit/>
          </a:bodyPr>
          <a:lstStyle/>
          <a:p>
            <a:pPr algn="l">
              <a:spcAft>
                <a:spcPts val="400"/>
              </a:spcAft>
            </a:pPr>
            <a:r>
              <a:rPr sz="1600" b="1" i="0">
                <a:solidFill>
                  <a:srgbClr val="DF4807"/>
                </a:solidFill>
              </a:rPr>
              <a:t>Retrieval matters, prompt engineering did not</a:t>
            </a:r>
          </a:p>
        </p:txBody>
      </p:sp>
      <p:sp>
        <p:nvSpPr>
          <p:cNvPr id="18" name="TextBox 17"/>
          <p:cNvSpPr txBox="1"/>
          <p:nvPr/>
        </p:nvSpPr>
        <p:spPr>
          <a:xfrm>
            <a:off x="1133856" y="4572000"/>
            <a:ext cx="4480560" cy="1234440"/>
          </a:xfrm>
          <a:prstGeom prst="rect">
            <a:avLst/>
          </a:prstGeom>
          <a:noFill/>
        </p:spPr>
        <p:txBody>
          <a:bodyPr wrap="square" lIns="0" tIns="0" rIns="0" bIns="0" anchor="t">
            <a:spAutoFit/>
          </a:bodyPr>
          <a:lstStyle/>
          <a:p>
            <a:pPr algn="l">
              <a:spcAft>
                <a:spcPts val="400"/>
              </a:spcAft>
            </a:pPr>
            <a:r>
              <a:rPr sz="1300" b="0" i="0">
                <a:solidFill>
                  <a:srgbClr val="575756"/>
                </a:solidFill>
              </a:rPr>
              <a:t>RAG adds about 19 points over the plain model; the step-by-step agent is not better than a generic RAG prompt.</a:t>
            </a:r>
          </a:p>
        </p:txBody>
      </p:sp>
      <p:sp>
        <p:nvSpPr>
          <p:cNvPr id="19" name="Rectangle 18"/>
          <p:cNvSpPr/>
          <p:nvPr/>
        </p:nvSpPr>
        <p:spPr>
          <a:xfrm>
            <a:off x="602589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25449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21" name="TextBox 20"/>
          <p:cNvSpPr txBox="1"/>
          <p:nvPr/>
        </p:nvSpPr>
        <p:spPr>
          <a:xfrm>
            <a:off x="6803136" y="4023360"/>
            <a:ext cx="4480560" cy="457200"/>
          </a:xfrm>
          <a:prstGeom prst="rect">
            <a:avLst/>
          </a:prstGeom>
          <a:noFill/>
        </p:spPr>
        <p:txBody>
          <a:bodyPr wrap="square" lIns="0" tIns="0" rIns="0" bIns="0" anchor="t">
            <a:spAutoFit/>
          </a:bodyPr>
          <a:lstStyle/>
          <a:p>
            <a:pPr algn="l">
              <a:spcAft>
                <a:spcPts val="400"/>
              </a:spcAft>
            </a:pPr>
            <a:r>
              <a:rPr sz="1600" b="1" i="0">
                <a:solidFill>
                  <a:srgbClr val="DF4807"/>
                </a:solidFill>
              </a:rPr>
              <a:t>Benchmarks from worked examples can leak</a:t>
            </a:r>
          </a:p>
        </p:txBody>
      </p:sp>
      <p:sp>
        <p:nvSpPr>
          <p:cNvPr id="22" name="TextBox 21"/>
          <p:cNvSpPr txBox="1"/>
          <p:nvPr/>
        </p:nvSpPr>
        <p:spPr>
          <a:xfrm>
            <a:off x="6803136" y="4572000"/>
            <a:ext cx="4480560" cy="1234440"/>
          </a:xfrm>
          <a:prstGeom prst="rect">
            <a:avLst/>
          </a:prstGeom>
          <a:noFill/>
        </p:spPr>
        <p:txBody>
          <a:bodyPr wrap="square" lIns="0" tIns="0" rIns="0" bIns="0" anchor="t">
            <a:spAutoFit/>
          </a:bodyPr>
          <a:lstStyle/>
          <a:p>
            <a:pPr algn="l">
              <a:spcAft>
                <a:spcPts val="400"/>
              </a:spcAft>
            </a:pPr>
            <a:r>
              <a:rPr sz="1300" b="0" i="0">
                <a:solidFill>
                  <a:srgbClr val="575756"/>
                </a:solidFill>
              </a:rPr>
              <a:t>The verdict text inflated accuracy by up to 15 points and flipped the ranking of the two best systems.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and future 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17</a:t>
            </a:fld>
            <a:endParaRPr lang="de-DE"/>
          </a:p>
        </p:txBody>
      </p:sp>
      <p:sp>
        <p:nvSpPr>
          <p:cNvPr id="7" name="Rectangle 6"/>
          <p:cNvSpPr/>
          <p:nvPr/>
        </p:nvSpPr>
        <p:spPr>
          <a:xfrm>
            <a:off x="356616" y="1463040"/>
            <a:ext cx="5440680" cy="384048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6025896" y="1463040"/>
            <a:ext cx="5440680" cy="384048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85216" y="1645920"/>
            <a:ext cx="5029200" cy="411480"/>
          </a:xfrm>
          <a:prstGeom prst="rect">
            <a:avLst/>
          </a:prstGeom>
          <a:noFill/>
        </p:spPr>
        <p:txBody>
          <a:bodyPr wrap="square" lIns="0" tIns="0" rIns="0" bIns="0" anchor="t">
            <a:spAutoFit/>
          </a:bodyPr>
          <a:lstStyle/>
          <a:p>
            <a:pPr algn="l">
              <a:spcAft>
                <a:spcPts val="400"/>
              </a:spcAft>
            </a:pPr>
            <a:r>
              <a:rPr sz="1800" b="1" i="0">
                <a:solidFill>
                  <a:srgbClr val="575756"/>
                </a:solidFill>
              </a:rPr>
              <a:t>Limitations</a:t>
            </a:r>
          </a:p>
        </p:txBody>
      </p:sp>
      <p:sp>
        <p:nvSpPr>
          <p:cNvPr id="10" name="TextBox 9"/>
          <p:cNvSpPr txBox="1"/>
          <p:nvPr/>
        </p:nvSpPr>
        <p:spPr>
          <a:xfrm>
            <a:off x="585216" y="2194560"/>
            <a:ext cx="5029200" cy="3749039"/>
          </a:xfrm>
          <a:prstGeom prst="rect">
            <a:avLst/>
          </a:prstGeom>
          <a:noFill/>
        </p:spPr>
        <p:txBody>
          <a:bodyPr wrap="square" lIns="0" tIns="0" rIns="0" bIns="0" anchor="t">
            <a:spAutoFit/>
          </a:bodyPr>
          <a:lstStyle/>
          <a:p>
            <a:pPr marL="228600" indent="-228600" algn="l">
              <a:spcAft>
                <a:spcPts val="800"/>
              </a:spcAft>
              <a:buChar char="–"/>
            </a:pPr>
            <a:r>
              <a:rPr sz="1350" b="0" i="0">
                <a:solidFill>
                  <a:srgbClr val="575756"/>
                </a:solidFill>
              </a:rPr>
              <a:t>One generator and one judge; results may depend on these models</a:t>
            </a:r>
          </a:p>
          <a:p>
            <a:pPr marL="228600" indent="-228600" algn="l">
              <a:spcAft>
                <a:spcPts val="800"/>
              </a:spcAft>
              <a:buChar char="–"/>
            </a:pPr>
            <a:r>
              <a:rPr sz="1350" b="0" i="0">
                <a:solidFill>
                  <a:srgbClr val="575756"/>
                </a:solidFill>
              </a:rPr>
              <a:t>Single annotator for redaction review and error categories</a:t>
            </a:r>
          </a:p>
          <a:p>
            <a:pPr marL="228600" indent="-228600" algn="l">
              <a:spcAft>
                <a:spcPts val="800"/>
              </a:spcAft>
              <a:buChar char="–"/>
            </a:pPr>
            <a:r>
              <a:rPr sz="1350" b="0" i="0">
                <a:solidFill>
                  <a:srgbClr val="575756"/>
                </a:solidFill>
              </a:rPr>
              <a:t>About 20 inputs still describe the legal test without stating the label</a:t>
            </a:r>
          </a:p>
          <a:p>
            <a:pPr marL="228600" indent="-228600" algn="l">
              <a:spcAft>
                <a:spcPts val="800"/>
              </a:spcAft>
              <a:buChar char="–"/>
            </a:pPr>
            <a:r>
              <a:rPr sz="1350" b="0" i="0">
                <a:solidFill>
                  <a:srgbClr val="575756"/>
                </a:solidFill>
              </a:rPr>
              <a:t>26 and 31 wrong answers: wide confidence intervals</a:t>
            </a:r>
          </a:p>
          <a:p>
            <a:pPr marL="228600" indent="-228600" algn="l">
              <a:spcAft>
                <a:spcPts val="800"/>
              </a:spcAft>
              <a:buChar char="–"/>
            </a:pPr>
            <a:r>
              <a:rPr sz="1350" b="0" i="0">
                <a:solidFill>
                  <a:srgbClr val="575756"/>
                </a:solidFill>
              </a:rPr>
              <a:t>Commission examples are cleaner than real product descriptions</a:t>
            </a:r>
          </a:p>
        </p:txBody>
      </p:sp>
      <p:sp>
        <p:nvSpPr>
          <p:cNvPr id="11" name="TextBox 10"/>
          <p:cNvSpPr txBox="1"/>
          <p:nvPr/>
        </p:nvSpPr>
        <p:spPr>
          <a:xfrm>
            <a:off x="6254496" y="1645920"/>
            <a:ext cx="5029200" cy="411480"/>
          </a:xfrm>
          <a:prstGeom prst="rect">
            <a:avLst/>
          </a:prstGeom>
          <a:noFill/>
        </p:spPr>
        <p:txBody>
          <a:bodyPr wrap="square" lIns="0" tIns="0" rIns="0" bIns="0" anchor="t">
            <a:spAutoFit/>
          </a:bodyPr>
          <a:lstStyle/>
          <a:p>
            <a:pPr algn="l">
              <a:spcAft>
                <a:spcPts val="400"/>
              </a:spcAft>
            </a:pPr>
            <a:r>
              <a:rPr sz="1800" b="1" i="0">
                <a:solidFill>
                  <a:srgbClr val="DF4807"/>
                </a:solidFill>
              </a:rPr>
              <a:t>Future work</a:t>
            </a:r>
          </a:p>
        </p:txBody>
      </p:sp>
      <p:sp>
        <p:nvSpPr>
          <p:cNvPr id="12" name="TextBox 11"/>
          <p:cNvSpPr txBox="1"/>
          <p:nvPr/>
        </p:nvSpPr>
        <p:spPr>
          <a:xfrm>
            <a:off x="6254496" y="2194560"/>
            <a:ext cx="5029200" cy="3749039"/>
          </a:xfrm>
          <a:prstGeom prst="rect">
            <a:avLst/>
          </a:prstGeom>
          <a:noFill/>
        </p:spPr>
        <p:txBody>
          <a:bodyPr wrap="square" lIns="0" tIns="0" rIns="0" bIns="0" anchor="t">
            <a:spAutoFit/>
          </a:bodyPr>
          <a:lstStyle/>
          <a:p>
            <a:pPr marL="228600" indent="-228600" algn="l">
              <a:spcAft>
                <a:spcPts val="800"/>
              </a:spcAft>
              <a:buChar char="–"/>
            </a:pPr>
            <a:r>
              <a:rPr sz="1350" b="0" i="0">
                <a:solidFill>
                  <a:srgbClr val="575756"/>
                </a:solidFill>
              </a:rPr>
              <a:t>A second, stronger generator, including a closed commercial model, on the same redacted inputs</a:t>
            </a:r>
          </a:p>
          <a:p>
            <a:pPr marL="228600" indent="-228600" algn="l">
              <a:spcAft>
                <a:spcPts val="800"/>
              </a:spcAft>
              <a:buChar char="–"/>
            </a:pPr>
            <a:r>
              <a:rPr sz="1350" b="0" i="0">
                <a:solidFill>
                  <a:srgbClr val="575756"/>
                </a:solidFill>
              </a:rPr>
              <a:t>A second annotator and inter-annotator agreement</a:t>
            </a:r>
          </a:p>
          <a:p>
            <a:pPr marL="228600" indent="-228600" algn="l">
              <a:spcAft>
                <a:spcPts val="800"/>
              </a:spcAft>
              <a:buChar char="–"/>
            </a:pPr>
            <a:r>
              <a:rPr sz="1350" b="0" i="0">
                <a:solidFill>
                  <a:srgbClr val="575756"/>
                </a:solidFill>
              </a:rPr>
              <a:t>Realistic product descriptions labelled against the guidelines</a:t>
            </a:r>
          </a:p>
          <a:p>
            <a:pPr marL="228600" indent="-228600" algn="l">
              <a:spcAft>
                <a:spcPts val="800"/>
              </a:spcAft>
              <a:buChar char="–"/>
            </a:pPr>
            <a:r>
              <a:rPr sz="1350" b="0" i="0">
                <a:solidFill>
                  <a:srgbClr val="575756"/>
                </a:solidFill>
              </a:rPr>
              <a:t>A correctness-aware check: does the conclusion follow from the retrieved rule and the stated facts?</a:t>
            </a:r>
          </a:p>
          <a:p>
            <a:pPr marL="228600" indent="-228600" algn="l">
              <a:spcAft>
                <a:spcPts val="800"/>
              </a:spcAft>
              <a:buChar char="–"/>
            </a:pPr>
            <a:r>
              <a:rPr sz="1350" b="0" i="0">
                <a:solidFill>
                  <a:srgbClr val="575756"/>
                </a:solidFill>
              </a:rPr>
              <a:t>Extension towards a thesis or paper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dirty="0"/>
              <a:t>A high faithfulness score says almost nothing about whether a legal classification is right.</a:t>
            </a:r>
          </a:p>
          <a:p>
            <a:endParaRPr sz="2600" dirty="0"/>
          </a:p>
          <a:p>
            <a:r>
              <a:rPr dirty="0"/>
              <a:t>Thank you.</a:t>
            </a:r>
            <a:br>
              <a:rPr lang="de-DE" dirty="0"/>
            </a:br>
            <a:r>
              <a:rPr dirty="0"/>
              <a:t>Danke für </a:t>
            </a:r>
            <a:r>
              <a:rPr dirty="0" err="1"/>
              <a:t>Ihre</a:t>
            </a:r>
            <a:r>
              <a:rPr dirty="0"/>
              <a:t> </a:t>
            </a:r>
            <a:r>
              <a:rPr dirty="0" err="1"/>
              <a:t>Aufmerksamkeit</a:t>
            </a:r>
            <a:r>
              <a:rPr dirty="0"/>
              <a: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18</a:t>
            </a:fld>
            <a:endParaRPr lang="de-DE"/>
          </a:p>
        </p:txBody>
      </p:sp>
      <p:sp>
        <p:nvSpPr>
          <p:cNvPr id="7" name="TextBox 6"/>
          <p:cNvSpPr txBox="1"/>
          <p:nvPr/>
        </p:nvSpPr>
        <p:spPr>
          <a:xfrm>
            <a:off x="356616" y="5806440"/>
            <a:ext cx="7315200" cy="365760"/>
          </a:xfrm>
          <a:prstGeom prst="rect">
            <a:avLst/>
          </a:prstGeom>
          <a:noFill/>
        </p:spPr>
        <p:txBody>
          <a:bodyPr wrap="square" lIns="0" tIns="0" rIns="0" bIns="0" anchor="t">
            <a:spAutoFit/>
          </a:bodyPr>
          <a:lstStyle/>
          <a:p>
            <a:pPr algn="l">
              <a:spcAft>
                <a:spcPts val="400"/>
              </a:spcAft>
            </a:pPr>
            <a:r>
              <a:rPr sz="1200" b="0" i="0">
                <a:solidFill>
                  <a:srgbClr val="FFFFFF"/>
                </a:solidFill>
              </a:rPr>
              <a:t>github.com/rahulrawat20022002/case_study2</a:t>
            </a:r>
          </a:p>
        </p:txBody>
      </p:sp>
    </p:spTree>
  </p:cSld>
  <p:clrMapOvr>
    <a:masterClrMapping/>
  </p:clrMapOvr>
</p:sld>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33C054C8DA11F43B02CF1EC776FFAE3" ma:contentTypeVersion="2" ma:contentTypeDescription="Create a new document." ma:contentTypeScope="" ma:versionID="7a862a8188323a205a07e3503c6d0dc2">
  <xsd:schema xmlns:xsd="http://www.w3.org/2001/XMLSchema" xmlns:xs="http://www.w3.org/2001/XMLSchema" xmlns:p="http://schemas.microsoft.com/office/2006/metadata/properties" xmlns:ns2="5380ca77-ba03-4814-ba4f-2b8d3e44ca01" targetNamespace="http://schemas.microsoft.com/office/2006/metadata/properties" ma:root="true" ma:fieldsID="85684b047219332adb99588f30d95774" ns2:_="">
    <xsd:import namespace="5380ca77-ba03-4814-ba4f-2b8d3e44ca0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80ca77-ba03-4814-ba4f-2b8d3e44ca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382F6F-1B5A-4B4A-AD6C-9EE81B138641}">
  <ds:schemaRefs/>
</ds:datastoreItem>
</file>

<file path=customXml/itemProps2.xml><?xml version="1.0" encoding="utf-8"?>
<ds:datastoreItem xmlns:ds="http://schemas.openxmlformats.org/officeDocument/2006/customXml" ds:itemID="{778990AA-0848-43A4-81EB-1FF437CC311F}">
  <ds:schemaRefs/>
</ds:datastoreItem>
</file>

<file path=customXml/itemProps3.xml><?xml version="1.0" encoding="utf-8"?>
<ds:datastoreItem xmlns:ds="http://schemas.openxmlformats.org/officeDocument/2006/customXml" ds:itemID="{7CAAC9F2-EE4B-45FD-BCDE-91AA82334966}">
  <ds:schemaRefs/>
</ds:datastoreItem>
</file>

<file path=docProps/app.xml><?xml version="1.0" encoding="utf-8"?>
<Properties xmlns="http://schemas.openxmlformats.org/officeDocument/2006/extended-properties" xmlns:vt="http://schemas.openxmlformats.org/officeDocument/2006/docPropsVTypes">
  <TotalTime>495</TotalTime>
  <Words>2922</Words>
  <Application>Microsoft Macintosh PowerPoint</Application>
  <PresentationFormat>Widescreen</PresentationFormat>
  <Paragraphs>291</Paragraphs>
  <Slides>18</Slides>
  <Notes>18</Notes>
  <HiddenSlides>0</HiddenSlides>
  <MMClips>0</MMClips>
  <ScaleCrop>false</ScaleCrop>
  <HeadingPairs>
    <vt:vector size="6" baseType="variant">
      <vt:variant>
        <vt:lpstr>Fonts Used</vt:lpstr>
      </vt:variant>
      <vt:variant>
        <vt:i4>2</vt:i4>
      </vt:variant>
      <vt:variant>
        <vt:lpstr>Theme</vt:lpstr>
      </vt:variant>
      <vt:variant>
        <vt:i4>7</vt:i4>
      </vt:variant>
      <vt:variant>
        <vt:lpstr>Slide Titles</vt:lpstr>
      </vt:variant>
      <vt:variant>
        <vt:i4>18</vt:i4>
      </vt:variant>
    </vt:vector>
  </HeadingPairs>
  <TitlesOfParts>
    <vt:vector size="27" baseType="lpstr">
      <vt:lpstr>Arial</vt:lpstr>
      <vt:lpstr>Calibri</vt:lpstr>
      <vt:lpstr>SRH</vt:lpstr>
      <vt:lpstr>1_SRH</vt:lpstr>
      <vt:lpstr>2_SRH</vt:lpstr>
      <vt:lpstr>3_SRH</vt:lpstr>
      <vt:lpstr>4_SRH</vt:lpstr>
      <vt:lpstr>5_SRH</vt:lpstr>
      <vt:lpstr>SRH</vt:lpstr>
      <vt:lpstr>Faithful but wrong?</vt:lpstr>
      <vt:lpstr>Motivation and task</vt:lpstr>
      <vt:lpstr>Is grounded the same as right?</vt:lpstr>
      <vt:lpstr>The task: Article 6 high-risk classification</vt:lpstr>
      <vt:lpstr>Data and method</vt:lpstr>
      <vt:lpstr>Test set: 215 inputs with official labels</vt:lpstr>
      <vt:lpstr>Evaluation framework</vt:lpstr>
      <vt:lpstr>A label leak found and fixed</vt:lpstr>
      <vt:lpstr>Results</vt:lpstr>
      <vt:lpstr>Result 1: retrieval helps</vt:lpstr>
      <vt:lpstr>Where the systems struggle</vt:lpstr>
      <vt:lpstr>Result 2: faithfulness misses wrong labels</vt:lpstr>
      <vt:lpstr>Both off-diagonal buckets are populated</vt:lpstr>
      <vt:lpstr>Why the wrong answers look grounded</vt:lpstr>
      <vt:lpstr>Conclusion</vt:lpstr>
      <vt:lpstr>Key findings</vt:lpstr>
      <vt:lpstr>Limitations and future work</vt:lpstr>
      <vt:lpstr>A high faithfulness score says almost nothing about whether a legal classification is right.  Thank you. Danke für Ihre Aufmerksamkeit!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Henrike Voelker</dc:creator>
  <cp:lastModifiedBy>Rawat, Rahul (Stud SRH-University)</cp:lastModifiedBy>
  <cp:revision>368</cp:revision>
  <dcterms:created xsi:type="dcterms:W3CDTF">2020-06-05T16:20:00Z</dcterms:created>
  <dcterms:modified xsi:type="dcterms:W3CDTF">2026-09-29T09:26:17Z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0x010100333C054C8DA11F43B02CF1EC776FFAE3</vt:lpwstr>
  </property>
  <property fmtid="{D5CDD505-2E9C-101B-9397-08002B2CF9AE}" pid="3" name="ICV">
    <vt:lpwstr>B58A8B18B9A443019F592B4D8E702B9F_12</vt:lpwstr>
  </property>
  <property fmtid="{D5CDD505-2E9C-101B-9397-08002B2CF9AE}" pid="4" name="KSOProductBuildVer">
    <vt:lpwstr>2057-12.2.0.21936</vt:lpwstr>
  </property>
</Properties>
</file>