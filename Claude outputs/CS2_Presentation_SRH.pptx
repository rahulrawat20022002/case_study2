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32"/>
  </p:notesMasterIdLst>
  <p:sldIdLst>
    <p:sldId id="307" r:id="rId11"/>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 id="451" r:id="rId3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0" autoAdjust="0"/>
    <p:restoredTop sz="81093" autoAdjust="0"/>
  </p:normalViewPr>
  <p:slideViewPr>
    <p:cSldViewPr snapToGrid="0" showGuides="1">
      <p:cViewPr varScale="1">
        <p:scale>
          <a:sx n="69" d="100"/>
          <a:sy n="69" d="100"/>
        </p:scale>
        <p:origin x="1267" y="62"/>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 Target="slides/slide1.xml"/><Relationship Id="rId31" Type="http://schemas.openxmlformats.org/officeDocument/2006/relationships/slide" Target="slides/slide21.xml"/><Relationship Id="rId32"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High-risk</c:v>
                </c:pt>
              </c:strCache>
            </c:strRef>
          </c:tx>
          <c:spPr>
            <a:solidFill>
              <a:srgbClr val="DF4807"/>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AAA39D"/>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E4E1DE"/>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129 inputs stating the verdict</c:v>
                </c:pt>
              </c:strCache>
            </c:strRef>
          </c:tx>
          <c:spPr>
            <a:solidFill>
              <a:srgbClr val="DF4807"/>
            </a:solidFill>
          </c:spPr>
          <c:cat>
            <c:strRef>
              <c:f>Sheet1!$A$2:$A$4</c:f>
              <c:strCache>
                <c:ptCount val="3"/>
                <c:pt idx="0">
                  <c:v>Plain LLM</c:v>
                </c:pt>
                <c:pt idx="1">
                  <c:v>Standard RAG</c:v>
                </c:pt>
                <c:pt idx="2">
                  <c:v>Agent</c:v>
                </c:pt>
              </c:strCache>
            </c: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AAA39D"/>
            </a:solidFill>
          </c:spPr>
          <c:cat>
            <c:strRef>
              <c:f>Sheet1!$A$2:$A$4</c:f>
              <c:strCache>
                <c:ptCount val="3"/>
                <c:pt idx="0">
                  <c:v>Plain LLM</c:v>
                </c:pt>
                <c:pt idx="1">
                  <c:v>Standard RAG</c:v>
                </c:pt>
                <c:pt idx="2">
                  <c:v>Agent</c:v>
                </c:pt>
              </c:strCache>
            </c:strRef>
          </c:cat>
          <c:val>
            <c:numRef>
              <c:f>Sheet1!$C$2:$C$4</c:f>
              <c:numCache>
                <c:formatCode>General</c:formatCode>
                <c:ptCount val="3"/>
                <c:pt idx="0">
                  <c:v>0.674</c:v>
                </c:pt>
                <c:pt idx="1">
                  <c:v>0.953</c:v>
                </c:pt>
                <c:pt idx="2">
                  <c:v>0.953</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 inputs</c:v>
                </c:pt>
              </c:strCache>
            </c:strRef>
          </c:tx>
          <c:spPr>
            <a:solidFill>
              <a:srgbClr val="AAA39D"/>
            </a:solidFill>
          </c:spPr>
          <c:cat>
            <c:strRef>
              <c:f>Sheet1!$A$2:$A$4</c:f>
              <c:strCache>
                <c:ptCount val="3"/>
                <c:pt idx="0">
                  <c:v>Plain LLM</c:v>
                </c:pt>
                <c:pt idx="1">
                  <c:v>Standard RAG</c:v>
                </c:pt>
                <c:pt idx="2">
                  <c:v>Agent</c:v>
                </c:pt>
              </c:strCache>
            </c: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DF4807"/>
            </a:solidFill>
          </c:spPr>
          <c:cat>
            <c:strRef>
              <c:f>Sheet1!$A$2:$A$4</c:f>
              <c:strCache>
                <c:ptCount val="3"/>
                <c:pt idx="0">
                  <c:v>Plain LLM</c:v>
                </c:pt>
                <c:pt idx="1">
                  <c:v>Standard RAG</c:v>
                </c:pt>
                <c:pt idx="2">
                  <c:v>Agent</c:v>
                </c:pt>
              </c:strCache>
            </c:strRef>
          </c:cat>
          <c:val>
            <c:numRef>
              <c:f>Sheet1!$C$2:$C$4</c:f>
              <c:numCache>
                <c:formatCode>General</c:formatCode>
                <c:ptCount val="3"/>
                <c:pt idx="0">
                  <c:v>0.688</c:v>
                </c:pt>
                <c:pt idx="1">
                  <c:v>0.879</c:v>
                </c:pt>
                <c:pt idx="2">
                  <c:v>0.856</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Standard RAG</c:v>
                </c:pt>
              </c:strCache>
            </c:strRef>
          </c:tx>
          <c:spPr>
            <a:ln w="31750">
              <a:solidFill>
                <a:srgbClr val="AAA39D"/>
              </a:solidFill>
            </a:ln>
          </c:spPr>
          <c:marker>
            <c:spPr>
              <a:solidFill>
                <a:srgbClr val="AAA39D"/>
              </a:solidFill>
              <a:ln>
                <a:solidFill>
                  <a:srgbClr val="AAA39D"/>
                </a:solidFill>
              </a:ln>
            </c:spPr>
          </c:marker>
          <c:cat>
            <c:strRef>
              <c:f>Sheet1!$A$2:$A$5</c:f>
              <c:strCache>
                <c:ptCount val="4"/>
                <c:pt idx="0">
                  <c:v>0.3</c:v>
                </c:pt>
                <c:pt idx="1">
                  <c:v>0.5</c:v>
                </c:pt>
                <c:pt idx="2">
                  <c:v>0.7</c:v>
                </c:pt>
                <c:pt idx="3">
                  <c:v>0.9</c:v>
                </c:pt>
              </c:strCache>
            </c:strRef>
          </c:cat>
          <c:val>
            <c:numRef>
              <c:f>Sheet1!$B$2:$B$5</c:f>
              <c:numCache>
                <c:formatCode>General</c:formatCode>
                <c:ptCount val="4"/>
                <c:pt idx="0">
                  <c:v>0.808</c:v>
                </c:pt>
                <c:pt idx="1">
                  <c:v>0.538</c:v>
                </c:pt>
                <c:pt idx="2">
                  <c:v>0.038</c:v>
                </c:pt>
                <c:pt idx="3">
                  <c:v>0.0</c:v>
                </c:pt>
              </c:numCache>
            </c:numRef>
          </c:val>
          <c:smooth val="0"/>
        </c:ser>
        <c:ser>
          <c:idx val="1"/>
          <c:order val="1"/>
          <c:tx>
            <c:strRef>
              <c:f>Sheet1!$C$1</c:f>
              <c:strCache>
                <c:ptCount val="1"/>
                <c:pt idx="0">
                  <c:v>Agent</c:v>
                </c:pt>
              </c:strCache>
            </c:strRef>
          </c:tx>
          <c:spPr>
            <a:ln w="31750">
              <a:solidFill>
                <a:srgbClr val="DF4807"/>
              </a:solidFill>
            </a:ln>
          </c:spPr>
          <c:marker>
            <c:spPr>
              <a:solidFill>
                <a:srgbClr val="DF4807"/>
              </a:solidFill>
              <a:ln>
                <a:solidFill>
                  <a:srgbClr val="DF4807"/>
                </a:solidFill>
              </a:ln>
            </c:spPr>
          </c:marker>
          <c:dLbls>
            <c:numFmt formatCode="0%" sourceLinked="0"/>
            <c:txPr>
              <a:bodyPr/>
              <a:lstStyle/>
              <a:p>
                <a:pPr>
                  <a:defRPr sz="1100" b="1">
                    <a:solidFill>
                      <a:srgbClr val="DF4807"/>
                    </a:solidFill>
                  </a:defRPr>
                </a:pPr>
              </a:p>
            </c:txPr>
            <c:dLblPos val="t"/>
            <c:showLegendKey val="0"/>
            <c:showVal val="1"/>
            <c:showCatName val="0"/>
            <c:showSerName val="0"/>
            <c:showPercent val="0"/>
            <c:showBubbleSize val="0"/>
            <c:showLeaderLines val="1"/>
          </c:dLbls>
          <c:cat>
            <c:strRef>
              <c:f>Sheet1!$A$2:$A$5</c:f>
              <c:strCache>
                <c:ptCount val="4"/>
                <c:pt idx="0">
                  <c:v>0.3</c:v>
                </c:pt>
                <c:pt idx="1">
                  <c:v>0.5</c:v>
                </c:pt>
                <c:pt idx="2">
                  <c:v>0.7</c:v>
                </c:pt>
                <c:pt idx="3">
                  <c:v>0.9</c:v>
                </c:pt>
              </c:strCache>
            </c:strRef>
          </c:cat>
          <c:val>
            <c:numRef>
              <c:f>Sheet1!$C$2:$C$5</c:f>
              <c:numCache>
                <c:formatCode>General</c:formatCode>
                <c:ptCount val="4"/>
                <c:pt idx="0">
                  <c:v>0.71</c:v>
                </c:pt>
                <c:pt idx="1">
                  <c:v>0.548</c:v>
                </c:pt>
                <c:pt idx="2">
                  <c:v>0.226</c:v>
                </c:pt>
                <c:pt idx="3">
                  <c:v>0.032</c:v>
                </c:pt>
              </c:numCache>
            </c:numRef>
          </c:val>
          <c:smooth val="0"/>
        </c:ser>
        <c:marker val="1"/>
        <c:smooth val="0"/>
        <c:axId val="2118791784"/>
        <c:axId val="2140495176"/>
      </c:lineChart>
      <c:catAx>
        <c:axId val="2118791784"/>
        <c:scaling>
          <c:orientation val="minMax"/>
        </c:scaling>
        <c:delete val="0"/>
        <c:axPos val="b"/>
        <c:title>
          <c:tx>
            <c:rich>
              <a:bodyPr/>
              <a:lstStyle/>
              <a:p>
                <a:r>
                  <a:rPr sz="1100" b="0"/>
                  <a:t>Faithful cut (score counted as faithful at or above)</a:t>
                </a:r>
              </a:p>
            </c:rich>
          </c:tx>
          <c:layout/>
          <c:overlay val="0"/>
        </c:title>
        <c:majorTickMark val="out"/>
        <c:minorTickMark val="none"/>
        <c:tickLblPos val="nextTo"/>
        <c:spPr>
          <a:ln>
            <a:solidFill>
              <a:srgbClr val="AAA39D"/>
            </a:solidFill>
          </a:ln>
        </c:spPr>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E4E1DE"/>
              </a:solidFill>
            </a:ln>
          </c:spPr>
        </c:majorGridlines>
        <c:numFmt formatCode="0%" sourceLinked="0"/>
        <c:majorTickMark val="out"/>
        <c:minorTickMark val="none"/>
        <c:tickLblPos val="nextTo"/>
        <c:spPr>
          <a:ln>
            <a:noFill/>
          </a:ln>
        </c:spPr>
        <c:txPr>
          <a:bodyPr/>
          <a:lstStyle/>
          <a:p>
            <a:pPr>
              <a:defRPr sz="1000"/>
            </a:pPr>
          </a:p>
        </c:txPr>
        <c:crossAx val="2118791784"/>
        <c:crosses val="autoZero"/>
        <c:majorUnit val="0.2"/>
      </c:valAx>
    </c:plotArea>
    <c:legend>
      <c:legendPos val="b"/>
      <c:layout/>
      <c:overlay val="0"/>
      <c:txPr>
        <a:bodyPr/>
        <a:lstStyle/>
        <a:p>
          <a:pPr>
            <a:defRPr sz="1100"/>
          </a:pPr>
        </a:p>
      </c:txPr>
    </c:legend>
    <c:plotVisOnly val="1"/>
    <c:dispBlanksAs val="gap"/>
    <c:showDLblsOverMax val="0"/>
  </c:chart>
  <c:txPr>
    <a:bodyPr/>
    <a:lstStyle/>
    <a:p>
      <a:pPr>
        <a:defRPr sz="1100">
          <a:solidFill>
            <a:srgbClr val="57575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Answers</c:v>
                </c:pt>
              </c:strCache>
            </c:strRef>
          </c:tx>
          <c:spPr>
            <a:solidFill>
              <a:srgbClr val="DF4807"/>
            </a:solidFill>
          </c:spPr>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17.07.2025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One sentence: this study asks whether the standard faithfulness metric for RAG systems tells you anything about whether a legal classification is actually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checks grounding, not correctness. Crossing the two gives four buckets; the off-diagonal ones are the findings. The study is designed to give a real answer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legal test in four steps. The answer key comes from the Commission's own worked examples, which is what makes a correctness axis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has no high-risk examples for law enforcement, migration and justice, so those areas test correct rejection only. Imbalance handled by reporting precision, recall and F1 next to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top to bottom: source split, shared retrieval, three configurations, evaluation harness, four buckets.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open generator replaced the planned paid API model: it can be pinned, rerun and costs nothing. It proved fully reliable, so model reliability is not a story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model: 0.94 on leaky rows, 0.67 on clean rows. Retrieval systems barely affected. Fixed by redaction and a full rerun; disclosed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in the guidelines removes most false alarms. The step-by-step agent is not better than a generic RAG prompt. The leak had even flipped the ranking of the two.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patterns: critical infrastructure is hard for everyone because of the safety-component test; the plain model over-calls in law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 is the chance that a random right answer scores higher than a random wrong one. 0.5 is a coin flip. For the agent the confidence interval includes 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 but wrong: 17 agent, 14 standard RAG. Right but unfaithful: about half of correct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agent 22, 17, 7, 1 of 31. Standard RAG 21, 14, 1, 0 of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had the right rule but applied it wrongly. The judge accepts the conclusion because the passages state the general rule correctly. Faithfulness never checks the application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 most important first.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limits; each maps to a concrete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takeaway and the practical recommendation: faithfulness is necessary but not sufficient; wherever a ground truth exists, report a correctness check next to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17.07.2025</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17.07.2025</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17.07.2025</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17.07.2025</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17.07.2025</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17.07.2025</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slideLayout" Target="../slideLayouts/slideLayout66.xml"/><Relationship Id="rId21" Type="http://schemas.openxmlformats.org/officeDocument/2006/relationships/slideLayout" Target="../slideLayouts/slideLayout67.xml"/><Relationship Id="rId22" Type="http://schemas.openxmlformats.org/officeDocument/2006/relationships/slideLayout" Target="../slideLayouts/slideLayout68.xml"/><Relationship Id="rId23" Type="http://schemas.openxmlformats.org/officeDocument/2006/relationships/slideLayout" Target="../slideLayouts/slideLayout69.xml"/><Relationship Id="rId2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Relationship Id="rId16" Type="http://schemas.openxmlformats.org/officeDocument/2006/relationships/slideLayout" Target="../slideLayouts/slideLayout85.xml"/><Relationship Id="rId17" Type="http://schemas.openxmlformats.org/officeDocument/2006/relationships/slideLayout" Target="../slideLayouts/slideLayout86.xml"/><Relationship Id="rId18" Type="http://schemas.openxmlformats.org/officeDocument/2006/relationships/slideLayout" Target="../slideLayouts/slideLayout87.xml"/><Relationship Id="rId19" Type="http://schemas.openxmlformats.org/officeDocument/2006/relationships/slideLayout" Target="../slideLayouts/slideLayout88.xml"/><Relationship Id="rId20" Type="http://schemas.openxmlformats.org/officeDocument/2006/relationships/slideLayout" Target="../slideLayouts/slideLayout89.xml"/><Relationship Id="rId21" Type="http://schemas.openxmlformats.org/officeDocument/2006/relationships/slideLayout" Target="../slideLayouts/slideLayout90.xml"/><Relationship Id="rId22" Type="http://schemas.openxmlformats.org/officeDocument/2006/relationships/slideLayout" Target="../slideLayouts/slideLayout91.xml"/><Relationship Id="rId23" Type="http://schemas.openxmlformats.org/officeDocument/2006/relationships/slideLayout" Target="../slideLayouts/slideLayout92.xml"/><Relationship Id="rId2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9" Type="http://schemas.openxmlformats.org/officeDocument/2006/relationships/slideLayout" Target="../slideLayouts/slideLayout101.xml"/><Relationship Id="rId10" Type="http://schemas.openxmlformats.org/officeDocument/2006/relationships/slideLayout" Target="../slideLayouts/slideLayout102.xml"/><Relationship Id="rId11" Type="http://schemas.openxmlformats.org/officeDocument/2006/relationships/slideLayout" Target="../slideLayouts/slideLayout103.xml"/><Relationship Id="rId12" Type="http://schemas.openxmlformats.org/officeDocument/2006/relationships/slideLayout" Target="../slideLayouts/slideLayout104.xml"/><Relationship Id="rId13" Type="http://schemas.openxmlformats.org/officeDocument/2006/relationships/slideLayout" Target="../slideLayouts/slideLayout105.xml"/><Relationship Id="rId14" Type="http://schemas.openxmlformats.org/officeDocument/2006/relationships/slideLayout" Target="../slideLayouts/slideLayout106.xml"/><Relationship Id="rId15" Type="http://schemas.openxmlformats.org/officeDocument/2006/relationships/slideLayout" Target="../slideLayouts/slideLayout107.xml"/><Relationship Id="rId16" Type="http://schemas.openxmlformats.org/officeDocument/2006/relationships/slideLayout" Target="../slideLayouts/slideLayout108.xml"/><Relationship Id="rId17" Type="http://schemas.openxmlformats.org/officeDocument/2006/relationships/slideLayout" Target="../slideLayouts/slideLayout109.xml"/><Relationship Id="rId18" Type="http://schemas.openxmlformats.org/officeDocument/2006/relationships/slideLayout" Target="../slideLayouts/slideLayout110.xml"/><Relationship Id="rId19" Type="http://schemas.openxmlformats.org/officeDocument/2006/relationships/slideLayout" Target="../slideLayouts/slideLayout111.xml"/><Relationship Id="rId20" Type="http://schemas.openxmlformats.org/officeDocument/2006/relationships/slideLayout" Target="../slideLayouts/slideLayout112.xml"/><Relationship Id="rId21" Type="http://schemas.openxmlformats.org/officeDocument/2006/relationships/slideLayout" Target="../slideLayouts/slideLayout113.xml"/><Relationship Id="rId22" Type="http://schemas.openxmlformats.org/officeDocument/2006/relationships/slideLayout" Target="../slideLayouts/slideLayout114.xml"/><Relationship Id="rId23" Type="http://schemas.openxmlformats.org/officeDocument/2006/relationships/slideLayout" Target="../slideLayouts/slideLayout115.xml"/><Relationship Id="rId2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slideLayout" Target="../slideLayouts/slideLayout127.xml"/><Relationship Id="rId13" Type="http://schemas.openxmlformats.org/officeDocument/2006/relationships/slideLayout" Target="../slideLayouts/slideLayout128.xml"/><Relationship Id="rId14" Type="http://schemas.openxmlformats.org/officeDocument/2006/relationships/slideLayout" Target="../slideLayouts/slideLayout129.xml"/><Relationship Id="rId15" Type="http://schemas.openxmlformats.org/officeDocument/2006/relationships/slideLayout" Target="../slideLayouts/slideLayout130.xml"/><Relationship Id="rId16" Type="http://schemas.openxmlformats.org/officeDocument/2006/relationships/slideLayout" Target="../slideLayouts/slideLayout131.xml"/><Relationship Id="rId17" Type="http://schemas.openxmlformats.org/officeDocument/2006/relationships/slideLayout" Target="../slideLayouts/slideLayout132.xml"/><Relationship Id="rId18" Type="http://schemas.openxmlformats.org/officeDocument/2006/relationships/slideLayout" Target="../slideLayouts/slideLayout133.xml"/><Relationship Id="rId19" Type="http://schemas.openxmlformats.org/officeDocument/2006/relationships/slideLayout" Target="../slideLayouts/slideLayout134.xml"/><Relationship Id="rId20" Type="http://schemas.openxmlformats.org/officeDocument/2006/relationships/slideLayout" Target="../slideLayouts/slideLayout135.xml"/><Relationship Id="rId21" Type="http://schemas.openxmlformats.org/officeDocument/2006/relationships/slideLayout" Target="../slideLayouts/slideLayout136.xml"/><Relationship Id="rId22" Type="http://schemas.openxmlformats.org/officeDocument/2006/relationships/slideLayout" Target="../slideLayouts/slideLayout137.xml"/><Relationship Id="rId23" Type="http://schemas.openxmlformats.org/officeDocument/2006/relationships/slideLayout" Target="../slideLayouts/slideLayout138.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slideLayout" Target="../slideLayouts/slideLayout152.xml"/><Relationship Id="rId15" Type="http://schemas.openxmlformats.org/officeDocument/2006/relationships/slideLayout" Target="../slideLayouts/slideLayout153.xml"/><Relationship Id="rId16" Type="http://schemas.openxmlformats.org/officeDocument/2006/relationships/slideLayout" Target="../slideLayouts/slideLayout154.xml"/><Relationship Id="rId17" Type="http://schemas.openxmlformats.org/officeDocument/2006/relationships/slideLayout" Target="../slideLayouts/slideLayout155.xml"/><Relationship Id="rId18" Type="http://schemas.openxmlformats.org/officeDocument/2006/relationships/slideLayout" Target="../slideLayouts/slideLayout156.xml"/><Relationship Id="rId19" Type="http://schemas.openxmlformats.org/officeDocument/2006/relationships/slideLayout" Target="../slideLayouts/slideLayout157.xml"/><Relationship Id="rId20" Type="http://schemas.openxmlformats.org/officeDocument/2006/relationships/slideLayout" Target="../slideLayouts/slideLayout158.xml"/><Relationship Id="rId21" Type="http://schemas.openxmlformats.org/officeDocument/2006/relationships/slideLayout" Target="../slideLayouts/slideLayout159.xml"/><Relationship Id="rId22" Type="http://schemas.openxmlformats.org/officeDocument/2006/relationships/slideLayout" Target="../slideLayouts/slideLayout160.xml"/><Relationship Id="rId23" Type="http://schemas.openxmlformats.org/officeDocument/2006/relationships/slideLayout" Target="../slideLayouts/slideLayout161.xml"/><Relationship Id="rId2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17.07.2025</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chart" Target="../charts/char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sz="2600"/>
              <a:t>A high faithfulness score says almost nothing about whether a legal classification is right.</a:t>
            </a:r>
          </a:p>
          <a:p>
            <a:r>
              <a:t/>
            </a:r>
          </a:p>
          <a:p>
            <a:r>
              <a:t>Thank you. Questions?</a:t>
            </a:r>
          </a:p>
          <a:p>
            <a:r>
              <a:t>Danke für Ihre Aufmerksamkeit!</a:t>
            </a:r>
          </a:p>
        </p:txBody>
      </p:sp>
      <p:sp>
        <p:nvSpPr>
          <p:cNvPr id="3" name="Datumsplatzhalter 2"/>
          <p:cNvSpPr>
            <a:spLocks noGrp="1"/>
          </p:cNvSpPr>
          <p:nvPr>
            <p:ph type="dt" sz="half" idx="10"/>
          </p:nvPr>
        </p:nvSpPr>
        <p:spPr/>
        <p:txBody>
          <a:bodyPr/>
          <a:lstStyle/>
          <a:p>
            <a:fld id="{92EBBE16-650B-2F4A-AF9B-48CFB920BA09}" type="datetime1">
              <a:rPr lang="de-DE" smtClean="0"/>
              <a:t>17.07.2025</a:t>
            </a:fld>
            <a:endParaRPr lang="de-DE"/>
          </a:p>
        </p:txBody>
      </p:sp>
      <p:sp>
        <p:nvSpPr>
          <p:cNvPr id="4" name="Fußzeilenplatzhalter 3"/>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21</a:t>
            </a:fld>
            <a:endParaRPr lang="de-DE"/>
          </a:p>
        </p:txBody>
      </p:sp>
      <p:sp>
        <p:nvSpPr>
          <p:cNvPr id="6" name="TextBox 5"/>
          <p:cNvSpPr txBox="1"/>
          <p:nvPr/>
        </p:nvSpPr>
        <p:spPr>
          <a:xfrm>
            <a:off x="356616" y="5806440"/>
            <a:ext cx="7315200" cy="365760"/>
          </a:xfrm>
          <a:prstGeom prst="rect">
            <a:avLst/>
          </a:prstGeom>
          <a:noFill/>
        </p:spPr>
        <p:txBody>
          <a:bodyPr wrap="square" anchor="t" lIns="0" rIns="0" tIns="0" bIns="0">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t>SRH Hochschule Heidelberg – Case Study 2, Data Science and Analytics</a:t>
            </a:r>
            <a:endParaRPr lang="en-US" alt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2</a:t>
            </a:fld>
            <a:endParaRPr lang="de-D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anchor="t" lIns="0" rIns="0" tIns="0" bIns="0">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48840"/>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3359"/>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anchor="t" lIns="0" rIns="0" tIns="0" bIns="0">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743200"/>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19" y="2743200"/>
            <a:ext cx="2377440" cy="822960"/>
          </a:xfrm>
          <a:prstGeom prst="rect">
            <a:avLst/>
          </a:prstGeom>
          <a:noFill/>
        </p:spPr>
        <p:txBody>
          <a:bodyPr wrap="square" anchor="t" lIns="0" rIns="0" tIns="0" bIns="0">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224528"/>
            <a:ext cx="2377440" cy="822960"/>
          </a:xfrm>
          <a:prstGeom prst="rect">
            <a:avLst/>
          </a:prstGeom>
          <a:noFill/>
        </p:spPr>
        <p:txBody>
          <a:bodyPr wrap="square" anchor="t" lIns="0" rIns="0" tIns="0" bIns="0">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19" y="4224528"/>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365760"/>
          </a:xfrm>
          <a:prstGeom prst="rect">
            <a:avLst/>
          </a:prstGeom>
          <a:noFill/>
        </p:spPr>
        <p:txBody>
          <a:bodyPr wrap="square" anchor="t" lIns="0" rIns="0" tIns="0" bIns="0">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4846320"/>
            <a:ext cx="10789920" cy="1005840"/>
          </a:xfrm>
          <a:prstGeom prst="rect">
            <a:avLst/>
          </a:prstGeom>
          <a:noFill/>
        </p:spPr>
        <p:txBody>
          <a:bodyPr wrap="square" anchor="t" lIns="0" rIns="0" tIns="0" bIns="0">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t>SRH Hochschule Heidelberg – Case Study 2, Data Science and Analytics</a:t>
            </a:r>
            <a:endParaRPr lang="en-US" alt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2</a:t>
            </a:fld>
            <a:endParaRPr lang="de-D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7315200" cy="365760"/>
          </a:xfrm>
          <a:prstGeom prst="rect">
            <a:avLst/>
          </a:prstGeom>
          <a:noFill/>
        </p:spPr>
        <p:txBody>
          <a:bodyPr wrap="square" anchor="t" lIns="0" rIns="0" tIns="0" bIns="0">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r:id="rId3"/>
          </a:graphicData>
        </a:graphic>
      </p:graphicFrame>
      <p:sp>
        <p:nvSpPr>
          <p:cNvPr id="9" name="TextBox 8"/>
          <p:cNvSpPr txBox="1"/>
          <p:nvPr/>
        </p:nvSpPr>
        <p:spPr>
          <a:xfrm>
            <a:off x="8412480" y="19202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One shared pipeline</a:t>
            </a:r>
          </a:p>
        </p:txBody>
      </p:sp>
      <p:sp>
        <p:nvSpPr>
          <p:cNvPr id="13" name="TextBox 12"/>
          <p:cNvSpPr txBox="1"/>
          <p:nvPr/>
        </p:nvSpPr>
        <p:spPr>
          <a:xfrm>
            <a:off x="5120640" y="2926079"/>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Hybrid BM25 + dense retrieval (bge-base-en-v1.5, Chroma, alpha 0.5, top 5). One generator for all three systems: only the prompt changes.</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Local models on the university GPU with pinned revisions, greedy decoding, every prompt, passage and output logged.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systems, one generator</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Everything is held fixed except the prompt</a:t>
            </a:r>
          </a:p>
        </p:txBody>
      </p:sp>
      <p:sp>
        <p:nvSpPr>
          <p:cNvPr id="8" name="Rectangle 7"/>
          <p:cNvSpPr/>
          <p:nvPr/>
        </p:nvSpPr>
        <p:spPr>
          <a:xfrm>
            <a:off x="356616" y="1874519"/>
            <a:ext cx="3566160" cy="21488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9496" y="2057400"/>
            <a:ext cx="3200400" cy="411480"/>
          </a:xfrm>
          <a:prstGeom prst="rect">
            <a:avLst/>
          </a:prstGeom>
          <a:noFill/>
        </p:spPr>
        <p:txBody>
          <a:bodyPr wrap="square" anchor="t" lIns="0" rIns="0" tIns="0" bIns="0">
            <a:spAutoFit/>
          </a:bodyPr>
          <a:lstStyle/>
          <a:p>
            <a:pPr algn="l">
              <a:spcAft>
                <a:spcPts val="400"/>
              </a:spcAft>
            </a:pPr>
            <a:r>
              <a:rPr sz="1600" b="1" i="0">
                <a:solidFill>
                  <a:srgbClr val="575756"/>
                </a:solidFill>
              </a:rPr>
              <a:t>Baseline 1: plain LLM</a:t>
            </a:r>
          </a:p>
        </p:txBody>
      </p:sp>
      <p:sp>
        <p:nvSpPr>
          <p:cNvPr id="10" name="TextBox 9"/>
          <p:cNvSpPr txBox="1"/>
          <p:nvPr/>
        </p:nvSpPr>
        <p:spPr>
          <a:xfrm>
            <a:off x="53949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System description only, no retrieved text. Label plus a short reason. No faithfulness score by design.</a:t>
            </a:r>
          </a:p>
        </p:txBody>
      </p:sp>
      <p:sp>
        <p:nvSpPr>
          <p:cNvPr id="11" name="Rectangle 10"/>
          <p:cNvSpPr/>
          <p:nvPr/>
        </p:nvSpPr>
        <p:spPr>
          <a:xfrm>
            <a:off x="4151376" y="1874519"/>
            <a:ext cx="3566160" cy="21488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4256" y="2057400"/>
            <a:ext cx="3200400" cy="411480"/>
          </a:xfrm>
          <a:prstGeom prst="rect">
            <a:avLst/>
          </a:prstGeom>
          <a:noFill/>
        </p:spPr>
        <p:txBody>
          <a:bodyPr wrap="square" anchor="t" lIns="0" rIns="0" tIns="0" bIns="0">
            <a:spAutoFit/>
          </a:bodyPr>
          <a:lstStyle/>
          <a:p>
            <a:pPr algn="l">
              <a:spcAft>
                <a:spcPts val="400"/>
              </a:spcAft>
            </a:pPr>
            <a:r>
              <a:rPr sz="1600" b="1" i="0">
                <a:solidFill>
                  <a:srgbClr val="575756"/>
                </a:solidFill>
              </a:rPr>
              <a:t>Baseline 2: standard RAG</a:t>
            </a:r>
          </a:p>
        </p:txBody>
      </p:sp>
      <p:sp>
        <p:nvSpPr>
          <p:cNvPr id="13" name="TextBox 12"/>
          <p:cNvSpPr txBox="1"/>
          <p:nvPr/>
        </p:nvSpPr>
        <p:spPr>
          <a:xfrm>
            <a:off x="433425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Description plus the top 5 passages and a generic instruction to classify and ground the explanation.</a:t>
            </a:r>
          </a:p>
        </p:txBody>
      </p:sp>
      <p:sp>
        <p:nvSpPr>
          <p:cNvPr id="14" name="Rectangle 13"/>
          <p:cNvSpPr/>
          <p:nvPr/>
        </p:nvSpPr>
        <p:spPr>
          <a:xfrm>
            <a:off x="7946136" y="1874519"/>
            <a:ext cx="3566160" cy="21488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29016" y="2057400"/>
            <a:ext cx="3200400" cy="411480"/>
          </a:xfrm>
          <a:prstGeom prst="rect">
            <a:avLst/>
          </a:prstGeom>
          <a:noFill/>
        </p:spPr>
        <p:txBody>
          <a:bodyPr wrap="square" anchor="t" lIns="0" rIns="0" tIns="0" bIns="0">
            <a:spAutoFit/>
          </a:bodyPr>
          <a:lstStyle/>
          <a:p>
            <a:pPr algn="l">
              <a:spcAft>
                <a:spcPts val="400"/>
              </a:spcAft>
            </a:pPr>
            <a:r>
              <a:rPr sz="1600" b="1" i="0">
                <a:solidFill>
                  <a:srgbClr val="DF4807"/>
                </a:solidFill>
              </a:rPr>
              <a:t>Agent: structured RAG</a:t>
            </a:r>
          </a:p>
        </p:txBody>
      </p:sp>
      <p:sp>
        <p:nvSpPr>
          <p:cNvPr id="16" name="TextBox 15"/>
          <p:cNvSpPr txBox="1"/>
          <p:nvPr/>
        </p:nvSpPr>
        <p:spPr>
          <a:xfrm>
            <a:off x="812901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Same passages; the prompt walks the legal test step by step: purpose, Annex III area, Article 6(3) conditions, profiling rule.</a:t>
            </a:r>
          </a:p>
        </p:txBody>
      </p:sp>
      <p:sp>
        <p:nvSpPr>
          <p:cNvPr id="17" name="TextBox 16"/>
          <p:cNvSpPr txBox="1"/>
          <p:nvPr/>
        </p:nvSpPr>
        <p:spPr>
          <a:xfrm>
            <a:off x="35661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phi-4</a:t>
            </a:r>
          </a:p>
        </p:txBody>
      </p:sp>
      <p:sp>
        <p:nvSpPr>
          <p:cNvPr id="18" name="TextBox 17"/>
          <p:cNvSpPr txBox="1"/>
          <p:nvPr/>
        </p:nvSpPr>
        <p:spPr>
          <a:xfrm>
            <a:off x="35661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generator: microsoft/phi-4 (14B), local vLLM, greedy, pinned</a:t>
            </a:r>
          </a:p>
        </p:txBody>
      </p:sp>
      <p:sp>
        <p:nvSpPr>
          <p:cNvPr id="19" name="TextBox 18"/>
          <p:cNvSpPr txBox="1"/>
          <p:nvPr/>
        </p:nvSpPr>
        <p:spPr>
          <a:xfrm>
            <a:off x="415137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Qwen 72B</a:t>
            </a:r>
          </a:p>
        </p:txBody>
      </p:sp>
      <p:sp>
        <p:nvSpPr>
          <p:cNvPr id="20" name="TextBox 19"/>
          <p:cNvSpPr txBox="1"/>
          <p:nvPr/>
        </p:nvSpPr>
        <p:spPr>
          <a:xfrm>
            <a:off x="415137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judge: Qwen2.5-72B-Instruct-AWQ, other model family</a:t>
            </a:r>
          </a:p>
        </p:txBody>
      </p:sp>
      <p:sp>
        <p:nvSpPr>
          <p:cNvPr id="21" name="TextBox 20"/>
          <p:cNvSpPr txBox="1"/>
          <p:nvPr/>
        </p:nvSpPr>
        <p:spPr>
          <a:xfrm>
            <a:off x="794613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645</a:t>
            </a:r>
          </a:p>
        </p:txBody>
      </p:sp>
      <p:sp>
        <p:nvSpPr>
          <p:cNvPr id="22" name="TextBox 21"/>
          <p:cNvSpPr txBox="1"/>
          <p:nvPr/>
        </p:nvSpPr>
        <p:spPr>
          <a:xfrm>
            <a:off x="794613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generations; 0 parse failures, 0 empty, 0 errors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6766560" y="19202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anchor="t" lIns="0" rIns="0" tIns="0" bIns="0">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anchor="t" lIns="0" rIns="0" tIns="0" bIns="0">
            <a:spAutoFit/>
          </a:bodyPr>
          <a:lstStyle/>
          <a:p>
            <a:pPr algn="l" marL="228600" indent="-228600">
              <a:spcAft>
                <a:spcPts val="400"/>
              </a:spcAft>
              <a:buChar char="–"/>
            </a:pPr>
            <a:r>
              <a:rPr sz="1300" b="0" i="0">
                <a:solidFill>
                  <a:srgbClr val="575756"/>
                </a:solidFill>
              </a:rPr>
              <a:t>Kept what the system does; removed every legal conclusion and citation</a:t>
            </a:r>
          </a:p>
          <a:p>
            <a:pPr algn="l" marL="228600" indent="-228600">
              <a:spcAft>
                <a:spcPts val="400"/>
              </a:spcAft>
              <a:buChar char="–"/>
            </a:pPr>
            <a:r>
              <a:rPr sz="1300" b="0" i="0">
                <a:solidFill>
                  <a:srgbClr val="575756"/>
                </a:solidFill>
              </a:rPr>
              <a:t>96 rows automatic, 31 hand-edited, 46 reviewed by the author</a:t>
            </a:r>
          </a:p>
          <a:p>
            <a:pPr algn="l" marL="228600" indent="-228600">
              <a:spcAft>
                <a:spcPts val="400"/>
              </a:spcAft>
              <a:buChar char="–"/>
            </a:pPr>
            <a:r>
              <a:rPr sz="1300" b="0" i="0">
                <a:solidFill>
                  <a:srgbClr val="575756"/>
                </a:solidFill>
              </a:rPr>
              <a:t>IDs and gold labels unchanged; all systems rerun</a:t>
            </a:r>
          </a:p>
          <a:p>
            <a:pPr algn="l" marL="228600" indent="-228600">
              <a:spcAft>
                <a:spcPts val="400"/>
              </a:spcAft>
              <a:buChar char="–"/>
            </a:pPr>
            <a:r>
              <a:rPr sz="1300" b="0" i="0">
                <a:solidFill>
                  <a:srgbClr val="575756"/>
                </a:solidFill>
              </a:rPr>
              <a:t>Mean input length 557 to 392 characters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t>SRH Hochschule Heidelberg – Case Study 2, Data Science and Analytics</a:t>
            </a:r>
            <a:endParaRPr lang="en-US" alt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2</a:t>
            </a:fld>
            <a:endParaRPr lang="de-D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406640" y="19202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196596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0" y="411480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anchor="t" lIns="0" rIns="0" tIns="0" bIns="0">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 an artefact of the cut-off</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Share of wrong answers that still pass as faithful as the threshold rises</a:t>
            </a:r>
          </a:p>
        </p:txBody>
      </p:sp>
      <p:graphicFrame>
        <p:nvGraphicFramePr>
          <p:cNvPr id="8" name="Chart 7"/>
          <p:cNvGraphicFramePr>
            <a:graphicFrameLocks noGrp="1"/>
          </p:cNvGraphicFramePr>
          <p:nvPr/>
        </p:nvGraphicFramePr>
        <p:xfrm>
          <a:off x="356616" y="1828800"/>
          <a:ext cx="69494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772400" y="19202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7</a:t>
            </a:r>
          </a:p>
        </p:txBody>
      </p:sp>
      <p:sp>
        <p:nvSpPr>
          <p:cNvPr id="10" name="TextBox 9"/>
          <p:cNvSpPr txBox="1"/>
          <p:nvPr/>
        </p:nvSpPr>
        <p:spPr>
          <a:xfrm>
            <a:off x="7772400" y="25420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still count as faithful at a strict cut of 0.7</a:t>
            </a:r>
          </a:p>
        </p:txBody>
      </p:sp>
      <p:sp>
        <p:nvSpPr>
          <p:cNvPr id="11" name="TextBox 10"/>
          <p:cNvSpPr txBox="1"/>
          <p:nvPr/>
        </p:nvSpPr>
        <p:spPr>
          <a:xfrm>
            <a:off x="7772400" y="32918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1.00</a:t>
            </a:r>
          </a:p>
        </p:txBody>
      </p:sp>
      <p:sp>
        <p:nvSpPr>
          <p:cNvPr id="12" name="TextBox 11"/>
          <p:cNvSpPr txBox="1"/>
          <p:nvPr/>
        </p:nvSpPr>
        <p:spPr>
          <a:xfrm>
            <a:off x="7772400" y="39136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perfect faithfulness score on a wrong answer (input 207)</a:t>
            </a:r>
          </a:p>
        </p:txBody>
      </p:sp>
      <p:sp>
        <p:nvSpPr>
          <p:cNvPr id="13" name="TextBox 12"/>
          <p:cNvSpPr txBox="1"/>
          <p:nvPr/>
        </p:nvSpPr>
        <p:spPr>
          <a:xfrm>
            <a:off x="7772400" y="4709160"/>
            <a:ext cx="3749039" cy="1188720"/>
          </a:xfrm>
          <a:prstGeom prst="rect">
            <a:avLst/>
          </a:prstGeom>
          <a:noFill/>
        </p:spPr>
        <p:txBody>
          <a:bodyPr wrap="square" anchor="t" lIns="0" rIns="0" tIns="0" bIns="0">
            <a:spAutoFit/>
          </a:bodyPr>
          <a:lstStyle/>
          <a:p>
            <a:pPr algn="l">
              <a:spcAft>
                <a:spcPts val="400"/>
              </a:spcAft>
            </a:pPr>
            <a:r>
              <a:rPr sz="1200" b="0" i="0">
                <a:solidFill>
                  <a:srgbClr val="575756"/>
                </a:solidFill>
              </a:rPr>
              <a:t>Threshold-free measures (AUC, correlation) are reported alongside, so the finding does not rest on one cut.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r:id="rId3"/>
          </a:graphicData>
        </a:graphic>
      </p:graphicFrame>
      <p:sp>
        <p:nvSpPr>
          <p:cNvPr id="9" name="TextBox 8"/>
          <p:cNvSpPr txBox="1"/>
          <p:nvPr/>
        </p:nvSpPr>
        <p:spPr>
          <a:xfrm>
            <a:off x="356616" y="4892040"/>
            <a:ext cx="2743200" cy="594360"/>
          </a:xfrm>
          <a:prstGeom prst="rect">
            <a:avLst/>
          </a:prstGeom>
          <a:noFill/>
        </p:spPr>
        <p:txBody>
          <a:bodyPr wrap="square" anchor="t" lIns="0" rIns="0" tIns="0" bIns="0">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anchor="t" lIns="0" rIns="0" tIns="0" bIns="0">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anchor="t" lIns="0" rIns="0" tIns="0" bIns="0">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anchor="t" lIns="0" rIns="0" tIns="0" bIns="0">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920240"/>
            <a:ext cx="4480560" cy="4114800"/>
          </a:xfrm>
          <a:prstGeom prst="rect">
            <a:avLst/>
          </a:prstGeom>
          <a:noFill/>
        </p:spPr>
        <p:txBody>
          <a:bodyPr wrap="square" anchor="t" lIns="0" rIns="0" tIns="0" bIns="0">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B4F2AB4E-F240-2644-9DF0-3F5E0D661364}"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t>SRH Hochschule Heidelberg – Case Study 2, Data Science and Analytics</a:t>
            </a:r>
            <a:endParaRPr lang="en-US" alt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2</a:t>
            </a:fld>
            <a:endParaRPr lang="de-D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17.07.2025</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 y="1645920"/>
            <a:ext cx="5029200" cy="411480"/>
          </a:xfrm>
          <a:prstGeom prst="rect">
            <a:avLst/>
          </a:prstGeom>
          <a:noFill/>
        </p:spPr>
        <p:txBody>
          <a:bodyPr wrap="square" anchor="t" lIns="0" rIns="0" tIns="0" bIns="0">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One generator and one judge; results may depend on these models</a:t>
            </a:r>
          </a:p>
          <a:p>
            <a:pPr algn="l" marL="228600" indent="-228600">
              <a:spcAft>
                <a:spcPts val="800"/>
              </a:spcAft>
              <a:buChar char="–"/>
            </a:pPr>
            <a:r>
              <a:rPr sz="1350" b="0" i="0">
                <a:solidFill>
                  <a:srgbClr val="575756"/>
                </a:solidFill>
              </a:rPr>
              <a:t>Single annotator for redaction review and error categories</a:t>
            </a:r>
          </a:p>
          <a:p>
            <a:pPr algn="l" marL="228600" indent="-228600">
              <a:spcAft>
                <a:spcPts val="800"/>
              </a:spcAft>
              <a:buChar char="–"/>
            </a:pPr>
            <a:r>
              <a:rPr sz="1350" b="0" i="0">
                <a:solidFill>
                  <a:srgbClr val="575756"/>
                </a:solidFill>
              </a:rPr>
              <a:t>About 20 inputs still describe the legal test without stating the label</a:t>
            </a:r>
          </a:p>
          <a:p>
            <a:pPr algn="l" marL="228600" indent="-228600">
              <a:spcAft>
                <a:spcPts val="800"/>
              </a:spcAft>
              <a:buChar char="–"/>
            </a:pPr>
            <a:r>
              <a:rPr sz="1350" b="0" i="0">
                <a:solidFill>
                  <a:srgbClr val="575756"/>
                </a:solidFill>
              </a:rPr>
              <a:t>26 and 31 wrong answers: wide confidence intervals</a:t>
            </a:r>
          </a:p>
          <a:p>
            <a:pPr algn="l" marL="228600" indent="-228600">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anchor="t" lIns="0" rIns="0" tIns="0" bIns="0">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A second, stronger generator, including a closed commercial model, on the same redacted inputs</a:t>
            </a:r>
          </a:p>
          <a:p>
            <a:pPr algn="l" marL="228600" indent="-228600">
              <a:spcAft>
                <a:spcPts val="800"/>
              </a:spcAft>
              <a:buChar char="–"/>
            </a:pPr>
            <a:r>
              <a:rPr sz="1350" b="0" i="0">
                <a:solidFill>
                  <a:srgbClr val="575756"/>
                </a:solidFill>
              </a:rPr>
              <a:t>A second annotator and inter-annotator agreement</a:t>
            </a:r>
          </a:p>
          <a:p>
            <a:pPr algn="l" marL="228600" indent="-228600">
              <a:spcAft>
                <a:spcPts val="800"/>
              </a:spcAft>
              <a:buChar char="–"/>
            </a:pPr>
            <a:r>
              <a:rPr sz="1350" b="0" i="0">
                <a:solidFill>
                  <a:srgbClr val="575756"/>
                </a:solidFill>
              </a:rPr>
              <a:t>Realistic product descriptions labelled against the guidelines</a:t>
            </a:r>
          </a:p>
          <a:p>
            <a:pPr algn="l" marL="228600" indent="-228600">
              <a:spcAft>
                <a:spcPts val="800"/>
              </a:spcAft>
              <a:buChar char="–"/>
            </a:pPr>
            <a:r>
              <a:rPr sz="1350" b="0" i="0">
                <a:solidFill>
                  <a:srgbClr val="575756"/>
                </a:solidFill>
              </a:rPr>
              <a:t>A correctness-aware check: does the conclusion follow from the retrieved rule and the stated facts?</a:t>
            </a:r>
          </a:p>
          <a:p>
            <a:pPr algn="l" marL="228600" indent="-228600">
              <a:spcAft>
                <a:spcPts val="800"/>
              </a:spcAft>
              <a:buChar char="–"/>
            </a:pPr>
            <a:r>
              <a:rPr sz="1350" b="0" i="0">
                <a:solidFill>
                  <a:srgbClr val="575756"/>
                </a:solidFill>
              </a:rPr>
              <a:t>Extension towards a thesis or paper</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AAC9F2-EE4B-45FD-BCDE-91AA82334966}">
  <ds:schemaRefs/>
</ds:datastoreItem>
</file>

<file path=customXml/itemProps2.xml><?xml version="1.0" encoding="utf-8"?>
<ds:datastoreItem xmlns:ds="http://schemas.openxmlformats.org/officeDocument/2006/customXml" ds:itemID="{46382F6F-1B5A-4B4A-AD6C-9EE81B138641}">
  <ds:schemaRefs/>
</ds:datastoreItem>
</file>

<file path=customXml/itemProps3.xml><?xml version="1.0" encoding="utf-8"?>
<ds:datastoreItem xmlns:ds="http://schemas.openxmlformats.org/officeDocument/2006/customXml" ds:itemID="{778990AA-0848-43A4-81EB-1FF437CC311F}">
  <ds:schemaRefs/>
</ds:datastoreItem>
</file>

<file path=docProps/app.xml><?xml version="1.0" encoding="utf-8"?>
<Properties xmlns="http://schemas.openxmlformats.org/officeDocument/2006/extended-properties" xmlns:vt="http://schemas.openxmlformats.org/officeDocument/2006/docPropsVTypes">
  <TotalTime>10</TotalTime>
  <Words>928</Words>
  <Application>Microsoft Office PowerPoint</Application>
  <PresentationFormat>Widescreen</PresentationFormat>
  <Paragraphs>155</Paragraphs>
  <Slides>21</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SRH</vt:lpstr>
      <vt:lpstr>Arial</vt:lpstr>
      <vt:lpstr>SRH Headline</vt:lpstr>
      <vt:lpstr>SRH Text</vt:lpstr>
      <vt:lpstr>Calibri</vt:lpstr>
      <vt:lpstr>SRH</vt:lpstr>
      <vt:lpstr>1_SRH</vt:lpstr>
      <vt:lpstr>2_SRH</vt:lpstr>
      <vt:lpstr>3_SRH</vt:lpstr>
      <vt:lpstr>4_SRH</vt:lpstr>
      <vt:lpstr>5_SRH</vt:lpstr>
      <vt:lpstr>SRH</vt:lpstr>
      <vt:lpstr>Yoga Pose Tracker </vt:lpstr>
      <vt:lpstr>Brief Overview</vt:lpstr>
      <vt:lpstr>Brief Overview</vt:lpstr>
      <vt:lpstr>Problem Statement</vt:lpstr>
      <vt:lpstr>Why Pose Classification for Yoga?</vt:lpstr>
      <vt:lpstr>Technology Stack</vt:lpstr>
      <vt:lpstr>Technology Stack</vt:lpstr>
      <vt:lpstr> Data Collection and Labeling</vt:lpstr>
      <vt:lpstr> Data Collection and Labeling</vt:lpstr>
      <vt:lpstr> Data Collection and Labeling</vt:lpstr>
      <vt:lpstr>Model Training</vt:lpstr>
      <vt:lpstr>Model Training (Training the Pose Classifier)</vt:lpstr>
      <vt:lpstr>Demo in action / Output</vt:lpstr>
      <vt:lpstr>Real-Time Yoga Pose Classification in Action</vt:lpstr>
      <vt:lpstr>Real-Time Yoga Pose Reggression in Action</vt:lpstr>
      <vt:lpstr>UI &amp; Code Snipets</vt:lpstr>
      <vt:lpstr>UI Screenshot</vt:lpstr>
      <vt:lpstr>UI Screenshot</vt:lpstr>
      <vt:lpstr>Code</vt:lpstr>
      <vt:lpstr>Code</vt:lpstr>
      <vt:lpstr>Thanks for your attention! Danke für Ihre Aufmerksamkeit!  Open to your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DARSHAN KARELIYA</cp:lastModifiedBy>
  <cp:revision>365</cp:revision>
  <dcterms:created xsi:type="dcterms:W3CDTF">2020-06-05T16:20:00Z</dcterms:created>
  <dcterms:modified xsi:type="dcterms:W3CDTF">2025-07-17T10:23:02Z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