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svg" ContentType="image/svg+xml"/>
  <Override PartName="/ppt/media/image2.svg" ContentType="image/svg+xml"/>
  <Override PartName="/ppt/media/image3.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 id="2147483672" r:id="rId5"/>
    <p:sldMasterId id="2147483696" r:id="rId6"/>
    <p:sldMasterId id="2147483720" r:id="rId7"/>
    <p:sldMasterId id="2147483744" r:id="rId8"/>
    <p:sldMasterId id="2147483768" r:id="rId9"/>
    <p:sldMasterId id="2147483792" r:id="rId10"/>
  </p:sldMasterIdLst>
  <p:notesMasterIdLst>
    <p:notesMasterId r:id="rId32"/>
  </p:notesMasterIdLst>
  <p:sldIdLst>
    <p:sldId id="307" r:id="rId11"/>
    <p:sldId id="477" r:id="rId44"/>
    <p:sldId id="478" r:id="rId45"/>
    <p:sldId id="479" r:id="rId46"/>
    <p:sldId id="480" r:id="rId47"/>
    <p:sldId id="481" r:id="rId48"/>
    <p:sldId id="482" r:id="rId49"/>
    <p:sldId id="483" r:id="rId50"/>
    <p:sldId id="484" r:id="rId51"/>
    <p:sldId id="485" r:id="rId52"/>
    <p:sldId id="486" r:id="rId53"/>
    <p:sldId id="487" r:id="rId54"/>
    <p:sldId id="488" r:id="rId55"/>
    <p:sldId id="489" r:id="rId56"/>
    <p:sldId id="490" r:id="rId57"/>
    <p:sldId id="491" r:id="rId58"/>
    <p:sldId id="492" r:id="rId59"/>
    <p:sldId id="493" r:id="rId60"/>
    <p:sldId id="494" r:id="rId61"/>
    <p:sldId id="495" r:id="rId6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1" userDrawn="1">
          <p15:clr>
            <a:srgbClr val="A4A3A4"/>
          </p15:clr>
        </p15:guide>
        <p15:guide id="2" pos="3818" userDrawn="1">
          <p15:clr>
            <a:srgbClr val="A4A3A4"/>
          </p15:clr>
        </p15:guide>
        <p15:guide id="3" orient="horz" pos="3807" userDrawn="1">
          <p15:clr>
            <a:srgbClr val="A4A3A4"/>
          </p15:clr>
        </p15:guide>
        <p15:guide id="4" orient="horz" pos="1088" userDrawn="1">
          <p15:clr>
            <a:srgbClr val="A4A3A4"/>
          </p15:clr>
        </p15:guide>
        <p15:guide id="5" pos="7450" userDrawn="1">
          <p15:clr>
            <a:srgbClr val="A4A3A4"/>
          </p15:clr>
        </p15:guide>
        <p15:guide id="6" pos="5162" userDrawn="1">
          <p15:clr>
            <a:srgbClr val="A4A3A4"/>
          </p15:clr>
        </p15:guide>
        <p15:guide id="7" pos="5995" userDrawn="1">
          <p15:clr>
            <a:srgbClr val="A4A3A4"/>
          </p15:clr>
        </p15:guide>
        <p15:guide id="8" pos="5010" userDrawn="1">
          <p15:clr>
            <a:srgbClr val="A4A3A4"/>
          </p15:clr>
        </p15:guide>
      </p15:sldGuideLst>
    </p:ext>
    <p:ext uri="{2D200454-40CA-4A62-9FC3-DE9A4176ACB9}">
      <p15:notesGuideLst xmlns:p15="http://schemas.microsoft.com/office/powerpoint/2012/main">
        <p15:guide id="1" orient="horz" pos="2908">
          <p15:clr>
            <a:srgbClr val="A4A3A4"/>
          </p15:clr>
        </p15:guide>
        <p15:guide id="2" pos="214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E30"/>
    <a:srgbClr val="DF4807"/>
    <a:srgbClr val="2C2E2E"/>
    <a:srgbClr val="000000"/>
    <a:srgbClr val="B92659"/>
    <a:srgbClr val="6D7373"/>
    <a:srgbClr val="0067A0"/>
    <a:srgbClr val="AAA39D"/>
    <a:srgbClr val="66FF33"/>
    <a:srgbClr val="142D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01" autoAdjust="0"/>
    <p:restoredTop sz="81139" autoAdjust="0"/>
  </p:normalViewPr>
  <p:slideViewPr>
    <p:cSldViewPr snapToGrid="0" showGuides="1">
      <p:cViewPr>
        <p:scale>
          <a:sx n="123" d="100"/>
          <a:sy n="123" d="100"/>
        </p:scale>
        <p:origin x="112" y="144"/>
      </p:cViewPr>
      <p:guideLst>
        <p:guide orient="horz" pos="2181"/>
        <p:guide pos="3818"/>
        <p:guide orient="horz" pos="3807"/>
        <p:guide orient="horz" pos="1088"/>
        <p:guide pos="7450"/>
        <p:guide pos="5162"/>
        <p:guide pos="5995"/>
        <p:guide pos="501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5" d="100"/>
          <a:sy n="45" d="100"/>
        </p:scale>
        <p:origin x="-2792" y="-72"/>
      </p:cViewPr>
      <p:guideLst>
        <p:guide orient="horz" pos="2908"/>
        <p:guide pos="2148"/>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 Target="slides/slide1.xml"/><Relationship Id="rId32"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22.xml"/><Relationship Id="rId45" Type="http://schemas.openxmlformats.org/officeDocument/2006/relationships/slide" Target="slides/slide23.xml"/><Relationship Id="rId46" Type="http://schemas.openxmlformats.org/officeDocument/2006/relationships/slide" Target="slides/slide24.xml"/><Relationship Id="rId47" Type="http://schemas.openxmlformats.org/officeDocument/2006/relationships/slide" Target="slides/slide25.xml"/><Relationship Id="rId48" Type="http://schemas.openxmlformats.org/officeDocument/2006/relationships/slide" Target="slides/slide26.xml"/><Relationship Id="rId49" Type="http://schemas.openxmlformats.org/officeDocument/2006/relationships/slide" Target="slides/slide27.xml"/><Relationship Id="rId50" Type="http://schemas.openxmlformats.org/officeDocument/2006/relationships/slide" Target="slides/slide28.xml"/><Relationship Id="rId51" Type="http://schemas.openxmlformats.org/officeDocument/2006/relationships/slide" Target="slides/slide29.xml"/><Relationship Id="rId52" Type="http://schemas.openxmlformats.org/officeDocument/2006/relationships/slide" Target="slides/slide30.xml"/><Relationship Id="rId53" Type="http://schemas.openxmlformats.org/officeDocument/2006/relationships/slide" Target="slides/slide31.xml"/><Relationship Id="rId54" Type="http://schemas.openxmlformats.org/officeDocument/2006/relationships/slide" Target="slides/slide32.xml"/><Relationship Id="rId55" Type="http://schemas.openxmlformats.org/officeDocument/2006/relationships/slide" Target="slides/slide33.xml"/><Relationship Id="rId56" Type="http://schemas.openxmlformats.org/officeDocument/2006/relationships/slide" Target="slides/slide34.xml"/><Relationship Id="rId57" Type="http://schemas.openxmlformats.org/officeDocument/2006/relationships/slide" Target="slides/slide35.xml"/><Relationship Id="rId58" Type="http://schemas.openxmlformats.org/officeDocument/2006/relationships/slide" Target="slides/slide36.xml"/><Relationship Id="rId59" Type="http://schemas.openxmlformats.org/officeDocument/2006/relationships/slide" Target="slides/slide37.xml"/><Relationship Id="rId60" Type="http://schemas.openxmlformats.org/officeDocument/2006/relationships/slide" Target="slides/slide38.xml"/><Relationship Id="rId61" Type="http://schemas.openxmlformats.org/officeDocument/2006/relationships/slide" Target="slides/slide39.xml"/><Relationship Id="rId62"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High-risk</c:v>
                </c:pt>
              </c:strCache>
            </c:strRef>
          </c:tx>
          <c:spPr>
            <a:solidFill>
              <a:srgbClr val="DF4807"/>
            </a:solidFill>
          </c:spPr>
          <c:cat>
            <c:strRef>
              <c:f>Sheet1!$A$2:$A$9</c:f>
              <c:strCache>
                <c:ptCount val="8"/>
                <c:pt idx="0">
                  <c:v>Biometrics</c:v>
                </c:pt>
                <c:pt idx="1">
                  <c:v>Critical infra.</c:v>
                </c:pt>
                <c:pt idx="2">
                  <c:v>Education</c:v>
                </c:pt>
                <c:pt idx="3">
                  <c:v>Employment</c:v>
                </c:pt>
                <c:pt idx="4">
                  <c:v>Essential services</c:v>
                </c:pt>
                <c:pt idx="5">
                  <c:v>Law enforcement</c:v>
                </c:pt>
                <c:pt idx="6">
                  <c:v>Migration</c:v>
                </c:pt>
                <c:pt idx="7">
                  <c:v>Justice &amp; democracy</c:v>
                </c:pt>
              </c:strCache>
            </c:strRef>
          </c:cat>
          <c:val>
            <c:numRef>
              <c:f>Sheet1!$B$2:$B$9</c:f>
              <c:numCache>
                <c:formatCode>General</c:formatCode>
                <c:ptCount val="8"/>
                <c:pt idx="0">
                  <c:v>14</c:v>
                </c:pt>
                <c:pt idx="1">
                  <c:v>8</c:v>
                </c:pt>
                <c:pt idx="2">
                  <c:v>9</c:v>
                </c:pt>
                <c:pt idx="3">
                  <c:v>14</c:v>
                </c:pt>
                <c:pt idx="4">
                  <c:v>21</c:v>
                </c:pt>
                <c:pt idx="5">
                  <c:v>0</c:v>
                </c:pt>
                <c:pt idx="6">
                  <c:v>0</c:v>
                </c:pt>
                <c:pt idx="7">
                  <c:v>0</c:v>
                </c:pt>
              </c:numCache>
            </c:numRef>
          </c:val>
        </c:ser>
        <c:ser>
          <c:idx val="1"/>
          <c:order val="1"/>
          <c:tx>
            <c:strRef>
              <c:f>Sheet1!$C$1</c:f>
              <c:strCache>
                <c:ptCount val="1"/>
                <c:pt idx="0">
                  <c:v>Not high-risk</c:v>
                </c:pt>
              </c:strCache>
            </c:strRef>
          </c:tx>
          <c:spPr>
            <a:solidFill>
              <a:srgbClr val="AAA39D"/>
            </a:solidFill>
          </c:spPr>
          <c:cat>
            <c:strRef>
              <c:f>Sheet1!$A$2:$A$9</c:f>
              <c:strCache>
                <c:ptCount val="8"/>
                <c:pt idx="0">
                  <c:v>Biometrics</c:v>
                </c:pt>
                <c:pt idx="1">
                  <c:v>Critical infra.</c:v>
                </c:pt>
                <c:pt idx="2">
                  <c:v>Education</c:v>
                </c:pt>
                <c:pt idx="3">
                  <c:v>Employment</c:v>
                </c:pt>
                <c:pt idx="4">
                  <c:v>Essential services</c:v>
                </c:pt>
                <c:pt idx="5">
                  <c:v>Law enforcement</c:v>
                </c:pt>
                <c:pt idx="6">
                  <c:v>Migration</c:v>
                </c:pt>
                <c:pt idx="7">
                  <c:v>Justice &amp; democracy</c:v>
                </c:pt>
              </c:strCache>
            </c:strRef>
          </c:cat>
          <c:val>
            <c:numRef>
              <c:f>Sheet1!$C$2:$C$9</c:f>
              <c:numCache>
                <c:formatCode>General</c:formatCode>
                <c:ptCount val="8"/>
                <c:pt idx="0">
                  <c:v>18</c:v>
                </c:pt>
                <c:pt idx="1">
                  <c:v>10</c:v>
                </c:pt>
                <c:pt idx="2">
                  <c:v>19</c:v>
                </c:pt>
                <c:pt idx="3">
                  <c:v>18</c:v>
                </c:pt>
                <c:pt idx="4">
                  <c:v>22</c:v>
                </c:pt>
                <c:pt idx="5">
                  <c:v>23</c:v>
                </c:pt>
                <c:pt idx="6">
                  <c:v>23</c:v>
                </c:pt>
                <c:pt idx="7">
                  <c:v>16</c:v>
                </c:pt>
              </c:numCache>
            </c:numRef>
          </c:val>
        </c:ser>
        <c:dLbls>
          <c:numFmt formatCode="0;;;" sourceLinked="0"/>
          <c:txPr>
            <a:bodyPr/>
            <a:lstStyle/>
            <a:p>
              <a:pPr>
                <a:defRPr sz="1000">
                  <a:solidFill>
                    <a:srgbClr val="FFFFFF"/>
                  </a:solidFil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axMin"/>
        </c:scaling>
        <c:delete val="0"/>
        <c:axPos val="l"/>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E4E1DE"/>
              </a:solidFill>
            </a:ln>
          </c:spPr>
        </c:majorGridlines>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129 inputs stating the verdict</c:v>
                </c:pt>
              </c:strCache>
            </c:strRef>
          </c:tx>
          <c:spPr>
            <a:solidFill>
              <a:srgbClr val="DF4807"/>
            </a:solidFill>
          </c:spPr>
          <c:cat>
            <c:strRef>
              <c:f>Sheet1!$A$2:$A$4</c:f>
              <c:strCache>
                <c:ptCount val="3"/>
                <c:pt idx="0">
                  <c:v>Plain LLM</c:v>
                </c:pt>
                <c:pt idx="1">
                  <c:v>Standard RAG</c:v>
                </c:pt>
                <c:pt idx="2">
                  <c:v>Agent</c:v>
                </c:pt>
              </c:strCache>
            </c:strRef>
          </c:cat>
          <c:val>
            <c:numRef>
              <c:f>Sheet1!$B$2:$B$4</c:f>
              <c:numCache>
                <c:formatCode>General</c:formatCode>
                <c:ptCount val="3"/>
                <c:pt idx="0">
                  <c:v>0.938</c:v>
                </c:pt>
                <c:pt idx="1">
                  <c:v>0.922</c:v>
                </c:pt>
                <c:pt idx="2">
                  <c:v>0.961</c:v>
                </c:pt>
              </c:numCache>
            </c:numRef>
          </c:val>
        </c:ser>
        <c:ser>
          <c:idx val="1"/>
          <c:order val="1"/>
          <c:tx>
            <c:strRef>
              <c:f>Sheet1!$C$1</c:f>
              <c:strCache>
                <c:ptCount val="1"/>
                <c:pt idx="0">
                  <c:v>86 clean inputs</c:v>
                </c:pt>
              </c:strCache>
            </c:strRef>
          </c:tx>
          <c:spPr>
            <a:solidFill>
              <a:srgbClr val="AAA39D"/>
            </a:solidFill>
          </c:spPr>
          <c:cat>
            <c:strRef>
              <c:f>Sheet1!$A$2:$A$4</c:f>
              <c:strCache>
                <c:ptCount val="3"/>
                <c:pt idx="0">
                  <c:v>Plain LLM</c:v>
                </c:pt>
                <c:pt idx="1">
                  <c:v>Standard RAG</c:v>
                </c:pt>
                <c:pt idx="2">
                  <c:v>Agent</c:v>
                </c:pt>
              </c:strCache>
            </c:strRef>
          </c:cat>
          <c:val>
            <c:numRef>
              <c:f>Sheet1!$C$2:$C$4</c:f>
              <c:numCache>
                <c:formatCode>General</c:formatCode>
                <c:ptCount val="3"/>
                <c:pt idx="0">
                  <c:v>0.674</c:v>
                </c:pt>
                <c:pt idx="1">
                  <c:v>0.953</c:v>
                </c:pt>
                <c:pt idx="2">
                  <c:v>0.953</c:v>
                </c:pt>
              </c:numCache>
            </c:numRef>
          </c:val>
        </c:ser>
        <c:dLbls>
          <c:numFmt formatCode="0.00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1.1"/>
          <c:min val="0.0"/>
        </c:scaling>
        <c:delete val="0"/>
        <c:axPos val="l"/>
        <c:majorGridlines>
          <c:spPr>
            <a:ln>
              <a:solidFill>
                <a:srgbClr val="E4E1DE"/>
              </a:solidFill>
            </a:ln>
          </c:spPr>
        </c:majorGridlines>
        <c:numFmt formatCode="0.0" sourceLinked="0"/>
        <c:majorTickMark val="out"/>
        <c:minorTickMark val="none"/>
        <c:tickLblPos val="nextTo"/>
        <c:spPr>
          <a:ln>
            <a:noFill/>
          </a:ln>
        </c:spPr>
        <c:txPr>
          <a:bodyPr/>
          <a:lstStyle/>
          <a:p>
            <a:pPr>
              <a:defRPr sz="1000"/>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Original inputs</c:v>
                </c:pt>
              </c:strCache>
            </c:strRef>
          </c:tx>
          <c:spPr>
            <a:solidFill>
              <a:srgbClr val="AAA39D"/>
            </a:solidFill>
          </c:spPr>
          <c:cat>
            <c:strRef>
              <c:f>Sheet1!$A$2:$A$4</c:f>
              <c:strCache>
                <c:ptCount val="3"/>
                <c:pt idx="0">
                  <c:v>Plain LLM</c:v>
                </c:pt>
                <c:pt idx="1">
                  <c:v>Standard RAG</c:v>
                </c:pt>
                <c:pt idx="2">
                  <c:v>Agent</c:v>
                </c:pt>
              </c:strCache>
            </c:strRef>
          </c:cat>
          <c:val>
            <c:numRef>
              <c:f>Sheet1!$B$2:$B$4</c:f>
              <c:numCache>
                <c:formatCode>General</c:formatCode>
                <c:ptCount val="3"/>
                <c:pt idx="0">
                  <c:v>0.833</c:v>
                </c:pt>
                <c:pt idx="1">
                  <c:v>0.935</c:v>
                </c:pt>
                <c:pt idx="2">
                  <c:v>0.958</c:v>
                </c:pt>
              </c:numCache>
            </c:numRef>
          </c:val>
        </c:ser>
        <c:ser>
          <c:idx val="1"/>
          <c:order val="1"/>
          <c:tx>
            <c:strRef>
              <c:f>Sheet1!$C$1</c:f>
              <c:strCache>
                <c:ptCount val="1"/>
                <c:pt idx="0">
                  <c:v>Redacted inputs</c:v>
                </c:pt>
              </c:strCache>
            </c:strRef>
          </c:tx>
          <c:spPr>
            <a:solidFill>
              <a:srgbClr val="DF4807"/>
            </a:solidFill>
          </c:spPr>
          <c:cat>
            <c:strRef>
              <c:f>Sheet1!$A$2:$A$4</c:f>
              <c:strCache>
                <c:ptCount val="3"/>
                <c:pt idx="0">
                  <c:v>Plain LLM</c:v>
                </c:pt>
                <c:pt idx="1">
                  <c:v>Standard RAG</c:v>
                </c:pt>
                <c:pt idx="2">
                  <c:v>Agent</c:v>
                </c:pt>
              </c:strCache>
            </c:strRef>
          </c:cat>
          <c:val>
            <c:numRef>
              <c:f>Sheet1!$C$2:$C$4</c:f>
              <c:numCache>
                <c:formatCode>General</c:formatCode>
                <c:ptCount val="3"/>
                <c:pt idx="0">
                  <c:v>0.688</c:v>
                </c:pt>
                <c:pt idx="1">
                  <c:v>0.879</c:v>
                </c:pt>
                <c:pt idx="2">
                  <c:v>0.856</c:v>
                </c:pt>
              </c:numCache>
            </c:numRef>
          </c:val>
        </c:ser>
        <c:dLbls>
          <c:numFmt formatCode="0.00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1.1"/>
          <c:min val="0.0"/>
        </c:scaling>
        <c:delete val="0"/>
        <c:axPos val="l"/>
        <c:majorGridlines>
          <c:spPr>
            <a:ln>
              <a:solidFill>
                <a:srgbClr val="E4E1DE"/>
              </a:solidFill>
            </a:ln>
          </c:spPr>
        </c:majorGridlines>
        <c:numFmt formatCode="0.0" sourceLinked="0"/>
        <c:majorTickMark val="out"/>
        <c:minorTickMark val="none"/>
        <c:tickLblPos val="nextTo"/>
        <c:spPr>
          <a:ln>
            <a:noFill/>
          </a:ln>
        </c:spPr>
        <c:txPr>
          <a:bodyPr/>
          <a:lstStyle/>
          <a:p>
            <a:pPr>
              <a:defRPr sz="1000"/>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7575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Standard RAG</c:v>
                </c:pt>
              </c:strCache>
            </c:strRef>
          </c:tx>
          <c:spPr>
            <a:ln w="31750">
              <a:solidFill>
                <a:srgbClr val="AAA39D"/>
              </a:solidFill>
            </a:ln>
          </c:spPr>
          <c:marker>
            <c:spPr>
              <a:solidFill>
                <a:srgbClr val="AAA39D"/>
              </a:solidFill>
              <a:ln>
                <a:solidFill>
                  <a:srgbClr val="AAA39D"/>
                </a:solidFill>
              </a:ln>
            </c:spPr>
          </c:marker>
          <c:cat>
            <c:strRef>
              <c:f>Sheet1!$A$2:$A$5</c:f>
              <c:strCache>
                <c:ptCount val="4"/>
                <c:pt idx="0">
                  <c:v>0.3</c:v>
                </c:pt>
                <c:pt idx="1">
                  <c:v>0.5</c:v>
                </c:pt>
                <c:pt idx="2">
                  <c:v>0.7</c:v>
                </c:pt>
                <c:pt idx="3">
                  <c:v>0.9</c:v>
                </c:pt>
              </c:strCache>
            </c:strRef>
          </c:cat>
          <c:val>
            <c:numRef>
              <c:f>Sheet1!$B$2:$B$5</c:f>
              <c:numCache>
                <c:formatCode>General</c:formatCode>
                <c:ptCount val="4"/>
                <c:pt idx="0">
                  <c:v>0.808</c:v>
                </c:pt>
                <c:pt idx="1">
                  <c:v>0.538</c:v>
                </c:pt>
                <c:pt idx="2">
                  <c:v>0.038</c:v>
                </c:pt>
                <c:pt idx="3">
                  <c:v>0.0</c:v>
                </c:pt>
              </c:numCache>
            </c:numRef>
          </c:val>
          <c:smooth val="0"/>
        </c:ser>
        <c:ser>
          <c:idx val="1"/>
          <c:order val="1"/>
          <c:tx>
            <c:strRef>
              <c:f>Sheet1!$C$1</c:f>
              <c:strCache>
                <c:ptCount val="1"/>
                <c:pt idx="0">
                  <c:v>Agent</c:v>
                </c:pt>
              </c:strCache>
            </c:strRef>
          </c:tx>
          <c:spPr>
            <a:ln w="31750">
              <a:solidFill>
                <a:srgbClr val="DF4807"/>
              </a:solidFill>
            </a:ln>
          </c:spPr>
          <c:marker>
            <c:spPr>
              <a:solidFill>
                <a:srgbClr val="DF4807"/>
              </a:solidFill>
              <a:ln>
                <a:solidFill>
                  <a:srgbClr val="DF4807"/>
                </a:solidFill>
              </a:ln>
            </c:spPr>
          </c:marker>
          <c:dLbls>
            <c:numFmt formatCode="0%" sourceLinked="0"/>
            <c:txPr>
              <a:bodyPr/>
              <a:lstStyle/>
              <a:p>
                <a:pPr>
                  <a:defRPr sz="1100" b="1">
                    <a:solidFill>
                      <a:srgbClr val="DF4807"/>
                    </a:solidFill>
                  </a:defRPr>
                </a:pPr>
              </a:p>
            </c:txPr>
            <c:dLblPos val="t"/>
            <c:showLegendKey val="0"/>
            <c:showVal val="1"/>
            <c:showCatName val="0"/>
            <c:showSerName val="0"/>
            <c:showPercent val="0"/>
            <c:showBubbleSize val="0"/>
            <c:showLeaderLines val="1"/>
          </c:dLbls>
          <c:cat>
            <c:strRef>
              <c:f>Sheet1!$A$2:$A$5</c:f>
              <c:strCache>
                <c:ptCount val="4"/>
                <c:pt idx="0">
                  <c:v>0.3</c:v>
                </c:pt>
                <c:pt idx="1">
                  <c:v>0.5</c:v>
                </c:pt>
                <c:pt idx="2">
                  <c:v>0.7</c:v>
                </c:pt>
                <c:pt idx="3">
                  <c:v>0.9</c:v>
                </c:pt>
              </c:strCache>
            </c:strRef>
          </c:cat>
          <c:val>
            <c:numRef>
              <c:f>Sheet1!$C$2:$C$5</c:f>
              <c:numCache>
                <c:formatCode>General</c:formatCode>
                <c:ptCount val="4"/>
                <c:pt idx="0">
                  <c:v>0.71</c:v>
                </c:pt>
                <c:pt idx="1">
                  <c:v>0.548</c:v>
                </c:pt>
                <c:pt idx="2">
                  <c:v>0.226</c:v>
                </c:pt>
                <c:pt idx="3">
                  <c:v>0.032</c:v>
                </c:pt>
              </c:numCache>
            </c:numRef>
          </c:val>
          <c:smooth val="0"/>
        </c:ser>
        <c:marker val="1"/>
        <c:smooth val="0"/>
        <c:axId val="2118791784"/>
        <c:axId val="2140495176"/>
      </c:lineChart>
      <c:catAx>
        <c:axId val="2118791784"/>
        <c:scaling>
          <c:orientation val="minMax"/>
        </c:scaling>
        <c:delete val="0"/>
        <c:axPos val="b"/>
        <c:title>
          <c:tx>
            <c:rich>
              <a:bodyPr/>
              <a:lstStyle/>
              <a:p>
                <a:r>
                  <a:rPr sz="1100" b="0"/>
                  <a:t>Faithful cut (score counted as faithful at or above)</a:t>
                </a:r>
              </a:p>
            </c:rich>
          </c:tx>
          <c:layout/>
          <c:overlay val="0"/>
        </c:title>
        <c:majorTickMark val="out"/>
        <c:minorTickMark val="none"/>
        <c:tickLblPos val="nextTo"/>
        <c:spPr>
          <a:ln>
            <a:solidFill>
              <a:srgbClr val="AAA39D"/>
            </a:solidFill>
          </a:ln>
        </c:spPr>
        <c:txPr>
          <a:bodyPr/>
          <a:lstStyle/>
          <a:p>
            <a:pPr>
              <a:defRPr sz="1100"/>
            </a:pPr>
          </a:p>
        </c:txPr>
        <c:crossAx val="2140495176"/>
        <c:crosses val="autoZero"/>
        <c:auto val="1"/>
        <c:lblAlgn val="ctr"/>
        <c:lblOffset val="100"/>
        <c:noMultiLvlLbl val="0"/>
      </c:catAx>
      <c:valAx>
        <c:axId val="2140495176"/>
        <c:scaling>
          <c:max val="1.0"/>
          <c:min val="0.0"/>
        </c:scaling>
        <c:delete val="0"/>
        <c:axPos val="l"/>
        <c:majorGridlines>
          <c:spPr>
            <a:ln>
              <a:solidFill>
                <a:srgbClr val="E4E1DE"/>
              </a:solidFill>
            </a:ln>
          </c:spPr>
        </c:majorGridlines>
        <c:numFmt formatCode="0%" sourceLinked="0"/>
        <c:majorTickMark val="out"/>
        <c:minorTickMark val="none"/>
        <c:tickLblPos val="nextTo"/>
        <c:spPr>
          <a:ln>
            <a:noFill/>
          </a:ln>
        </c:spPr>
        <c:txPr>
          <a:bodyPr/>
          <a:lstStyle/>
          <a:p>
            <a:pPr>
              <a:defRPr sz="1000"/>
            </a:pPr>
          </a:p>
        </c:txPr>
        <c:crossAx val="2118791784"/>
        <c:crosses val="autoZero"/>
        <c:majorUnit val="0.2"/>
      </c:valAx>
    </c:plotArea>
    <c:legend>
      <c:legendPos val="b"/>
      <c:layout/>
      <c:overlay val="0"/>
      <c:txPr>
        <a:bodyPr/>
        <a:lstStyle/>
        <a:p>
          <a:pPr>
            <a:defRPr sz="1100"/>
          </a:pPr>
        </a:p>
      </c:txPr>
    </c:legend>
    <c:plotVisOnly val="1"/>
    <c:dispBlanksAs val="gap"/>
    <c:showDLblsOverMax val="0"/>
  </c:chart>
  <c:txPr>
    <a:bodyPr/>
    <a:lstStyle/>
    <a:p>
      <a:pPr>
        <a:defRPr sz="1100">
          <a:solidFill>
            <a:srgbClr val="575756"/>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Answers</c:v>
                </c:pt>
              </c:strCache>
            </c:strRef>
          </c:tx>
          <c:spPr>
            <a:solidFill>
              <a:srgbClr val="DF4807"/>
            </a:solidFill>
          </c:spPr>
          <c:cat>
            <c:strRef>
              <c:f>Sheet1!$A$2:$A$6</c:f>
              <c:strCache>
                <c:ptCount val="5"/>
                <c:pt idx="0">
                  <c:v>A. Sector taken as the use case</c:v>
                </c:pt>
                <c:pt idx="1">
                  <c:v>B. 6(3) exception not applied</c:v>
                </c:pt>
                <c:pt idx="2">
                  <c:v>C. Profiling rule misused</c:v>
                </c:pt>
                <c:pt idx="3">
                  <c:v>D. Condition misread / fact invented</c:v>
                </c:pt>
                <c:pt idx="4">
                  <c:v>E. Too cautious on short input</c:v>
                </c:pt>
              </c:strCache>
            </c:strRef>
          </c:cat>
          <c:val>
            <c:numRef>
              <c:f>Sheet1!$B$2:$B$6</c:f>
              <c:numCache>
                <c:formatCode>General</c:formatCode>
                <c:ptCount val="5"/>
                <c:pt idx="0">
                  <c:v>6</c:v>
                </c:pt>
                <c:pt idx="1">
                  <c:v>4</c:v>
                </c:pt>
                <c:pt idx="2">
                  <c:v>3</c:v>
                </c:pt>
                <c:pt idx="3">
                  <c:v>2</c:v>
                </c:pt>
                <c:pt idx="4">
                  <c:v>2</c:v>
                </c:pt>
              </c:numCache>
            </c:numRef>
          </c:val>
        </c:ser>
        <c:dLbls>
          <c:numFmt formatCode="0" sourceLinked="0"/>
          <c:txPr>
            <a:bodyPr/>
            <a:lstStyle/>
            <a:p>
              <a:pPr>
                <a:defRPr sz="1000">
                  <a:solidFill>
                    <a:srgbClr val="575756"/>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out"/>
        <c:minorTickMark val="none"/>
        <c:tickLblPos val="nextTo"/>
        <c:spPr>
          <a:ln>
            <a:solidFill>
              <a:srgbClr val="AAA39D"/>
            </a:solidFill>
          </a:ln>
        </c:spPr>
        <c:txPr>
          <a:bodyPr/>
          <a:lstStyle/>
          <a:p>
            <a:pPr>
              <a:defRPr sz="1100"/>
            </a:pPr>
          </a:p>
        </c:txPr>
        <c:crossAx val="-2113994440"/>
        <c:crosses val="autoZero"/>
        <c:auto val="1"/>
        <c:lblAlgn val="ctr"/>
        <c:lblOffset val="100"/>
        <c:noMultiLvlLbl val="0"/>
      </c:catAx>
      <c:valAx>
        <c:axId val="-2113994440"/>
        <c:scaling>
          <c:max val="7.0"/>
          <c:min val="0.0"/>
        </c:scaling>
        <c:delete/>
        <c:axPos val="b"/>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100">
          <a:solidFill>
            <a:srgbClr val="57575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7A3E2A-35AE-479C-B172-30C9CAEEE094}" type="datetimeFigureOut">
              <a:rPr lang="de-DE" smtClean="0"/>
              <a:t>29.09.26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91045-FCBB-4EC9-AB5F-AA4CFDEA61CB}" type="slidenum">
              <a:rPr lang="de-DE" smtClean="0"/>
              <a:t>‹#›</a:t>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One sentence: this study asks whether the standard faithfulness metric for RAG systems tells you anything about whether a legal classification is actually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Faithfulness checks grounding, not correctness. Crossing the two gives four buckets; the off-diagonal ones are the findings. The study is designed to give a real answer either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legal test in four steps. The answer key comes from the Commission's own worked examples, which is what makes a correctness axis possible at 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has no high-risk examples for law enforcement, migration and justice, so those areas test correct rejection only. Imbalance handled by reporting precision, recall and F1 next to accuracy.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top to bottom: source split, shared retrieval, three configurations, evaluation harness, four buckets.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local open generator replaced the planned paid API model: it can be pinned, rerun and costs nothing. It proved fully reliable, so model reliability is not a story 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model: 0.94 on leaky rows, 0.67 on clean rows. Retrieval systems barely affected. Fixed by redaction and a full rerun; disclosed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Grounding in the guidelines removes most false alarms. The step-by-step agent is not better than a generic RAG prompt. The leak had even flipped the ranking of the two.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patterns: critical infrastructure is hard for everyone because of the safety-component test; the plain model over-calls in law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 is the chance that a random right answer scores higher than a random wrong one. 0.5 is a coin flip. For the agent the confidence interval includes 0.5.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Faithful but wrong: 17 agent, 14 standard RAG. Right but unfaithful: about half of correct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agent 22, 17, 7, 1 of 31. Standard RAG 21, 14, 1, 0 of 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had the right rule but applied it wrongly. The judge accepts the conclusion because the passages state the general rule correctly. Faithfulness never checks the application step.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takeaways, most important first.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the limits; each maps to a concrete next step.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one-line takeaway and the practical recommendation: faithfulness is necessary but not sufficient; wherever a ground truth exists, report a correctness check next to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sv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elfolie Logo Farbe">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elfolie Logo weiß">
    <p:bg>
      <p:bgPr>
        <a:solidFill>
          <a:schemeClr val="bg1"/>
        </a:solidFill>
        <a:effectLst/>
      </p:bgPr>
    </p:bg>
    <p:spTree>
      <p:nvGrpSpPr>
        <p:cNvPr id="1" name=""/>
        <p:cNvGrpSpPr/>
        <p:nvPr/>
      </p:nvGrpSpPr>
      <p:grpSpPr>
        <a:xfrm>
          <a:off x="0" y="0"/>
          <a:ext cx="0" cy="0"/>
          <a:chOff x="0" y="0"/>
          <a:chExt cx="0" cy="0"/>
        </a:xfrm>
      </p:grpSpPr>
      <p:sp>
        <p:nvSpPr>
          <p:cNvPr id="68" name="Bildplatzhalter 67"/>
          <p:cNvSpPr>
            <a:spLocks noGrp="1"/>
          </p:cNvSpPr>
          <p:nvPr>
            <p:ph type="pic" sz="quarter" idx="21"/>
          </p:nvPr>
        </p:nvSpPr>
        <p:spPr>
          <a:xfrm>
            <a:off x="0" y="0"/>
            <a:ext cx="12192000" cy="6858000"/>
          </a:xfrm>
          <a:solidFill>
            <a:schemeClr val="accent1">
              <a:lumMod val="20000"/>
              <a:lumOff val="80000"/>
            </a:schemeClr>
          </a:solidFill>
        </p:spPr>
        <p:txBody>
          <a:bodyPr/>
          <a:lstStyle/>
          <a:p>
            <a:endParaRPr lang="de-DE"/>
          </a:p>
        </p:txBody>
      </p:sp>
      <p:sp>
        <p:nvSpPr>
          <p:cNvPr id="3" name="Untertitel 2"/>
          <p:cNvSpPr>
            <a:spLocks noGrp="1"/>
          </p:cNvSpPr>
          <p:nvPr>
            <p:ph type="subTitle" idx="1" hasCustomPrompt="1"/>
          </p:nvPr>
        </p:nvSpPr>
        <p:spPr>
          <a:xfrm>
            <a:off x="630168" y="4256282"/>
            <a:ext cx="7401024" cy="1048109"/>
          </a:xfrm>
        </p:spPr>
        <p:txBody>
          <a:bodyPr lIns="0" tIns="0" rIns="0" bIns="0"/>
          <a:lstStyle>
            <a:lvl1pPr marL="0" indent="0" algn="l">
              <a:lnSpc>
                <a:spcPct val="100000"/>
              </a:lnSpc>
              <a:spcBef>
                <a:spcPts val="0"/>
              </a:spcBef>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2" name="Titel 1"/>
          <p:cNvSpPr>
            <a:spLocks noGrp="1"/>
          </p:cNvSpPr>
          <p:nvPr>
            <p:ph type="ctrTitle" hasCustomPrompt="1"/>
          </p:nvPr>
        </p:nvSpPr>
        <p:spPr>
          <a:xfrm>
            <a:off x="630168" y="1079233"/>
            <a:ext cx="7401024" cy="3018316"/>
          </a:xfrm>
        </p:spPr>
        <p:txBody>
          <a:bodyPr lIns="0" tIns="0" rIns="0" bIns="0" anchor="b"/>
          <a:lstStyle>
            <a:lvl1pPr algn="l">
              <a:defRPr sz="4000">
                <a:solidFill>
                  <a:schemeClr val="bg1"/>
                </a:solidFill>
              </a:defRPr>
            </a:lvl1pPr>
          </a:lstStyle>
          <a:p>
            <a:r>
              <a:rPr lang="de-DE" dirty="0"/>
              <a:t>Mastertitelformat bearbeiten</a:t>
            </a:r>
          </a:p>
        </p:txBody>
      </p:sp>
      <p:sp>
        <p:nvSpPr>
          <p:cNvPr id="6" name="Textplatzhalter 5"/>
          <p:cNvSpPr>
            <a:spLocks noGrp="1"/>
          </p:cNvSpPr>
          <p:nvPr>
            <p:ph type="body" sz="quarter" idx="10" hasCustomPrompt="1"/>
          </p:nvPr>
        </p:nvSpPr>
        <p:spPr>
          <a:xfrm>
            <a:off x="9652820" y="622144"/>
            <a:ext cx="1985963" cy="553513"/>
          </a:xfrm>
        </p:spPr>
        <p:txBody>
          <a:bodyPr/>
          <a:lstStyle>
            <a:lvl1pPr>
              <a:lnSpc>
                <a:spcPct val="94000"/>
              </a:lnSpc>
              <a:spcBef>
                <a:spcPts val="0"/>
              </a:spcBef>
              <a:defRPr sz="1550" b="1">
                <a:solidFill>
                  <a:schemeClr val="bg1"/>
                </a:solidFill>
              </a:defRPr>
            </a:lvl1pPr>
            <a:lvl2pPr marL="0" indent="0">
              <a:lnSpc>
                <a:spcPct val="94000"/>
              </a:lnSpc>
              <a:spcBef>
                <a:spcPts val="0"/>
              </a:spcBef>
              <a:buNone/>
              <a:defRPr sz="1550" b="1">
                <a:solidFill>
                  <a:schemeClr val="bg1"/>
                </a:solidFill>
              </a:defRPr>
            </a:lvl2pPr>
            <a:lvl3pPr marL="0" indent="0">
              <a:lnSpc>
                <a:spcPct val="94000"/>
              </a:lnSpc>
              <a:buNone/>
              <a:defRPr sz="1550" b="1">
                <a:solidFill>
                  <a:schemeClr val="bg1"/>
                </a:solidFill>
              </a:defRPr>
            </a:lvl3pPr>
            <a:lvl4pPr>
              <a:lnSpc>
                <a:spcPct val="94000"/>
              </a:lnSpc>
              <a:spcBef>
                <a:spcPts val="0"/>
              </a:spcBef>
              <a:defRPr sz="1550" b="1">
                <a:solidFill>
                  <a:schemeClr val="bg1"/>
                </a:solidFill>
              </a:defRPr>
            </a:lvl4pPr>
            <a:lvl5pPr>
              <a:lnSpc>
                <a:spcPct val="94000"/>
              </a:lnSpc>
              <a:spcBef>
                <a:spcPts val="0"/>
              </a:spcBef>
              <a:defRPr sz="1550" b="1">
                <a:solidFill>
                  <a:schemeClr val="bg1"/>
                </a:solidFill>
              </a:defRPr>
            </a:lvl5pPr>
            <a:lvl6pPr>
              <a:lnSpc>
                <a:spcPct val="94000"/>
              </a:lnSpc>
              <a:spcBef>
                <a:spcPts val="0"/>
              </a:spcBef>
              <a:defRPr sz="1550">
                <a:solidFill>
                  <a:schemeClr val="bg1"/>
                </a:solidFill>
              </a:defRPr>
            </a:lvl6pPr>
            <a:lvl7pPr>
              <a:lnSpc>
                <a:spcPct val="94000"/>
              </a:lnSpc>
              <a:spcBef>
                <a:spcPts val="0"/>
              </a:spcBef>
              <a:defRPr sz="1550">
                <a:solidFill>
                  <a:schemeClr val="bg1"/>
                </a:solidFill>
                <a:latin typeface="+mn-lt"/>
              </a:defRPr>
            </a:lvl7pPr>
            <a:lvl8pPr>
              <a:lnSpc>
                <a:spcPct val="94000"/>
              </a:lnSpc>
              <a:spcBef>
                <a:spcPts val="0"/>
              </a:spcBef>
              <a:defRPr sz="1550">
                <a:solidFill>
                  <a:schemeClr val="bg1"/>
                </a:solidFill>
                <a:latin typeface="+mn-lt"/>
              </a:defRPr>
            </a:lvl8pPr>
            <a:lvl9pPr>
              <a:lnSpc>
                <a:spcPct val="94000"/>
              </a:lnSpc>
              <a:spcBef>
                <a:spcPts val="0"/>
              </a:spcBef>
              <a:defRPr sz="1550" b="1">
                <a:solidFill>
                  <a:schemeClr val="bg1"/>
                </a:solidFill>
              </a:defRPr>
            </a:lvl9pPr>
          </a:lstStyle>
          <a:p>
            <a:pPr lvl="0"/>
            <a:r>
              <a:rPr lang="de-DE" dirty="0"/>
              <a:t>Mastertextformat bearbeiten</a:t>
            </a:r>
          </a:p>
        </p:txBody>
      </p:sp>
      <p:sp>
        <p:nvSpPr>
          <p:cNvPr id="8" name="srh Logo"/>
          <p:cNvSpPr>
            <a:spLocks noGrp="1"/>
          </p:cNvSpPr>
          <p:nvPr>
            <p:ph type="dgm" sz="quarter" idx="16"/>
          </p:nvPr>
        </p:nvSpPr>
        <p:spPr>
          <a:xfrm>
            <a:off x="630000" y="458084"/>
            <a:ext cx="948335" cy="733815"/>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_Gliederung">
    <p:spTree>
      <p:nvGrpSpPr>
        <p:cNvPr id="1" name=""/>
        <p:cNvGrpSpPr/>
        <p:nvPr/>
      </p:nvGrpSpPr>
      <p:grpSpPr>
        <a:xfrm>
          <a:off x="0" y="0"/>
          <a:ext cx="0" cy="0"/>
          <a:chOff x="0" y="0"/>
          <a:chExt cx="0" cy="0"/>
        </a:xfrm>
      </p:grpSpPr>
      <p:sp>
        <p:nvSpPr>
          <p:cNvPr id="29" name="Logo-Fragment"/>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Datumsplatzhalter 3"/>
          <p:cNvSpPr>
            <a:spLocks noGrp="1"/>
          </p:cNvSpPr>
          <p:nvPr>
            <p:ph type="dt" sz="half" idx="10"/>
          </p:nvPr>
        </p:nvSpPr>
        <p:spPr/>
        <p:txBody>
          <a:bodyPr/>
          <a:lstStyle/>
          <a:p>
            <a:fld id="{564D4115-5D2A-0E43-89B9-C68BCDCACB82}" type="datetime1">
              <a:rPr lang="de-DE" smtClean="0"/>
              <a:t>29.09.26</a:t>
            </a:fld>
            <a:endParaRPr lang="de-DE" dirty="0"/>
          </a:p>
        </p:txBody>
      </p:sp>
      <p:sp>
        <p:nvSpPr>
          <p:cNvPr id="90" name="Thema 10"/>
          <p:cNvSpPr>
            <a:spLocks noGrp="1"/>
          </p:cNvSpPr>
          <p:nvPr>
            <p:ph type="body" sz="quarter" idx="32" hasCustomPrompt="1"/>
          </p:nvPr>
        </p:nvSpPr>
        <p:spPr>
          <a:xfrm>
            <a:off x="6773464"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91" name="Zahl Thema 10"/>
          <p:cNvSpPr>
            <a:spLocks noGrp="1"/>
          </p:cNvSpPr>
          <p:nvPr>
            <p:ph type="body" sz="quarter" idx="33" hasCustomPrompt="1"/>
          </p:nvPr>
        </p:nvSpPr>
        <p:spPr>
          <a:xfrm>
            <a:off x="62760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8" name="Thema 9"/>
          <p:cNvSpPr>
            <a:spLocks noGrp="1"/>
          </p:cNvSpPr>
          <p:nvPr>
            <p:ph type="body" sz="quarter" idx="30" hasCustomPrompt="1"/>
          </p:nvPr>
        </p:nvSpPr>
        <p:spPr>
          <a:xfrm>
            <a:off x="6773464"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9" name="Zahl Thema 9"/>
          <p:cNvSpPr>
            <a:spLocks noGrp="1"/>
          </p:cNvSpPr>
          <p:nvPr>
            <p:ph type="body" sz="quarter" idx="31" hasCustomPrompt="1"/>
          </p:nvPr>
        </p:nvSpPr>
        <p:spPr>
          <a:xfrm>
            <a:off x="62760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6" name="Thema 8"/>
          <p:cNvSpPr>
            <a:spLocks noGrp="1"/>
          </p:cNvSpPr>
          <p:nvPr>
            <p:ph type="body" sz="quarter" idx="28" hasCustomPrompt="1"/>
          </p:nvPr>
        </p:nvSpPr>
        <p:spPr>
          <a:xfrm>
            <a:off x="6773464"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7" name="Zahl Thema 8"/>
          <p:cNvSpPr>
            <a:spLocks noGrp="1"/>
          </p:cNvSpPr>
          <p:nvPr>
            <p:ph type="body" sz="quarter" idx="29" hasCustomPrompt="1"/>
          </p:nvPr>
        </p:nvSpPr>
        <p:spPr>
          <a:xfrm>
            <a:off x="62760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2" name="Thema 7"/>
          <p:cNvSpPr>
            <a:spLocks noGrp="1"/>
          </p:cNvSpPr>
          <p:nvPr>
            <p:ph type="body" sz="quarter" idx="26" hasCustomPrompt="1"/>
          </p:nvPr>
        </p:nvSpPr>
        <p:spPr>
          <a:xfrm>
            <a:off x="6773464"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3" name="Zahl Thema 7"/>
          <p:cNvSpPr>
            <a:spLocks noGrp="1"/>
          </p:cNvSpPr>
          <p:nvPr>
            <p:ph type="body" sz="quarter" idx="27" hasCustomPrompt="1"/>
          </p:nvPr>
        </p:nvSpPr>
        <p:spPr>
          <a:xfrm>
            <a:off x="62760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81" name="Thema 6"/>
          <p:cNvSpPr>
            <a:spLocks noGrp="1"/>
          </p:cNvSpPr>
          <p:nvPr>
            <p:ph type="body" sz="quarter" idx="25" hasCustomPrompt="1"/>
          </p:nvPr>
        </p:nvSpPr>
        <p:spPr>
          <a:xfrm>
            <a:off x="6773464"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80" name="Zahl Thema 6"/>
          <p:cNvSpPr>
            <a:spLocks noGrp="1"/>
          </p:cNvSpPr>
          <p:nvPr>
            <p:ph type="body" sz="quarter" idx="24" hasCustomPrompt="1"/>
          </p:nvPr>
        </p:nvSpPr>
        <p:spPr>
          <a:xfrm>
            <a:off x="62760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9" name="Thema 5"/>
          <p:cNvSpPr>
            <a:spLocks noGrp="1"/>
          </p:cNvSpPr>
          <p:nvPr>
            <p:ph type="body" sz="quarter" idx="23" hasCustomPrompt="1"/>
          </p:nvPr>
        </p:nvSpPr>
        <p:spPr>
          <a:xfrm>
            <a:off x="862642" y="4854251"/>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Thema</a:t>
            </a:r>
          </a:p>
          <a:p>
            <a:pPr lvl="1"/>
            <a:r>
              <a:rPr lang="de-DE"/>
              <a:t>Beschreibung</a:t>
            </a:r>
          </a:p>
        </p:txBody>
      </p:sp>
      <p:sp>
        <p:nvSpPr>
          <p:cNvPr id="78" name="Zahl Thema 5"/>
          <p:cNvSpPr>
            <a:spLocks noGrp="1"/>
          </p:cNvSpPr>
          <p:nvPr>
            <p:ph type="body" sz="quarter" idx="22" hasCustomPrompt="1"/>
          </p:nvPr>
        </p:nvSpPr>
        <p:spPr>
          <a:xfrm>
            <a:off x="359400" y="4854251"/>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7" name="Thema 4"/>
          <p:cNvSpPr>
            <a:spLocks noGrp="1"/>
          </p:cNvSpPr>
          <p:nvPr>
            <p:ph type="body" sz="quarter" idx="21" hasCustomPrompt="1"/>
          </p:nvPr>
        </p:nvSpPr>
        <p:spPr>
          <a:xfrm>
            <a:off x="862642" y="4072689"/>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6" name="Zahl Thema 4"/>
          <p:cNvSpPr>
            <a:spLocks noGrp="1"/>
          </p:cNvSpPr>
          <p:nvPr>
            <p:ph type="body" sz="quarter" idx="20" hasCustomPrompt="1"/>
          </p:nvPr>
        </p:nvSpPr>
        <p:spPr>
          <a:xfrm>
            <a:off x="359400" y="4072689"/>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a:t>00</a:t>
            </a:r>
          </a:p>
        </p:txBody>
      </p:sp>
      <p:sp>
        <p:nvSpPr>
          <p:cNvPr id="75" name="Thema 3"/>
          <p:cNvSpPr>
            <a:spLocks noGrp="1"/>
          </p:cNvSpPr>
          <p:nvPr>
            <p:ph type="body" sz="quarter" idx="19" hasCustomPrompt="1"/>
          </p:nvPr>
        </p:nvSpPr>
        <p:spPr>
          <a:xfrm>
            <a:off x="862642" y="3291126"/>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4" name="Zahl Thema 3"/>
          <p:cNvSpPr>
            <a:spLocks noGrp="1"/>
          </p:cNvSpPr>
          <p:nvPr>
            <p:ph type="body" sz="quarter" idx="18" hasCustomPrompt="1"/>
          </p:nvPr>
        </p:nvSpPr>
        <p:spPr>
          <a:xfrm>
            <a:off x="359400" y="3291126"/>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03</a:t>
            </a:r>
          </a:p>
        </p:txBody>
      </p:sp>
      <p:sp>
        <p:nvSpPr>
          <p:cNvPr id="71" name="Thema 2"/>
          <p:cNvSpPr>
            <a:spLocks noGrp="1"/>
          </p:cNvSpPr>
          <p:nvPr>
            <p:ph type="body" sz="quarter" idx="17" hasCustomPrompt="1"/>
          </p:nvPr>
        </p:nvSpPr>
        <p:spPr>
          <a:xfrm>
            <a:off x="862642" y="2509563"/>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70" name="Zahl Thema 2"/>
          <p:cNvSpPr>
            <a:spLocks noGrp="1"/>
          </p:cNvSpPr>
          <p:nvPr>
            <p:ph type="body" sz="quarter" idx="16" hasCustomPrompt="1"/>
          </p:nvPr>
        </p:nvSpPr>
        <p:spPr>
          <a:xfrm>
            <a:off x="359400" y="2509563"/>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02</a:t>
            </a:r>
          </a:p>
        </p:txBody>
      </p:sp>
      <p:sp>
        <p:nvSpPr>
          <p:cNvPr id="40" name="Thema 1"/>
          <p:cNvSpPr>
            <a:spLocks noGrp="1"/>
          </p:cNvSpPr>
          <p:nvPr>
            <p:ph type="body" sz="quarter" idx="15" hasCustomPrompt="1"/>
          </p:nvPr>
        </p:nvSpPr>
        <p:spPr>
          <a:xfrm>
            <a:off x="862642" y="1728000"/>
            <a:ext cx="5053358"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0">
                <a:solidFill>
                  <a:schemeClr val="tx1"/>
                </a:solidFill>
                <a:latin typeface="Arial" pitchFamily="34" charset="0"/>
                <a:ea typeface="Arial" panose="020B0503020204020204" pitchFamily="34" charset="0"/>
                <a:cs typeface="Arial" panose="020B0503020204020204" pitchFamily="34" charset="0"/>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Thema</a:t>
            </a:r>
          </a:p>
          <a:p>
            <a:pPr lvl="1"/>
            <a:r>
              <a:rPr lang="de-DE" dirty="0"/>
              <a:t>Beschreibung</a:t>
            </a:r>
          </a:p>
        </p:txBody>
      </p:sp>
      <p:sp>
        <p:nvSpPr>
          <p:cNvPr id="9" name="Zahl Thema 1"/>
          <p:cNvSpPr>
            <a:spLocks noGrp="1"/>
          </p:cNvSpPr>
          <p:nvPr>
            <p:ph type="body" sz="quarter" idx="13" hasCustomPrompt="1"/>
          </p:nvPr>
        </p:nvSpPr>
        <p:spPr>
          <a:xfrm>
            <a:off x="359400" y="1728000"/>
            <a:ext cx="425604" cy="700642"/>
          </a:xfrm>
        </p:spPr>
        <p:txBody>
          <a:bodyPr/>
          <a:lstStyle>
            <a:lvl1pPr>
              <a:lnSpc>
                <a:spcPct val="94000"/>
              </a:lnSpc>
              <a:spcBef>
                <a:spcPts val="0"/>
              </a:spcBef>
              <a:defRPr sz="2000" b="1">
                <a:solidFill>
                  <a:schemeClr val="accent1"/>
                </a:solidFill>
                <a:latin typeface="Arial" pitchFamily="34" charset="0"/>
                <a:ea typeface="Arial" panose="020B0503020204020204" pitchFamily="34" charset="0"/>
                <a:cs typeface="Arial" panose="020B0503020204020204" pitchFamily="34" charset="0"/>
              </a:defRPr>
            </a:lvl1pPr>
            <a:lvl2pPr marL="0" indent="0">
              <a:lnSpc>
                <a:spcPct val="94000"/>
              </a:lnSpc>
              <a:spcBef>
                <a:spcPts val="0"/>
              </a:spcBef>
              <a:buNone/>
              <a:defRPr sz="2000" b="1">
                <a:solidFill>
                  <a:schemeClr val="accent1"/>
                </a:solidFill>
                <a:latin typeface="+mn-lt"/>
              </a:defRPr>
            </a:lvl2pPr>
            <a:lvl3pPr marL="0" indent="0">
              <a:lnSpc>
                <a:spcPct val="94000"/>
              </a:lnSpc>
              <a:buNone/>
              <a:tabLst>
                <a:tab pos="467995" algn="l"/>
              </a:tabLst>
              <a:defRPr sz="2000" b="1">
                <a:solidFill>
                  <a:schemeClr val="tx1"/>
                </a:solidFill>
                <a:latin typeface="+mn-lt"/>
              </a:defRPr>
            </a:lvl3pPr>
            <a:lvl4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4pPr>
            <a:lvl5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5pPr>
            <a:lvl6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6pPr>
            <a:lvl7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7pPr>
            <a:lvl8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8pPr>
            <a:lvl9pPr marL="0" indent="0">
              <a:lnSpc>
                <a:spcPct val="94000"/>
              </a:lnSpc>
              <a:spcBef>
                <a:spcPts val="0"/>
              </a:spcBef>
              <a:buFont typeface="Arial" panose="020B0604020202020204" pitchFamily="34" charset="0"/>
              <a:buNone/>
              <a:tabLst>
                <a:tab pos="467995" algn="l"/>
              </a:tabLst>
              <a:defRPr sz="2000" b="1">
                <a:solidFill>
                  <a:schemeClr val="tx1"/>
                </a:solidFill>
                <a:latin typeface="+mn-lt"/>
              </a:defRPr>
            </a:lvl9pPr>
          </a:lstStyle>
          <a:p>
            <a:pPr lvl="0"/>
            <a:r>
              <a:rPr lang="de-DE" dirty="0"/>
              <a:t>01</a:t>
            </a:r>
          </a:p>
        </p:txBody>
      </p:sp>
      <p:sp>
        <p:nvSpPr>
          <p:cNvPr id="2" name="Titel 1"/>
          <p:cNvSpPr>
            <a:spLocks noGrp="1"/>
          </p:cNvSpPr>
          <p:nvPr>
            <p:ph type="title" hasCustomPrompt="1"/>
          </p:nvPr>
        </p:nvSpPr>
        <p:spPr/>
        <p:txBody>
          <a:bodyPr/>
          <a:lstStyle>
            <a:lvl1pPr>
              <a:defRPr>
                <a:solidFill>
                  <a:schemeClr val="tx1"/>
                </a:solidFill>
              </a:defRPr>
            </a:lvl1pPr>
          </a:lstStyle>
          <a:p>
            <a:r>
              <a:rPr lang="de-DE"/>
              <a:t>Gliederung</a:t>
            </a: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29" name="Logo-Fragment"/>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3" name="Inhaltsplatzhalter 2"/>
          <p:cNvSpPr>
            <a:spLocks noGrp="1"/>
          </p:cNvSpPr>
          <p:nvPr>
            <p:ph idx="1" hasCustomPrompt="1"/>
          </p:nvPr>
        </p:nvSpPr>
        <p:spPr>
          <a:xfrm>
            <a:off x="359400" y="1728000"/>
            <a:ext cx="9158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Zwischenfolie mit Bild">
    <p:spTree>
      <p:nvGrpSpPr>
        <p:cNvPr id="1" name=""/>
        <p:cNvGrpSpPr/>
        <p:nvPr/>
      </p:nvGrpSpPr>
      <p:grpSpPr>
        <a:xfrm>
          <a:off x="0" y="0"/>
          <a:ext cx="0" cy="0"/>
          <a:chOff x="0" y="0"/>
          <a:chExt cx="0" cy="0"/>
        </a:xfrm>
      </p:grpSpPr>
      <p:sp>
        <p:nvSpPr>
          <p:cNvPr id="12" name="Bildplatzhalter 11"/>
          <p:cNvSpPr>
            <a:spLocks noGrp="1"/>
          </p:cNvSpPr>
          <p:nvPr>
            <p:ph type="pic" sz="quarter" idx="17"/>
          </p:nvPr>
        </p:nvSpPr>
        <p:spPr>
          <a:xfrm>
            <a:off x="-1" y="0"/>
            <a:ext cx="12192000" cy="6858000"/>
          </a:xfrm>
          <a:solidFill>
            <a:schemeClr val="accent1">
              <a:lumMod val="20000"/>
              <a:lumOff val="80000"/>
            </a:schemeClr>
          </a:solidFill>
        </p:spPr>
        <p:txBody>
          <a:bodyPr/>
          <a:lstStyle/>
          <a:p>
            <a:endParaRPr lang="de-DE" dirty="0"/>
          </a:p>
        </p:txBody>
      </p:sp>
      <p:sp>
        <p:nvSpPr>
          <p:cNvPr id="2" name="Titel 1"/>
          <p:cNvSpPr>
            <a:spLocks noGrp="1"/>
          </p:cNvSpPr>
          <p:nvPr>
            <p:ph type="title" hasCustomPrompt="1"/>
          </p:nvPr>
        </p:nvSpPr>
        <p:spPr>
          <a:xfrm>
            <a:off x="360000" y="616530"/>
            <a:ext cx="7642812" cy="2516885"/>
          </a:xfrm>
        </p:spPr>
        <p:txBody>
          <a:bodyPr lIns="0" tIns="0" rIns="0" bIns="0" anchor="b">
            <a:noAutofit/>
          </a:bodyPr>
          <a:lstStyle>
            <a:lvl1pPr>
              <a:lnSpc>
                <a:spcPct val="98000"/>
              </a:lnSpc>
              <a:defRPr sz="4800">
                <a:solidFill>
                  <a:schemeClr val="accent1"/>
                </a:solidFill>
              </a:defRPr>
            </a:lvl1pPr>
          </a:lstStyle>
          <a:p>
            <a:r>
              <a:rPr lang="de-DE" dirty="0"/>
              <a:t>Mastertitelformat bearbeiten</a:t>
            </a:r>
          </a:p>
        </p:txBody>
      </p:sp>
      <p:sp>
        <p:nvSpPr>
          <p:cNvPr id="3" name="Textplatzhalter 2"/>
          <p:cNvSpPr>
            <a:spLocks noGrp="1"/>
          </p:cNvSpPr>
          <p:nvPr>
            <p:ph type="body" idx="1" hasCustomPrompt="1"/>
          </p:nvPr>
        </p:nvSpPr>
        <p:spPr>
          <a:xfrm>
            <a:off x="360000" y="3124788"/>
            <a:ext cx="7642812" cy="2516885"/>
          </a:xfrm>
        </p:spPr>
        <p:txBody>
          <a:bodyPr>
            <a:noAutofit/>
          </a:bodyPr>
          <a:lstStyle>
            <a:lvl1pPr marL="0" indent="0">
              <a:lnSpc>
                <a:spcPct val="98000"/>
              </a:lnSpc>
              <a:spcBef>
                <a:spcPts val="0"/>
              </a:spcBef>
              <a:buNone/>
              <a:defRPr sz="48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A15C6BDC-21C1-594B-A523-A8899E08788D}"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sp>
        <p:nvSpPr>
          <p:cNvPr id="10"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Kapitelfolie warm grey">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1">
              <a:alpha val="25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x</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83C81046-A90A-A14D-8A9B-B3D7332404C7}"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Kapitelfolie farbig">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bg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chemeClr val="bg1"/>
                </a:solidFill>
              </a:defRPr>
            </a:lvl1pPr>
          </a:lstStyle>
          <a:p>
            <a:fld id="{B4F2AB4E-F240-2644-9DF0-3F5E0D661364}"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
        <p:nvSpPr>
          <p:cNvPr id="9" name="Freihandform: Form 8"/>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Kapitelfolie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191181"/>
            <a:ext cx="9896808" cy="1406038"/>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3" name="Textplatzhalter 2"/>
          <p:cNvSpPr>
            <a:spLocks noGrp="1"/>
          </p:cNvSpPr>
          <p:nvPr>
            <p:ph type="body" idx="1" hasCustomPrompt="1"/>
          </p:nvPr>
        </p:nvSpPr>
        <p:spPr>
          <a:xfrm>
            <a:off x="360000" y="3597219"/>
            <a:ext cx="4255132" cy="2622606"/>
          </a:xfrm>
        </p:spPr>
        <p:txBody>
          <a:bodyPr>
            <a:noAutofit/>
          </a:bodyPr>
          <a:lstStyle>
            <a:lvl1pPr marL="0" indent="0">
              <a:lnSpc>
                <a:spcPct val="98000"/>
              </a:lnSpc>
              <a:spcBef>
                <a:spcPts val="0"/>
              </a:spcBef>
              <a:buNone/>
              <a:defRPr sz="20000" b="1">
                <a:solidFill>
                  <a:schemeClr val="accent1"/>
                </a:solidFill>
                <a:latin typeface="Arial" pitchFamily="34" charset="0"/>
                <a:ea typeface="Arial" panose="020B0603020204020204" pitchFamily="34" charset="0"/>
                <a:cs typeface="Arial" panose="020B06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01</a:t>
            </a:r>
          </a:p>
        </p:txBody>
      </p:sp>
      <p:sp>
        <p:nvSpPr>
          <p:cNvPr id="4" name="Datumsplatzhalter 3"/>
          <p:cNvSpPr>
            <a:spLocks noGrp="1"/>
          </p:cNvSpPr>
          <p:nvPr>
            <p:ph type="dt" sz="half" idx="10"/>
          </p:nvPr>
        </p:nvSpPr>
        <p:spPr/>
        <p:txBody>
          <a:bodyPr/>
          <a:lstStyle>
            <a:lvl1pPr>
              <a:defRPr>
                <a:solidFill>
                  <a:srgbClr val="6D7373"/>
                </a:solidFill>
              </a:defRPr>
            </a:lvl1pPr>
          </a:lstStyle>
          <a:p>
            <a:fld id="{D2F173B8-95F5-CA43-A3AF-8E15AFEACE6A}"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Zwischenfolie Statements,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tx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rgbClr val="6D7373"/>
                </a:solidFill>
              </a:defRPr>
            </a:lvl1pPr>
          </a:lstStyle>
          <a:p>
            <a:fld id="{F0C34D0C-3C48-9F4A-8F76-3E4BC93B2692}"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rgbClr val="6D7373"/>
                </a:solidFill>
              </a:defRPr>
            </a:lvl1p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lvl1pPr>
              <a:defRPr>
                <a:solidFill>
                  <a:srgbClr val="6D7373"/>
                </a:solidFill>
              </a:defRPr>
            </a:lvl1pPr>
          </a:lstStyle>
          <a:p>
            <a:fld id="{075B144D-941B-4DFC-AF5F-0416193D12EC}" type="slidenum">
              <a:rPr lang="de-DE" smtClean="0"/>
              <a:t>‹#›</a:t>
            </a:fld>
            <a:endParaRPr lang="de-D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Zwischenfolie Statements, Farbe">
    <p:bg>
      <p:bgPr>
        <a:solidFill>
          <a:schemeClr val="accent1"/>
        </a:solidFill>
        <a:effectLst/>
      </p:bgPr>
    </p:bg>
    <p:spTree>
      <p:nvGrpSpPr>
        <p:cNvPr id="1" name=""/>
        <p:cNvGrpSpPr/>
        <p:nvPr/>
      </p:nvGrpSpPr>
      <p:grpSpPr>
        <a:xfrm>
          <a:off x="0" y="0"/>
          <a:ext cx="0" cy="0"/>
          <a:chOff x="0" y="0"/>
          <a:chExt cx="0" cy="0"/>
        </a:xfrm>
      </p:grpSpPr>
      <p:sp>
        <p:nvSpPr>
          <p:cNvPr id="11" name="Freihandform: Form 10"/>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2329132"/>
            <a:ext cx="11472946" cy="3980844"/>
          </a:xfrm>
        </p:spPr>
        <p:txBody>
          <a:bodyPr lIns="0" tIns="0" rIns="0" bIns="0" anchor="t">
            <a:noAutofit/>
          </a:bodyPr>
          <a:lstStyle>
            <a:lvl1pPr>
              <a:lnSpc>
                <a:spcPct val="98000"/>
              </a:lnSpc>
              <a:defRPr sz="4800">
                <a:solidFill>
                  <a:schemeClr val="bg1"/>
                </a:solidFill>
              </a:defRPr>
            </a:lvl1pPr>
          </a:lstStyle>
          <a:p>
            <a:r>
              <a:rPr lang="de-DE" dirty="0"/>
              <a:t>Mastertitelformat bearbeiten</a:t>
            </a:r>
          </a:p>
        </p:txBody>
      </p:sp>
      <p:sp>
        <p:nvSpPr>
          <p:cNvPr id="4" name="Datumsplatzhalter 3"/>
          <p:cNvSpPr>
            <a:spLocks noGrp="1"/>
          </p:cNvSpPr>
          <p:nvPr>
            <p:ph type="dt" sz="half" idx="10"/>
          </p:nvPr>
        </p:nvSpPr>
        <p:spPr/>
        <p:txBody>
          <a:bodyPr/>
          <a:lstStyle>
            <a:lvl1pPr>
              <a:defRPr>
                <a:solidFill>
                  <a:schemeClr val="bg1"/>
                </a:solidFill>
              </a:defRPr>
            </a:lvl1pPr>
          </a:lstStyle>
          <a:p>
            <a:fld id="{92EBBE16-650B-2F4A-AF9B-48CFB920BA0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lvl1pPr>
              <a:defRPr>
                <a:solidFill>
                  <a:schemeClr val="bg1"/>
                </a:solidFill>
              </a:defRPr>
            </a:lvl1pPr>
          </a:lstStyle>
          <a:p>
            <a:r>
              <a:rPr lang="de-DE" dirty="0"/>
              <a:t>SRH Hochschule Heidelberg – International Project Management</a:t>
            </a:r>
          </a:p>
        </p:txBody>
      </p:sp>
      <p:sp>
        <p:nvSpPr>
          <p:cNvPr id="6" name="Foliennummernplatzhalter 5"/>
          <p:cNvSpPr>
            <a:spLocks noGrp="1"/>
          </p:cNvSpPr>
          <p:nvPr>
            <p:ph type="sldNum" sz="quarter" idx="12"/>
          </p:nvPr>
        </p:nvSpPr>
        <p:spPr/>
        <p:txBody>
          <a:bodyPr/>
          <a:lstStyle>
            <a:lvl1pPr>
              <a:defRPr>
                <a:solidFill>
                  <a:schemeClr val="bg1"/>
                </a:solidFill>
              </a:defRPr>
            </a:lvl1pPr>
          </a:lstStyle>
          <a:p>
            <a:fld id="{075B144D-941B-4DFC-AF5F-0416193D12EC}" type="slidenum">
              <a:rPr lang="de-DE" smtClean="0"/>
              <a:t>‹#›</a:t>
            </a:fld>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2 Text, 1/2 Bild">
    <p:spTree>
      <p:nvGrpSpPr>
        <p:cNvPr id="1" name=""/>
        <p:cNvGrpSpPr/>
        <p:nvPr/>
      </p:nvGrpSpPr>
      <p:grpSpPr>
        <a:xfrm>
          <a:off x="0" y="0"/>
          <a:ext cx="0" cy="0"/>
          <a:chOff x="0" y="0"/>
          <a:chExt cx="0" cy="0"/>
        </a:xfrm>
      </p:grpSpPr>
      <p:sp>
        <p:nvSpPr>
          <p:cNvPr id="13" name="Bildplatzhalter 10"/>
          <p:cNvSpPr>
            <a:spLocks noGrp="1"/>
          </p:cNvSpPr>
          <p:nvPr>
            <p:ph type="pic" sz="quarter" idx="15"/>
          </p:nvPr>
        </p:nvSpPr>
        <p:spPr>
          <a:xfrm>
            <a:off x="6095999" y="0"/>
            <a:ext cx="6096000" cy="6858000"/>
          </a:xfrm>
          <a:solidFill>
            <a:schemeClr val="accent1">
              <a:lumMod val="20000"/>
              <a:lumOff val="80000"/>
            </a:schemeClr>
          </a:solidFill>
        </p:spPr>
        <p:txBody>
          <a:bodyPr/>
          <a:lstStyle/>
          <a:p>
            <a:endParaRPr lang="de-DE"/>
          </a:p>
        </p:txBody>
      </p:sp>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5367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53676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F467C8D5-43B2-E146-BF64-0CBD08DA4BB9}"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5" name="SmartArt-Platzhalter 14"/>
          <p:cNvSpPr>
            <a:spLocks noGrp="1"/>
          </p:cNvSpPr>
          <p:nvPr>
            <p:ph type="dgm" sz="quarter" idx="16"/>
          </p:nvPr>
        </p:nvSpPr>
        <p:spPr>
          <a:xfrm>
            <a:off x="10877358" y="358969"/>
            <a:ext cx="950656" cy="737079"/>
          </a:xfrm>
          <a:blipFill>
            <a:blip>
              <a:extLst>
                <a:ext uri="{96DAC541-7B7A-43D3-8B79-37D633B846F1}">
                  <asvg:svgBlip xmlns:asvg="http://schemas.microsoft.com/office/drawing/2016/SVG/main" r:embed="rId2"/>
                </a:ext>
              </a:extLst>
            </a:blip>
            <a:stretch>
              <a:fillRect/>
            </a:stretch>
          </a:blipFill>
        </p:spPr>
        <p:txBody>
          <a:bodyPr>
            <a:normAutofit/>
          </a:bodyPr>
          <a:lstStyle>
            <a:lvl1pPr>
              <a:defRPr sz="100">
                <a:noFill/>
              </a:defRPr>
            </a:lvl1pPr>
          </a:lstStyle>
          <a:p>
            <a:endParaRPr lang="de-D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3 Text, 1/3 Bild">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05AA2241-856D-7340-8FC6-9902561CF86F}"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5844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2/3 Text, 1/3 Bild im Anschnitt">
    <p:spTree>
      <p:nvGrpSpPr>
        <p:cNvPr id="1" name=""/>
        <p:cNvGrpSpPr/>
        <p:nvPr/>
      </p:nvGrpSpPr>
      <p:grpSpPr>
        <a:xfrm>
          <a:off x="0" y="0"/>
          <a:ext cx="0" cy="0"/>
          <a:chOff x="0" y="0"/>
          <a:chExt cx="0" cy="0"/>
        </a:xfrm>
      </p:grpSpPr>
      <p:sp>
        <p:nvSpPr>
          <p:cNvPr id="29" name="Zeichen" hidden="1"/>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60000" y="358969"/>
            <a:ext cx="9165600" cy="835093"/>
          </a:xfrm>
        </p:spPr>
        <p:txBody>
          <a:bodyPr/>
          <a:lstStyle/>
          <a:p>
            <a:r>
              <a:rPr lang="de-DE" dirty="0"/>
              <a:t>Mastertitelformat bearbeiten</a:t>
            </a:r>
          </a:p>
        </p:txBody>
      </p:sp>
      <p:sp>
        <p:nvSpPr>
          <p:cNvPr id="18" name="Textplatzhalter 17"/>
          <p:cNvSpPr>
            <a:spLocks noGrp="1"/>
          </p:cNvSpPr>
          <p:nvPr>
            <p:ph type="body" sz="quarter" idx="17" hasCustomPrompt="1"/>
          </p:nvPr>
        </p:nvSpPr>
        <p:spPr>
          <a:xfrm>
            <a:off x="367644" y="1728000"/>
            <a:ext cx="7520556"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B538A03E-5172-3643-990C-12CAA15443DB}" type="datetime1">
              <a:rPr lang="de-DE" smtClean="0"/>
              <a:t>29.09.26</a:t>
            </a:fld>
            <a:endParaRPr lang="de-DE"/>
          </a:p>
        </p:txBody>
      </p:sp>
      <p:sp>
        <p:nvSpPr>
          <p:cNvPr id="5" name="Fußzeilenplatzhalter 4"/>
          <p:cNvSpPr>
            <a:spLocks noGrp="1"/>
          </p:cNvSpPr>
          <p:nvPr>
            <p:ph type="ftr" sz="quarter" idx="11"/>
          </p:nvPr>
        </p:nvSpPr>
        <p:spPr>
          <a:xfrm>
            <a:off x="1319842" y="6356350"/>
            <a:ext cx="4415402"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4" name="Bildplatzhalter 10"/>
          <p:cNvSpPr>
            <a:spLocks noGrp="1"/>
          </p:cNvSpPr>
          <p:nvPr>
            <p:ph type="pic" sz="quarter" idx="19"/>
          </p:nvPr>
        </p:nvSpPr>
        <p:spPr>
          <a:xfrm>
            <a:off x="8248200" y="1728000"/>
            <a:ext cx="3943800" cy="4230000"/>
          </a:xfrm>
          <a:solidFill>
            <a:schemeClr val="accent1">
              <a:lumMod val="20000"/>
              <a:lumOff val="80000"/>
            </a:schemeClr>
          </a:solidFill>
        </p:spPr>
        <p:txBody>
          <a:bodyPr/>
          <a:lstStyle/>
          <a:p>
            <a:endParaRPr lang="de-D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1 Inhalt auf warm grey">
    <p:spTree>
      <p:nvGrpSpPr>
        <p:cNvPr id="1" name=""/>
        <p:cNvGrpSpPr/>
        <p:nvPr/>
      </p:nvGrpSpPr>
      <p:grpSpPr>
        <a:xfrm>
          <a:off x="0" y="0"/>
          <a:ext cx="0" cy="0"/>
          <a:chOff x="0" y="0"/>
          <a:chExt cx="0" cy="0"/>
        </a:xfrm>
      </p:grpSpPr>
      <p:sp>
        <p:nvSpPr>
          <p:cNvPr id="10" name="Rechteck 9"/>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p:cNvSpPr/>
          <p:nvPr/>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rgbClr val="E6E3E2"/>
          </a:solidFill>
          <a:ln w="12700" cap="flat">
            <a:noFill/>
            <a:prstDash val="solid"/>
            <a:miter/>
          </a:ln>
        </p:spPr>
        <p:txBody>
          <a:bodyPr rtlCol="0" anchor="ctr"/>
          <a:lstStyle/>
          <a:p>
            <a:endParaRPr lang="de-DE"/>
          </a:p>
        </p:txBody>
      </p:sp>
      <p:sp>
        <p:nvSpPr>
          <p:cNvPr id="2" name="Titel 1"/>
          <p:cNvSpPr>
            <a:spLocks noGrp="1"/>
          </p:cNvSpPr>
          <p:nvPr>
            <p:ph type="title" hasCustomPrompt="1"/>
          </p:nvPr>
        </p:nvSpPr>
        <p:spPr>
          <a:xfrm>
            <a:off x="359999" y="358969"/>
            <a:ext cx="9158400" cy="835093"/>
          </a:xfrm>
        </p:spPr>
        <p:txBody>
          <a:bodyPr/>
          <a:lstStyle/>
          <a:p>
            <a:r>
              <a:rPr lang="de-DE"/>
              <a:t>Mastertitelformat bearbeiten</a:t>
            </a:r>
          </a:p>
        </p:txBody>
      </p:sp>
      <p:sp>
        <p:nvSpPr>
          <p:cNvPr id="8" name="Textplatzhalter 7"/>
          <p:cNvSpPr>
            <a:spLocks noGrp="1"/>
          </p:cNvSpPr>
          <p:nvPr>
            <p:ph type="body" sz="quarter" idx="13" hasCustomPrompt="1"/>
          </p:nvPr>
        </p:nvSpPr>
        <p:spPr>
          <a:xfrm>
            <a:off x="359400" y="1728000"/>
            <a:ext cx="9158400" cy="423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87AB04F8-6848-1745-9DC5-2FD8A7421686}"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Diagramm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9" name="Diagrammplatzhalter 8"/>
          <p:cNvSpPr>
            <a:spLocks noGrp="1"/>
          </p:cNvSpPr>
          <p:nvPr>
            <p:ph type="chart" sz="quarter" idx="14"/>
          </p:nvPr>
        </p:nvSpPr>
        <p:spPr>
          <a:xfrm>
            <a:off x="2047627" y="1944000"/>
            <a:ext cx="3868373" cy="3204000"/>
          </a:xfrm>
        </p:spPr>
        <p:txBody>
          <a:bodyPr/>
          <a:lstStyle/>
          <a:p>
            <a:endParaRPr lang="de-DE" dirty="0"/>
          </a:p>
        </p:txBody>
      </p:sp>
      <p:sp>
        <p:nvSpPr>
          <p:cNvPr id="4" name="Datumsplatzhalter 3"/>
          <p:cNvSpPr>
            <a:spLocks noGrp="1"/>
          </p:cNvSpPr>
          <p:nvPr>
            <p:ph type="dt" sz="half" idx="10"/>
          </p:nvPr>
        </p:nvSpPr>
        <p:spPr/>
        <p:txBody>
          <a:bodyPr/>
          <a:lstStyle/>
          <a:p>
            <a:fld id="{72A3B672-346C-FB4A-89CD-D62F981D50CB}"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18" name="Textplatzhalter 17"/>
          <p:cNvSpPr>
            <a:spLocks noGrp="1"/>
          </p:cNvSpPr>
          <p:nvPr>
            <p:ph type="body" sz="quarter" idx="16" hasCustomPrompt="1"/>
          </p:nvPr>
        </p:nvSpPr>
        <p:spPr>
          <a:xfrm>
            <a:off x="2047627"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28" name="Textplatzhalter 17"/>
          <p:cNvSpPr>
            <a:spLocks noGrp="1"/>
          </p:cNvSpPr>
          <p:nvPr>
            <p:ph type="body" sz="quarter" idx="18" hasCustomPrompt="1"/>
          </p:nvPr>
        </p:nvSpPr>
        <p:spPr>
          <a:xfrm>
            <a:off x="6276000" y="5212773"/>
            <a:ext cx="3868373" cy="738842"/>
          </a:xfrm>
        </p:spPr>
        <p:txBody>
          <a:bodyPr/>
          <a:lstStyle>
            <a:lvl1pPr algn="ctr">
              <a:spcBef>
                <a:spcPts val="0"/>
              </a:spcBef>
              <a:defRPr sz="14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30" name="Diagrammplatzhalter 8"/>
          <p:cNvSpPr>
            <a:spLocks noGrp="1"/>
          </p:cNvSpPr>
          <p:nvPr>
            <p:ph type="chart" sz="quarter" idx="19"/>
          </p:nvPr>
        </p:nvSpPr>
        <p:spPr>
          <a:xfrm>
            <a:off x="6276000" y="1944000"/>
            <a:ext cx="3868373" cy="3204000"/>
          </a:xfrm>
        </p:spPr>
        <p:txBody>
          <a:bodyPr/>
          <a:lstStyle/>
          <a:p>
            <a:endParaRPr lang="de-DE" dirty="0"/>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abelle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E43C5D75-B790-7841-A190-0C5B0F2F367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abelle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8" name="Tabellenplatzhalter 7"/>
          <p:cNvSpPr>
            <a:spLocks noGrp="1"/>
          </p:cNvSpPr>
          <p:nvPr>
            <p:ph type="tbl" sz="quarter" idx="17"/>
          </p:nvPr>
        </p:nvSpPr>
        <p:spPr>
          <a:xfrm>
            <a:off x="359999" y="2874044"/>
            <a:ext cx="9158400" cy="2325712"/>
          </a:xfrm>
        </p:spPr>
        <p:txBody>
          <a:bodyPr/>
          <a:lstStyle/>
          <a:p>
            <a:endParaRPr lang="de-DE" dirty="0"/>
          </a:p>
        </p:txBody>
      </p:sp>
      <p:sp>
        <p:nvSpPr>
          <p:cNvPr id="4" name="Datumsplatzhalter 3"/>
          <p:cNvSpPr>
            <a:spLocks noGrp="1"/>
          </p:cNvSpPr>
          <p:nvPr>
            <p:ph type="dt" sz="half" idx="10"/>
          </p:nvPr>
        </p:nvSpPr>
        <p:spPr/>
        <p:txBody>
          <a:bodyPr/>
          <a:lstStyle/>
          <a:p>
            <a:fld id="{625075A2-A221-EB48-A0E4-12BC9B831569}" type="datetime1">
              <a:rPr lang="de-DE" smtClean="0"/>
              <a:t>29.09.26</a:t>
            </a:fld>
            <a:endParaRPr lang="de-DE"/>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59999" y="1728000"/>
            <a:ext cx="9158400" cy="780950"/>
          </a:xfrm>
        </p:spPr>
        <p:txBody>
          <a:bodyPr/>
          <a:lstStyle/>
          <a:p>
            <a:endParaRPr lang="de-DE" dirty="0"/>
          </a:p>
        </p:txBody>
      </p:sp>
      <p:sp>
        <p:nvSpPr>
          <p:cNvPr id="12" name="Textplatzhalter 17"/>
          <p:cNvSpPr>
            <a:spLocks noGrp="1"/>
          </p:cNvSpPr>
          <p:nvPr>
            <p:ph type="body" sz="quarter" idx="16" hasCustomPrompt="1"/>
          </p:nvPr>
        </p:nvSpPr>
        <p:spPr>
          <a:xfrm>
            <a:off x="359998" y="5463555"/>
            <a:ext cx="9158400" cy="494333"/>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abelle und Text auf warm grey">
    <p:spTree>
      <p:nvGrpSpPr>
        <p:cNvPr id="1" name=""/>
        <p:cNvGrpSpPr/>
        <p:nvPr/>
      </p:nvGrpSpPr>
      <p:grpSpPr>
        <a:xfrm>
          <a:off x="0" y="0"/>
          <a:ext cx="0" cy="0"/>
          <a:chOff x="0" y="0"/>
          <a:chExt cx="0" cy="0"/>
        </a:xfrm>
      </p:grpSpPr>
      <p:sp>
        <p:nvSpPr>
          <p:cNvPr id="14" name="Rechteck 13"/>
          <p:cNvSpPr/>
          <p:nvPr userDrawn="1"/>
        </p:nvSpPr>
        <p:spPr>
          <a:xfrm>
            <a:off x="0" y="1406106"/>
            <a:ext cx="12192000" cy="5451894"/>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p>
            <a:endParaRPr lang="de-DE" dirty="0"/>
          </a:p>
        </p:txBody>
      </p:sp>
      <p:sp>
        <p:nvSpPr>
          <p:cNvPr id="4" name="Datumsplatzhalter 3"/>
          <p:cNvSpPr>
            <a:spLocks noGrp="1"/>
          </p:cNvSpPr>
          <p:nvPr>
            <p:ph type="dt" sz="half" idx="10"/>
          </p:nvPr>
        </p:nvSpPr>
        <p:spPr/>
        <p:txBody>
          <a:bodyPr/>
          <a:lstStyle/>
          <a:p>
            <a:fld id="{83B1D015-F280-5A4B-A16E-AB19ECD7E713}"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abelle und Text auf weis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a:t>Mastertitelformat bearbeiten</a:t>
            </a:r>
          </a:p>
        </p:txBody>
      </p:sp>
      <p:sp>
        <p:nvSpPr>
          <p:cNvPr id="8" name="Tabellenplatzhalter 7"/>
          <p:cNvSpPr>
            <a:spLocks noGrp="1"/>
          </p:cNvSpPr>
          <p:nvPr>
            <p:ph type="tbl" sz="quarter" idx="17"/>
          </p:nvPr>
        </p:nvSpPr>
        <p:spPr>
          <a:xfrm>
            <a:off x="360000" y="2874044"/>
            <a:ext cx="7528801" cy="2325712"/>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4" name="Datumsplatzhalter 3"/>
          <p:cNvSpPr>
            <a:spLocks noGrp="1"/>
          </p:cNvSpPr>
          <p:nvPr>
            <p:ph type="dt" sz="half" idx="10"/>
          </p:nvPr>
        </p:nvSpPr>
        <p:spPr/>
        <p:txBody>
          <a:bodyPr/>
          <a:lstStyle/>
          <a:p>
            <a:fld id="{AB7651CD-D67A-4E4D-9753-0068F0568C36}" type="datetime1">
              <a:rPr lang="de-DE" smtClean="0"/>
              <a:t>29.09.26</a:t>
            </a:fld>
            <a:endParaRPr lang="de-DE" dirty="0"/>
          </a:p>
        </p:txBody>
      </p:sp>
      <p:sp>
        <p:nvSpPr>
          <p:cNvPr id="5" name="Fußzeilenplatzhalter 4"/>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a:t>
            </a:fld>
            <a:endParaRPr lang="de-DE"/>
          </a:p>
        </p:txBody>
      </p:sp>
      <p:sp>
        <p:nvSpPr>
          <p:cNvPr id="7" name="Tabellenplatzhalter 6"/>
          <p:cNvSpPr>
            <a:spLocks noGrp="1"/>
          </p:cNvSpPr>
          <p:nvPr>
            <p:ph type="tbl" sz="quarter" idx="18"/>
          </p:nvPr>
        </p:nvSpPr>
        <p:spPr>
          <a:xfrm>
            <a:off x="360000" y="1728000"/>
            <a:ext cx="7528801" cy="780950"/>
          </a:xfrm>
        </p:spPr>
        <p:txBody>
          <a:bodyPr/>
          <a:lstStyle>
            <a:lvl1pPr>
              <a:defRPr>
                <a:latin typeface="Arial" pitchFamily="34" charset="0"/>
                <a:ea typeface="Arial" panose="020B0503020204020204" pitchFamily="34" charset="0"/>
                <a:cs typeface="Arial" panose="020B0503020204020204" pitchFamily="34" charset="0"/>
              </a:defRPr>
            </a:lvl1pPr>
          </a:lstStyle>
          <a:p>
            <a:endParaRPr lang="de-DE" dirty="0"/>
          </a:p>
        </p:txBody>
      </p:sp>
      <p:sp>
        <p:nvSpPr>
          <p:cNvPr id="12" name="Textplatzhalter 17"/>
          <p:cNvSpPr>
            <a:spLocks noGrp="1"/>
          </p:cNvSpPr>
          <p:nvPr>
            <p:ph type="body" sz="quarter" idx="16" hasCustomPrompt="1"/>
          </p:nvPr>
        </p:nvSpPr>
        <p:spPr>
          <a:xfrm>
            <a:off x="359998" y="5463554"/>
            <a:ext cx="7528802" cy="493200"/>
          </a:xfrm>
        </p:spPr>
        <p:txBody>
          <a:bodyPr anchor="b"/>
          <a:lstStyle>
            <a:lvl1pPr algn="l">
              <a:spcBef>
                <a:spcPts val="0"/>
              </a:spcBef>
              <a:defRPr sz="1200" b="0">
                <a:solidFill>
                  <a:schemeClr val="tx1"/>
                </a:solidFill>
              </a:defRPr>
            </a:lvl1pPr>
            <a:lvl2pPr>
              <a:defRPr sz="1400"/>
            </a:lvl2pPr>
            <a:lvl3pPr marL="0" indent="0">
              <a:buNone/>
              <a:defRPr sz="1400" b="0">
                <a:solidFill>
                  <a:srgbClr val="2C2E2E"/>
                </a:solidFill>
              </a:defRPr>
            </a:lvl3pPr>
            <a:lvl4pPr>
              <a:spcBef>
                <a:spcPts val="0"/>
              </a:spcBef>
              <a:defRPr sz="1400" b="0">
                <a:solidFill>
                  <a:srgbClr val="2C2E2E"/>
                </a:solidFill>
              </a:defRPr>
            </a:lvl4pPr>
            <a:lvl5pPr>
              <a:spcBef>
                <a:spcPts val="0"/>
              </a:spcBef>
              <a:defRPr sz="1400" b="0">
                <a:solidFill>
                  <a:srgbClr val="2C2E2E"/>
                </a:solidFill>
              </a:defRPr>
            </a:lvl5pPr>
            <a:lvl6pPr>
              <a:lnSpc>
                <a:spcPct val="110000"/>
              </a:lnSpc>
              <a:spcBef>
                <a:spcPts val="0"/>
              </a:spcBef>
              <a:defRPr sz="1400" b="0">
                <a:solidFill>
                  <a:srgbClr val="2C2E2E"/>
                </a:solidFill>
              </a:defRPr>
            </a:lvl6pPr>
            <a:lvl7pPr>
              <a:lnSpc>
                <a:spcPct val="110000"/>
              </a:lnSpc>
              <a:spcBef>
                <a:spcPts val="0"/>
              </a:spcBef>
              <a:defRPr sz="1400" b="0">
                <a:solidFill>
                  <a:srgbClr val="2C2E2E"/>
                </a:solidFill>
                <a:latin typeface="+mn-lt"/>
              </a:defRPr>
            </a:lvl7pPr>
            <a:lvl8pPr>
              <a:lnSpc>
                <a:spcPct val="110000"/>
              </a:lnSpc>
              <a:spcBef>
                <a:spcPts val="0"/>
              </a:spcBef>
              <a:defRPr sz="1400" b="0">
                <a:solidFill>
                  <a:srgbClr val="2C2E2E"/>
                </a:solidFill>
                <a:latin typeface="+mn-lt"/>
              </a:defRPr>
            </a:lvl8pPr>
            <a:lvl9pPr>
              <a:spcBef>
                <a:spcPts val="0"/>
              </a:spcBef>
              <a:defRPr sz="1400" b="0">
                <a:solidFill>
                  <a:srgbClr val="2C2E2E"/>
                </a:solidFill>
              </a:defRPr>
            </a:lvl9pPr>
          </a:lstStyle>
          <a:p>
            <a:pPr lvl="0"/>
            <a:r>
              <a:rPr lang="de-DE" dirty="0"/>
              <a:t>Mastertextformat bearbeiten</a:t>
            </a:r>
          </a:p>
        </p:txBody>
      </p:sp>
      <p:sp>
        <p:nvSpPr>
          <p:cNvPr id="10" name="Textplatzhalter 9"/>
          <p:cNvSpPr>
            <a:spLocks noGrp="1"/>
          </p:cNvSpPr>
          <p:nvPr>
            <p:ph type="body" sz="quarter" idx="19" hasCustomPrompt="1"/>
          </p:nvPr>
        </p:nvSpPr>
        <p:spPr>
          <a:xfrm>
            <a:off x="8248800" y="1728000"/>
            <a:ext cx="3584400" cy="42300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de-DE" dirty="0"/>
              <a:t>Mastertitelformat bearbeiten</a:t>
            </a:r>
          </a:p>
        </p:txBody>
      </p:sp>
      <p:sp>
        <p:nvSpPr>
          <p:cNvPr id="3" name="Datumsplatzhalter 2"/>
          <p:cNvSpPr>
            <a:spLocks noGrp="1"/>
          </p:cNvSpPr>
          <p:nvPr>
            <p:ph type="dt" sz="half" idx="10"/>
          </p:nvPr>
        </p:nvSpPr>
        <p:spPr/>
        <p:txBody>
          <a:bodyPr/>
          <a:lstStyle/>
          <a:p>
            <a:fld id="{35CF8AC0-4B4A-3F4E-A6FC-3FF796CF292E}" type="datetime1">
              <a:rPr lang="de-DE" smtClean="0"/>
              <a:t>29.09.26</a:t>
            </a:fld>
            <a:endParaRPr lang="de-DE"/>
          </a:p>
        </p:txBody>
      </p:sp>
      <p:sp>
        <p:nvSpPr>
          <p:cNvPr id="4" name="Fußzeilenplatzhalter 3"/>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5" name="Foliennummernplatzhalter 4"/>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813D12-0389-2043-9E91-BB59DF62968C}" type="datetime1">
              <a:rPr lang="de-DE" smtClean="0"/>
              <a:t>29.09.26</a:t>
            </a:fld>
            <a:endParaRPr lang="de-DE" dirty="0"/>
          </a:p>
        </p:txBody>
      </p:sp>
      <p:sp>
        <p:nvSpPr>
          <p:cNvPr id="3" name="Fußzeilenplatzhalter 2"/>
          <p:cNvSpPr>
            <a:spLocks noGrp="1"/>
          </p:cNvSpPr>
          <p:nvPr>
            <p:ph type="ftr" sz="quarter" idx="11"/>
          </p:nvPr>
        </p:nvSpPr>
        <p:spPr>
          <a:xfrm>
            <a:off x="1319842" y="6356350"/>
            <a:ext cx="6495690" cy="365125"/>
          </a:xfrm>
          <a:prstGeom prst="rect">
            <a:avLst/>
          </a:prstGeom>
        </p:spPr>
        <p:txBody>
          <a:bodyPr/>
          <a:lstStyle/>
          <a:p>
            <a:r>
              <a:rPr lang="de-DE" dirty="0"/>
              <a:t>SRH Hochschule Heidelberg – Scientific Research, Writing and </a:t>
            </a:r>
            <a:r>
              <a:rPr lang="de-DE" dirty="0" err="1"/>
              <a:t>Presentation</a:t>
            </a:r>
            <a:endParaRPr lang="de-DE" dirty="0"/>
          </a:p>
        </p:txBody>
      </p:sp>
      <p:sp>
        <p:nvSpPr>
          <p:cNvPr id="4" name="Foliennummernplatzhalter 3"/>
          <p:cNvSpPr>
            <a:spLocks noGrp="1"/>
          </p:cNvSpPr>
          <p:nvPr>
            <p:ph type="sldNum" sz="quarter" idx="12"/>
          </p:nvPr>
        </p:nvSpPr>
        <p:spPr/>
        <p:txBody>
          <a:bodyPr/>
          <a:lstStyle/>
          <a:p>
            <a:fld id="{075B144D-941B-4DFC-AF5F-0416193D12EC}" type="slidenum">
              <a:rPr lang="de-DE" smtClean="0"/>
              <a:t>‹#›</a:t>
            </a:fld>
            <a:endParaRPr lang="de-D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Kontakt weiß">
    <p:spTree>
      <p:nvGrpSpPr>
        <p:cNvPr id="1" name=""/>
        <p:cNvGrpSpPr/>
        <p:nvPr/>
      </p:nvGrpSpPr>
      <p:grpSpPr>
        <a:xfrm>
          <a:off x="0" y="0"/>
          <a:ext cx="0" cy="0"/>
          <a:chOff x="0" y="0"/>
          <a:chExt cx="0" cy="0"/>
        </a:xfrm>
      </p:grpSpPr>
      <p:sp>
        <p:nvSpPr>
          <p:cNvPr id="11" name="Freihandform: Form 10"/>
          <p:cNvSpPr/>
          <p:nvPr userDrawn="1"/>
        </p:nvSpPr>
        <p:spPr>
          <a:xfrm>
            <a:off x="8202787"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schemeClr>
          </a:solidFill>
          <a:ln w="12700" cap="flat">
            <a:noFill/>
            <a:prstDash val="solid"/>
            <a:miter/>
          </a:ln>
        </p:spPr>
        <p:txBody>
          <a:bodyPr rtlCol="0" anchor="ctr"/>
          <a:lstStyle/>
          <a:p>
            <a:endParaRPr lang="de-DE"/>
          </a:p>
        </p:txBody>
      </p:sp>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tx1"/>
                </a:solidFill>
                <a:latin typeface="Arial" pitchFamily="34" charset="0"/>
                <a:ea typeface="Arial" panose="020B0603020204020204" pitchFamily="34" charset="0"/>
                <a:cs typeface="Arial" panose="020B0603020204020204" pitchFamily="34" charset="0"/>
              </a:rPr>
              <a:t>Vielen Dank für Ihre </a:t>
            </a:r>
            <a:br>
              <a:rPr lang="de-DE" sz="4800" b="1" dirty="0">
                <a:solidFill>
                  <a:schemeClr val="tx1"/>
                </a:solidFill>
                <a:latin typeface="Arial" pitchFamily="34" charset="0"/>
                <a:ea typeface="Arial" panose="020B0603020204020204" pitchFamily="34" charset="0"/>
                <a:cs typeface="Arial" panose="020B0603020204020204" pitchFamily="34" charset="0"/>
              </a:rPr>
            </a:br>
            <a:r>
              <a:rPr lang="de-DE" sz="4800" b="1" dirty="0">
                <a:solidFill>
                  <a:schemeClr val="tx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2029"/>
          </a:xfrm>
        </p:spPr>
        <p:txBody>
          <a:bodyPr/>
          <a:lstStyle>
            <a:lvl1pPr>
              <a:lnSpc>
                <a:spcPct val="110000"/>
              </a:lnSpc>
              <a:spcBef>
                <a:spcPts val="0"/>
              </a:spcBef>
              <a:defRPr sz="1200" b="1">
                <a:solidFill>
                  <a:schemeClr val="tx1"/>
                </a:solidFill>
              </a:defRPr>
            </a:lvl1pPr>
            <a:lvl2pPr marL="0" indent="0">
              <a:lnSpc>
                <a:spcPct val="100000"/>
              </a:lnSpc>
              <a:spcBef>
                <a:spcPts val="0"/>
              </a:spcBef>
              <a:buNone/>
              <a:defRPr sz="1200" b="1"/>
            </a:lvl2pPr>
            <a:lvl3pPr marL="0" indent="0">
              <a:lnSpc>
                <a:spcPct val="100000"/>
              </a:lnSpc>
              <a:buNone/>
              <a:defRPr sz="1200" b="1">
                <a:solidFill>
                  <a:srgbClr val="2C2E2E"/>
                </a:solidFill>
              </a:defRPr>
            </a:lvl3pPr>
            <a:lvl4pPr marL="0" indent="0">
              <a:lnSpc>
                <a:spcPct val="100000"/>
              </a:lnSpc>
              <a:spcBef>
                <a:spcPts val="0"/>
              </a:spcBef>
              <a:buFont typeface="Arial" panose="020B0604020202020204" pitchFamily="34" charset="0"/>
              <a:buNone/>
              <a:defRPr sz="1200">
                <a:solidFill>
                  <a:srgbClr val="2C2E2E"/>
                </a:solidFill>
              </a:defRPr>
            </a:lvl4pPr>
            <a:lvl5pPr marL="0" indent="0">
              <a:lnSpc>
                <a:spcPct val="100000"/>
              </a:lnSpc>
              <a:spcBef>
                <a:spcPts val="0"/>
              </a:spcBef>
              <a:buFont typeface="Arial" panose="020B0604020202020204" pitchFamily="34" charset="0"/>
              <a:buNone/>
              <a:defRPr sz="1200">
                <a:solidFill>
                  <a:srgbClr val="2C2E2E"/>
                </a:solidFill>
              </a:defRPr>
            </a:lvl5pPr>
            <a:lvl6pPr marL="0" indent="0">
              <a:lnSpc>
                <a:spcPct val="100000"/>
              </a:lnSpc>
              <a:spcBef>
                <a:spcPts val="0"/>
              </a:spcBef>
              <a:buFont typeface="Arial" panose="020B0604020202020204" pitchFamily="34" charset="0"/>
              <a:buNone/>
              <a:defRPr sz="1200">
                <a:solidFill>
                  <a:srgbClr val="2C2E2E"/>
                </a:solidFill>
              </a:defRPr>
            </a:lvl6pPr>
            <a:lvl7pPr marL="0" indent="0">
              <a:lnSpc>
                <a:spcPct val="100000"/>
              </a:lnSpc>
              <a:spcBef>
                <a:spcPts val="0"/>
              </a:spcBef>
              <a:buFont typeface="Arial" panose="020B0604020202020204" pitchFamily="34" charset="0"/>
              <a:buNone/>
              <a:defRPr sz="1200">
                <a:solidFill>
                  <a:srgbClr val="2C2E2E"/>
                </a:solidFill>
              </a:defRPr>
            </a:lvl7pPr>
            <a:lvl8pPr marL="0" indent="0">
              <a:lnSpc>
                <a:spcPct val="100000"/>
              </a:lnSpc>
              <a:spcBef>
                <a:spcPts val="0"/>
              </a:spcBef>
              <a:buFont typeface="Arial" panose="020B0604020202020204" pitchFamily="34" charset="0"/>
              <a:buNone/>
              <a:defRPr sz="1200">
                <a:solidFill>
                  <a:srgbClr val="2C2E2E"/>
                </a:solidFill>
              </a:defRPr>
            </a:lvl8pPr>
            <a:lvl9pPr marL="0" indent="0">
              <a:lnSpc>
                <a:spcPct val="100000"/>
              </a:lnSpc>
              <a:spcBef>
                <a:spcPts val="0"/>
              </a:spcBef>
              <a:buFont typeface="Arial" panose="020B0604020202020204" pitchFamily="34" charset="0"/>
              <a:buNone/>
              <a:defRPr sz="1200" b="1">
                <a:solidFill>
                  <a:srgbClr val="2C2E2E"/>
                </a:solidFill>
              </a:defRPr>
            </a:lvl9pPr>
          </a:lstStyle>
          <a:p>
            <a:pPr lvl="0"/>
            <a:r>
              <a:rPr lang="de-DE" dirty="0"/>
              <a:t>Mastertextformat bearbeiten</a:t>
            </a: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Kontakt Farbe">
    <p:bg>
      <p:bgPr>
        <a:solidFill>
          <a:schemeClr val="accent1"/>
        </a:solidFill>
        <a:effectLst/>
      </p:bgPr>
    </p:bg>
    <p:spTree>
      <p:nvGrpSpPr>
        <p:cNvPr id="1" name=""/>
        <p:cNvGrpSpPr/>
        <p:nvPr/>
      </p:nvGrpSpPr>
      <p:grpSpPr>
        <a:xfrm>
          <a:off x="0" y="0"/>
          <a:ext cx="0" cy="0"/>
          <a:chOff x="0" y="0"/>
          <a:chExt cx="0" cy="0"/>
        </a:xfrm>
      </p:grpSpPr>
      <p:sp>
        <p:nvSpPr>
          <p:cNvPr id="12" name="Textfeld 11"/>
          <p:cNvSpPr txBox="1"/>
          <p:nvPr userDrawn="1"/>
        </p:nvSpPr>
        <p:spPr>
          <a:xfrm>
            <a:off x="360000" y="1891862"/>
            <a:ext cx="7455532" cy="2081048"/>
          </a:xfrm>
          <a:prstGeom prst="rect">
            <a:avLst/>
          </a:prstGeom>
          <a:noFill/>
        </p:spPr>
        <p:txBody>
          <a:bodyPr wrap="square" lIns="0" tIns="0" rIns="0" bIns="0" rtlCol="0">
            <a:noAutofit/>
          </a:bodyPr>
          <a:lstStyle/>
          <a:p>
            <a:r>
              <a:rPr lang="de-DE" sz="4800" b="1" dirty="0">
                <a:solidFill>
                  <a:schemeClr val="bg1"/>
                </a:solidFill>
                <a:latin typeface="Arial" pitchFamily="34" charset="0"/>
                <a:ea typeface="Arial" panose="020B0603020204020204" pitchFamily="34" charset="0"/>
                <a:cs typeface="Arial" panose="020B0603020204020204" pitchFamily="34" charset="0"/>
              </a:rPr>
              <a:t>Vielen Dank für deine</a:t>
            </a:r>
            <a:br>
              <a:rPr lang="de-DE" sz="4800" b="1" dirty="0">
                <a:solidFill>
                  <a:schemeClr val="bg1"/>
                </a:solidFill>
                <a:latin typeface="Arial" pitchFamily="34" charset="0"/>
                <a:ea typeface="Arial" panose="020B0603020204020204" pitchFamily="34" charset="0"/>
                <a:cs typeface="Arial" panose="020B0603020204020204" pitchFamily="34" charset="0"/>
              </a:rPr>
            </a:br>
            <a:r>
              <a:rPr lang="de-DE" sz="4800" b="1" dirty="0">
                <a:solidFill>
                  <a:schemeClr val="bg1"/>
                </a:solidFill>
                <a:latin typeface="Arial" pitchFamily="34" charset="0"/>
                <a:ea typeface="Arial" panose="020B0603020204020204" pitchFamily="34" charset="0"/>
                <a:cs typeface="Arial" panose="020B0603020204020204" pitchFamily="34" charset="0"/>
              </a:rPr>
              <a:t>Aufmerksamkeit!</a:t>
            </a:r>
          </a:p>
        </p:txBody>
      </p:sp>
      <p:sp>
        <p:nvSpPr>
          <p:cNvPr id="9" name="Textplatzhalter 8"/>
          <p:cNvSpPr>
            <a:spLocks noGrp="1"/>
          </p:cNvSpPr>
          <p:nvPr>
            <p:ph type="body" sz="quarter" idx="13" hasCustomPrompt="1"/>
          </p:nvPr>
        </p:nvSpPr>
        <p:spPr>
          <a:xfrm>
            <a:off x="360000" y="4881435"/>
            <a:ext cx="4630928" cy="1270800"/>
          </a:xfrm>
        </p:spPr>
        <p:txBody>
          <a:bodyPr/>
          <a:lstStyle>
            <a:lvl1pPr>
              <a:lnSpc>
                <a:spcPct val="110000"/>
              </a:lnSpc>
              <a:spcBef>
                <a:spcPts val="0"/>
              </a:spcBef>
              <a:defRPr sz="1200" b="1">
                <a:solidFill>
                  <a:schemeClr val="bg1"/>
                </a:solidFill>
              </a:defRPr>
            </a:lvl1pPr>
            <a:lvl2pPr marL="0" indent="0">
              <a:lnSpc>
                <a:spcPct val="100000"/>
              </a:lnSpc>
              <a:spcBef>
                <a:spcPts val="0"/>
              </a:spcBef>
              <a:buNone/>
              <a:defRPr sz="1200" b="1">
                <a:solidFill>
                  <a:schemeClr val="bg1"/>
                </a:solidFill>
              </a:defRPr>
            </a:lvl2pPr>
            <a:lvl3pPr marL="0" indent="0">
              <a:lnSpc>
                <a:spcPct val="100000"/>
              </a:lnSpc>
              <a:buNone/>
              <a:defRPr sz="1200" b="1">
                <a:solidFill>
                  <a:schemeClr val="bg1"/>
                </a:solidFill>
              </a:defRPr>
            </a:lvl3pPr>
            <a:lvl4pPr marL="0" indent="0">
              <a:lnSpc>
                <a:spcPct val="100000"/>
              </a:lnSpc>
              <a:spcBef>
                <a:spcPts val="0"/>
              </a:spcBef>
              <a:buFont typeface="Arial" panose="020B0604020202020204" pitchFamily="34" charset="0"/>
              <a:buNone/>
              <a:defRPr sz="1200">
                <a:solidFill>
                  <a:schemeClr val="bg1"/>
                </a:solidFill>
              </a:defRPr>
            </a:lvl4pPr>
            <a:lvl5pPr marL="0" indent="0">
              <a:lnSpc>
                <a:spcPct val="100000"/>
              </a:lnSpc>
              <a:spcBef>
                <a:spcPts val="0"/>
              </a:spcBef>
              <a:buFont typeface="Arial" panose="020B0604020202020204" pitchFamily="34" charset="0"/>
              <a:buNone/>
              <a:defRPr sz="1200">
                <a:solidFill>
                  <a:schemeClr val="bg1"/>
                </a:solidFill>
              </a:defRPr>
            </a:lvl5pPr>
            <a:lvl6pPr marL="0" indent="0">
              <a:lnSpc>
                <a:spcPct val="100000"/>
              </a:lnSpc>
              <a:spcBef>
                <a:spcPts val="0"/>
              </a:spcBef>
              <a:buFont typeface="Arial" panose="020B0604020202020204" pitchFamily="34" charset="0"/>
              <a:buNone/>
              <a:defRPr sz="1200">
                <a:solidFill>
                  <a:schemeClr val="bg1"/>
                </a:solidFill>
              </a:defRPr>
            </a:lvl6pPr>
            <a:lvl7pPr marL="0" indent="0">
              <a:lnSpc>
                <a:spcPct val="100000"/>
              </a:lnSpc>
              <a:spcBef>
                <a:spcPts val="0"/>
              </a:spcBef>
              <a:buFont typeface="Arial" panose="020B0604020202020204" pitchFamily="34" charset="0"/>
              <a:buNone/>
              <a:defRPr sz="1200">
                <a:solidFill>
                  <a:schemeClr val="bg1"/>
                </a:solidFill>
              </a:defRPr>
            </a:lvl7pPr>
            <a:lvl8pPr marL="0" indent="0">
              <a:lnSpc>
                <a:spcPct val="100000"/>
              </a:lnSpc>
              <a:spcBef>
                <a:spcPts val="0"/>
              </a:spcBef>
              <a:buFont typeface="Arial" panose="020B0604020202020204" pitchFamily="34" charset="0"/>
              <a:buNone/>
              <a:defRPr sz="1200">
                <a:solidFill>
                  <a:schemeClr val="bg1"/>
                </a:solidFill>
              </a:defRPr>
            </a:lvl8pPr>
            <a:lvl9pPr marL="0" indent="0">
              <a:lnSpc>
                <a:spcPct val="100000"/>
              </a:lnSpc>
              <a:spcBef>
                <a:spcPts val="0"/>
              </a:spcBef>
              <a:buFont typeface="Arial" panose="020B0604020202020204" pitchFamily="34" charset="0"/>
              <a:buNone/>
              <a:defRPr sz="1200" b="1">
                <a:solidFill>
                  <a:schemeClr val="bg1"/>
                </a:solidFill>
              </a:defRPr>
            </a:lvl9pPr>
          </a:lstStyle>
          <a:p>
            <a:pPr lvl="0"/>
            <a:r>
              <a:rPr lang="de-DE" dirty="0"/>
              <a:t>Mastertextformat bearbeiten</a:t>
            </a:r>
          </a:p>
        </p:txBody>
      </p:sp>
      <p:sp>
        <p:nvSpPr>
          <p:cNvPr id="6" name="Freihandform: Form 5"/>
          <p:cNvSpPr/>
          <p:nvPr userDrawn="1"/>
        </p:nvSpPr>
        <p:spPr>
          <a:xfrm>
            <a:off x="8212024" y="2802039"/>
            <a:ext cx="3989213" cy="4055962"/>
          </a:xfrm>
          <a:custGeom>
            <a:avLst/>
            <a:gdLst>
              <a:gd name="connsiteX0" fmla="*/ 3989213 w 3989213"/>
              <a:gd name="connsiteY0" fmla="*/ 0 h 4055962"/>
              <a:gd name="connsiteX1" fmla="*/ 3989213 w 3989213"/>
              <a:gd name="connsiteY1" fmla="*/ 2389338 h 4055962"/>
              <a:gd name="connsiteX2" fmla="*/ 3858525 w 3989213"/>
              <a:gd name="connsiteY2" fmla="*/ 2411278 h 4055962"/>
              <a:gd name="connsiteX3" fmla="*/ 2529280 w 3989213"/>
              <a:gd name="connsiteY3" fmla="*/ 3871987 h 4055962"/>
              <a:gd name="connsiteX4" fmla="*/ 2507974 w 3989213"/>
              <a:gd name="connsiteY4" fmla="*/ 4055962 h 4055962"/>
              <a:gd name="connsiteX5" fmla="*/ 0 w 3989213"/>
              <a:gd name="connsiteY5" fmla="*/ 4055962 h 4055962"/>
              <a:gd name="connsiteX6" fmla="*/ 22942 w 3989213"/>
              <a:gd name="connsiteY6" fmla="*/ 3789041 h 4055962"/>
              <a:gd name="connsiteX7" fmla="*/ 3885074 w 3989213"/>
              <a:gd name="connsiteY7" fmla="*/ 4662 h 4055962"/>
              <a:gd name="connsiteX8" fmla="*/ 3957883 w 3989213"/>
              <a:gd name="connsiteY8" fmla="*/ 933 h 405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213" h="4055962">
                <a:moveTo>
                  <a:pt x="3989213" y="0"/>
                </a:moveTo>
                <a:lnTo>
                  <a:pt x="3989213" y="2389338"/>
                </a:lnTo>
                <a:lnTo>
                  <a:pt x="3858525" y="2411278"/>
                </a:lnTo>
                <a:cubicBezTo>
                  <a:pt x="2993398" y="2575443"/>
                  <a:pt x="2647939" y="3036171"/>
                  <a:pt x="2529280" y="3871987"/>
                </a:cubicBezTo>
                <a:lnTo>
                  <a:pt x="2507974" y="4055962"/>
                </a:lnTo>
                <a:lnTo>
                  <a:pt x="0" y="4055962"/>
                </a:lnTo>
                <a:lnTo>
                  <a:pt x="22942" y="3789041"/>
                </a:lnTo>
                <a:cubicBezTo>
                  <a:pt x="290736" y="1521935"/>
                  <a:pt x="1510333" y="126899"/>
                  <a:pt x="3885074" y="4662"/>
                </a:cubicBezTo>
                <a:cubicBezTo>
                  <a:pt x="3906982" y="3233"/>
                  <a:pt x="3931449" y="1983"/>
                  <a:pt x="3957883" y="933"/>
                </a:cubicBezTo>
                <a:close/>
              </a:path>
            </a:pathLst>
          </a:custGeom>
          <a:solidFill>
            <a:schemeClr val="bg2">
              <a:lumMod val="20000"/>
              <a:lumOff val="80000"/>
              <a:alpha val="20000"/>
            </a:schemeClr>
          </a:solidFill>
          <a:ln w="12700" cap="flat">
            <a:noFill/>
            <a:prstDash val="solid"/>
            <a:miter/>
          </a:ln>
        </p:spPr>
        <p:txBody>
          <a:bodyPr rtlCol="0" anchor="ctr"/>
          <a:lstStyle/>
          <a:p>
            <a:endParaRPr lang="de-DE"/>
          </a:p>
        </p:txBody>
      </p:sp>
      <p:pic>
        <p:nvPicPr>
          <p:cNvPr id="7" name="Grafik 6"/>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77358" y="358969"/>
            <a:ext cx="950656" cy="73707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 Id="rId14" Type="http://schemas.openxmlformats.org/officeDocument/2006/relationships/slideLayout" Target="../slideLayouts/slideLayout37.xml"/><Relationship Id="rId15" Type="http://schemas.openxmlformats.org/officeDocument/2006/relationships/slideLayout" Target="../slideLayouts/slideLayout38.xml"/><Relationship Id="rId16" Type="http://schemas.openxmlformats.org/officeDocument/2006/relationships/slideLayout" Target="../slideLayouts/slideLayout39.xml"/><Relationship Id="rId17" Type="http://schemas.openxmlformats.org/officeDocument/2006/relationships/slideLayout" Target="../slideLayouts/slideLayout40.xml"/><Relationship Id="rId18" Type="http://schemas.openxmlformats.org/officeDocument/2006/relationships/slideLayout" Target="../slideLayouts/slideLayout41.xml"/><Relationship Id="rId19" Type="http://schemas.openxmlformats.org/officeDocument/2006/relationships/slideLayout" Target="../slideLayouts/slideLayout42.xml"/><Relationship Id="rId20" Type="http://schemas.openxmlformats.org/officeDocument/2006/relationships/slideLayout" Target="../slideLayouts/slideLayout43.xml"/><Relationship Id="rId21" Type="http://schemas.openxmlformats.org/officeDocument/2006/relationships/slideLayout" Target="../slideLayouts/slideLayout44.xml"/><Relationship Id="rId22" Type="http://schemas.openxmlformats.org/officeDocument/2006/relationships/slideLayout" Target="../slideLayouts/slideLayout45.xml"/><Relationship Id="rId23" Type="http://schemas.openxmlformats.org/officeDocument/2006/relationships/slideLayout" Target="../slideLayouts/slideLayout46.xml"/><Relationship Id="rId2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Relationship Id="rId15" Type="http://schemas.openxmlformats.org/officeDocument/2006/relationships/slideLayout" Target="../slideLayouts/slideLayout61.xml"/><Relationship Id="rId16" Type="http://schemas.openxmlformats.org/officeDocument/2006/relationships/slideLayout" Target="../slideLayouts/slideLayout62.xml"/><Relationship Id="rId17" Type="http://schemas.openxmlformats.org/officeDocument/2006/relationships/slideLayout" Target="../slideLayouts/slideLayout63.xml"/><Relationship Id="rId18" Type="http://schemas.openxmlformats.org/officeDocument/2006/relationships/slideLayout" Target="../slideLayouts/slideLayout64.xml"/><Relationship Id="rId19" Type="http://schemas.openxmlformats.org/officeDocument/2006/relationships/slideLayout" Target="../slideLayouts/slideLayout65.xml"/><Relationship Id="rId20" Type="http://schemas.openxmlformats.org/officeDocument/2006/relationships/slideLayout" Target="../slideLayouts/slideLayout66.xml"/><Relationship Id="rId21" Type="http://schemas.openxmlformats.org/officeDocument/2006/relationships/slideLayout" Target="../slideLayouts/slideLayout67.xml"/><Relationship Id="rId22" Type="http://schemas.openxmlformats.org/officeDocument/2006/relationships/slideLayout" Target="../slideLayouts/slideLayout68.xml"/><Relationship Id="rId23" Type="http://schemas.openxmlformats.org/officeDocument/2006/relationships/slideLayout" Target="../slideLayouts/slideLayout69.xml"/><Relationship Id="rId2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slideLayout" Target="../slideLayouts/slideLayout71.xml"/><Relationship Id="rId3" Type="http://schemas.openxmlformats.org/officeDocument/2006/relationships/slideLayout" Target="../slideLayouts/slideLayout72.xml"/><Relationship Id="rId4" Type="http://schemas.openxmlformats.org/officeDocument/2006/relationships/slideLayout" Target="../slideLayouts/slideLayout73.xml"/><Relationship Id="rId5" Type="http://schemas.openxmlformats.org/officeDocument/2006/relationships/slideLayout" Target="../slideLayouts/slideLayout74.xml"/><Relationship Id="rId6" Type="http://schemas.openxmlformats.org/officeDocument/2006/relationships/slideLayout" Target="../slideLayouts/slideLayout75.xml"/><Relationship Id="rId7" Type="http://schemas.openxmlformats.org/officeDocument/2006/relationships/slideLayout" Target="../slideLayouts/slideLayout76.xml"/><Relationship Id="rId8" Type="http://schemas.openxmlformats.org/officeDocument/2006/relationships/slideLayout" Target="../slideLayouts/slideLayout77.xml"/><Relationship Id="rId9" Type="http://schemas.openxmlformats.org/officeDocument/2006/relationships/slideLayout" Target="../slideLayouts/slideLayout78.xml"/><Relationship Id="rId10" Type="http://schemas.openxmlformats.org/officeDocument/2006/relationships/slideLayout" Target="../slideLayouts/slideLayout79.xml"/><Relationship Id="rId11" Type="http://schemas.openxmlformats.org/officeDocument/2006/relationships/slideLayout" Target="../slideLayouts/slideLayout80.xml"/><Relationship Id="rId12" Type="http://schemas.openxmlformats.org/officeDocument/2006/relationships/slideLayout" Target="../slideLayouts/slideLayout81.xml"/><Relationship Id="rId13" Type="http://schemas.openxmlformats.org/officeDocument/2006/relationships/slideLayout" Target="../slideLayouts/slideLayout82.xml"/><Relationship Id="rId14" Type="http://schemas.openxmlformats.org/officeDocument/2006/relationships/slideLayout" Target="../slideLayouts/slideLayout83.xml"/><Relationship Id="rId15" Type="http://schemas.openxmlformats.org/officeDocument/2006/relationships/slideLayout" Target="../slideLayouts/slideLayout84.xml"/><Relationship Id="rId16" Type="http://schemas.openxmlformats.org/officeDocument/2006/relationships/slideLayout" Target="../slideLayouts/slideLayout85.xml"/><Relationship Id="rId17" Type="http://schemas.openxmlformats.org/officeDocument/2006/relationships/slideLayout" Target="../slideLayouts/slideLayout86.xml"/><Relationship Id="rId18" Type="http://schemas.openxmlformats.org/officeDocument/2006/relationships/slideLayout" Target="../slideLayouts/slideLayout87.xml"/><Relationship Id="rId19" Type="http://schemas.openxmlformats.org/officeDocument/2006/relationships/slideLayout" Target="../slideLayouts/slideLayout88.xml"/><Relationship Id="rId20" Type="http://schemas.openxmlformats.org/officeDocument/2006/relationships/slideLayout" Target="../slideLayouts/slideLayout89.xml"/><Relationship Id="rId21" Type="http://schemas.openxmlformats.org/officeDocument/2006/relationships/slideLayout" Target="../slideLayouts/slideLayout90.xml"/><Relationship Id="rId22" Type="http://schemas.openxmlformats.org/officeDocument/2006/relationships/slideLayout" Target="../slideLayouts/slideLayout91.xml"/><Relationship Id="rId23" Type="http://schemas.openxmlformats.org/officeDocument/2006/relationships/slideLayout" Target="../slideLayouts/slideLayout92.xml"/><Relationship Id="rId2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slideLayout" Target="../slideLayouts/slideLayout94.xml"/><Relationship Id="rId3" Type="http://schemas.openxmlformats.org/officeDocument/2006/relationships/slideLayout" Target="../slideLayouts/slideLayout95.xml"/><Relationship Id="rId4" Type="http://schemas.openxmlformats.org/officeDocument/2006/relationships/slideLayout" Target="../slideLayouts/slideLayout96.xml"/><Relationship Id="rId5" Type="http://schemas.openxmlformats.org/officeDocument/2006/relationships/slideLayout" Target="../slideLayouts/slideLayout97.xml"/><Relationship Id="rId6" Type="http://schemas.openxmlformats.org/officeDocument/2006/relationships/slideLayout" Target="../slideLayouts/slideLayout98.xml"/><Relationship Id="rId7" Type="http://schemas.openxmlformats.org/officeDocument/2006/relationships/slideLayout" Target="../slideLayouts/slideLayout99.xml"/><Relationship Id="rId8" Type="http://schemas.openxmlformats.org/officeDocument/2006/relationships/slideLayout" Target="../slideLayouts/slideLayout100.xml"/><Relationship Id="rId9" Type="http://schemas.openxmlformats.org/officeDocument/2006/relationships/slideLayout" Target="../slideLayouts/slideLayout101.xml"/><Relationship Id="rId10" Type="http://schemas.openxmlformats.org/officeDocument/2006/relationships/slideLayout" Target="../slideLayouts/slideLayout102.xml"/><Relationship Id="rId11" Type="http://schemas.openxmlformats.org/officeDocument/2006/relationships/slideLayout" Target="../slideLayouts/slideLayout103.xml"/><Relationship Id="rId12" Type="http://schemas.openxmlformats.org/officeDocument/2006/relationships/slideLayout" Target="../slideLayouts/slideLayout104.xml"/><Relationship Id="rId13" Type="http://schemas.openxmlformats.org/officeDocument/2006/relationships/slideLayout" Target="../slideLayouts/slideLayout105.xml"/><Relationship Id="rId14" Type="http://schemas.openxmlformats.org/officeDocument/2006/relationships/slideLayout" Target="../slideLayouts/slideLayout106.xml"/><Relationship Id="rId15" Type="http://schemas.openxmlformats.org/officeDocument/2006/relationships/slideLayout" Target="../slideLayouts/slideLayout107.xml"/><Relationship Id="rId16" Type="http://schemas.openxmlformats.org/officeDocument/2006/relationships/slideLayout" Target="../slideLayouts/slideLayout108.xml"/><Relationship Id="rId17" Type="http://schemas.openxmlformats.org/officeDocument/2006/relationships/slideLayout" Target="../slideLayouts/slideLayout109.xml"/><Relationship Id="rId18" Type="http://schemas.openxmlformats.org/officeDocument/2006/relationships/slideLayout" Target="../slideLayouts/slideLayout110.xml"/><Relationship Id="rId19" Type="http://schemas.openxmlformats.org/officeDocument/2006/relationships/slideLayout" Target="../slideLayouts/slideLayout111.xml"/><Relationship Id="rId20" Type="http://schemas.openxmlformats.org/officeDocument/2006/relationships/slideLayout" Target="../slideLayouts/slideLayout112.xml"/><Relationship Id="rId21" Type="http://schemas.openxmlformats.org/officeDocument/2006/relationships/slideLayout" Target="../slideLayouts/slideLayout113.xml"/><Relationship Id="rId22" Type="http://schemas.openxmlformats.org/officeDocument/2006/relationships/slideLayout" Target="../slideLayouts/slideLayout114.xml"/><Relationship Id="rId23" Type="http://schemas.openxmlformats.org/officeDocument/2006/relationships/slideLayout" Target="../slideLayouts/slideLayout115.xml"/><Relationship Id="rId2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slideLayout" Target="../slideLayouts/slideLayout117.xml"/><Relationship Id="rId3" Type="http://schemas.openxmlformats.org/officeDocument/2006/relationships/slideLayout" Target="../slideLayouts/slideLayout118.xml"/><Relationship Id="rId4" Type="http://schemas.openxmlformats.org/officeDocument/2006/relationships/slideLayout" Target="../slideLayouts/slideLayout119.xml"/><Relationship Id="rId5" Type="http://schemas.openxmlformats.org/officeDocument/2006/relationships/slideLayout" Target="../slideLayouts/slideLayout120.xml"/><Relationship Id="rId6" Type="http://schemas.openxmlformats.org/officeDocument/2006/relationships/slideLayout" Target="../slideLayouts/slideLayout121.xml"/><Relationship Id="rId7" Type="http://schemas.openxmlformats.org/officeDocument/2006/relationships/slideLayout" Target="../slideLayouts/slideLayout122.xml"/><Relationship Id="rId8" Type="http://schemas.openxmlformats.org/officeDocument/2006/relationships/slideLayout" Target="../slideLayouts/slideLayout123.xml"/><Relationship Id="rId9" Type="http://schemas.openxmlformats.org/officeDocument/2006/relationships/slideLayout" Target="../slideLayouts/slideLayout124.xml"/><Relationship Id="rId10" Type="http://schemas.openxmlformats.org/officeDocument/2006/relationships/slideLayout" Target="../slideLayouts/slideLayout125.xml"/><Relationship Id="rId11" Type="http://schemas.openxmlformats.org/officeDocument/2006/relationships/slideLayout" Target="../slideLayouts/slideLayout126.xml"/><Relationship Id="rId12" Type="http://schemas.openxmlformats.org/officeDocument/2006/relationships/slideLayout" Target="../slideLayouts/slideLayout127.xml"/><Relationship Id="rId13" Type="http://schemas.openxmlformats.org/officeDocument/2006/relationships/slideLayout" Target="../slideLayouts/slideLayout128.xml"/><Relationship Id="rId14" Type="http://schemas.openxmlformats.org/officeDocument/2006/relationships/slideLayout" Target="../slideLayouts/slideLayout129.xml"/><Relationship Id="rId15" Type="http://schemas.openxmlformats.org/officeDocument/2006/relationships/slideLayout" Target="../slideLayouts/slideLayout130.xml"/><Relationship Id="rId16" Type="http://schemas.openxmlformats.org/officeDocument/2006/relationships/slideLayout" Target="../slideLayouts/slideLayout131.xml"/><Relationship Id="rId17" Type="http://schemas.openxmlformats.org/officeDocument/2006/relationships/slideLayout" Target="../slideLayouts/slideLayout132.xml"/><Relationship Id="rId18" Type="http://schemas.openxmlformats.org/officeDocument/2006/relationships/slideLayout" Target="../slideLayouts/slideLayout133.xml"/><Relationship Id="rId19" Type="http://schemas.openxmlformats.org/officeDocument/2006/relationships/slideLayout" Target="../slideLayouts/slideLayout134.xml"/><Relationship Id="rId20" Type="http://schemas.openxmlformats.org/officeDocument/2006/relationships/slideLayout" Target="../slideLayouts/slideLayout135.xml"/><Relationship Id="rId21" Type="http://schemas.openxmlformats.org/officeDocument/2006/relationships/slideLayout" Target="../slideLayouts/slideLayout136.xml"/><Relationship Id="rId22" Type="http://schemas.openxmlformats.org/officeDocument/2006/relationships/slideLayout" Target="../slideLayouts/slideLayout137.xml"/><Relationship Id="rId23" Type="http://schemas.openxmlformats.org/officeDocument/2006/relationships/slideLayout" Target="../slideLayouts/slideLayout138.xml"/><Relationship Id="rId2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slideLayout" Target="../slideLayouts/slideLayout140.xml"/><Relationship Id="rId3" Type="http://schemas.openxmlformats.org/officeDocument/2006/relationships/slideLayout" Target="../slideLayouts/slideLayout141.xml"/><Relationship Id="rId4" Type="http://schemas.openxmlformats.org/officeDocument/2006/relationships/slideLayout" Target="../slideLayouts/slideLayout142.xml"/><Relationship Id="rId5" Type="http://schemas.openxmlformats.org/officeDocument/2006/relationships/slideLayout" Target="../slideLayouts/slideLayout143.xml"/><Relationship Id="rId6" Type="http://schemas.openxmlformats.org/officeDocument/2006/relationships/slideLayout" Target="../slideLayouts/slideLayout144.xml"/><Relationship Id="rId7" Type="http://schemas.openxmlformats.org/officeDocument/2006/relationships/slideLayout" Target="../slideLayouts/slideLayout145.xml"/><Relationship Id="rId8" Type="http://schemas.openxmlformats.org/officeDocument/2006/relationships/slideLayout" Target="../slideLayouts/slideLayout146.xml"/><Relationship Id="rId9" Type="http://schemas.openxmlformats.org/officeDocument/2006/relationships/slideLayout" Target="../slideLayouts/slideLayout147.xml"/><Relationship Id="rId10" Type="http://schemas.openxmlformats.org/officeDocument/2006/relationships/slideLayout" Target="../slideLayouts/slideLayout148.xml"/><Relationship Id="rId11" Type="http://schemas.openxmlformats.org/officeDocument/2006/relationships/slideLayout" Target="../slideLayouts/slideLayout149.xml"/><Relationship Id="rId12" Type="http://schemas.openxmlformats.org/officeDocument/2006/relationships/slideLayout" Target="../slideLayouts/slideLayout150.xml"/><Relationship Id="rId13" Type="http://schemas.openxmlformats.org/officeDocument/2006/relationships/slideLayout" Target="../slideLayouts/slideLayout151.xml"/><Relationship Id="rId14" Type="http://schemas.openxmlformats.org/officeDocument/2006/relationships/slideLayout" Target="../slideLayouts/slideLayout152.xml"/><Relationship Id="rId15" Type="http://schemas.openxmlformats.org/officeDocument/2006/relationships/slideLayout" Target="../slideLayouts/slideLayout153.xml"/><Relationship Id="rId16" Type="http://schemas.openxmlformats.org/officeDocument/2006/relationships/slideLayout" Target="../slideLayouts/slideLayout154.xml"/><Relationship Id="rId17" Type="http://schemas.openxmlformats.org/officeDocument/2006/relationships/slideLayout" Target="../slideLayouts/slideLayout155.xml"/><Relationship Id="rId18" Type="http://schemas.openxmlformats.org/officeDocument/2006/relationships/slideLayout" Target="../slideLayouts/slideLayout156.xml"/><Relationship Id="rId19" Type="http://schemas.openxmlformats.org/officeDocument/2006/relationships/slideLayout" Target="../slideLayouts/slideLayout157.xml"/><Relationship Id="rId20" Type="http://schemas.openxmlformats.org/officeDocument/2006/relationships/slideLayout" Target="../slideLayouts/slideLayout158.xml"/><Relationship Id="rId21" Type="http://schemas.openxmlformats.org/officeDocument/2006/relationships/slideLayout" Target="../slideLayouts/slideLayout159.xml"/><Relationship Id="rId22" Type="http://schemas.openxmlformats.org/officeDocument/2006/relationships/slideLayout" Target="../slideLayouts/slideLayout160.xml"/><Relationship Id="rId23" Type="http://schemas.openxmlformats.org/officeDocument/2006/relationships/slideLayout" Target="../slideLayouts/slideLayout161.xml"/><Relationship Id="rId2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 id="2147483788" r:id="rId20"/>
    <p:sldLayoutId id="2147483789" r:id="rId21"/>
    <p:sldLayoutId id="2147483790" r:id="rId22"/>
    <p:sldLayoutId id="2147483791"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liennummernplatzhalter 5"/>
          <p:cNvSpPr>
            <a:spLocks noGrp="1"/>
          </p:cNvSpPr>
          <p:nvPr>
            <p:ph type="sldNum" sz="quarter" idx="4"/>
          </p:nvPr>
        </p:nvSpPr>
        <p:spPr>
          <a:xfrm>
            <a:off x="11146737" y="6364924"/>
            <a:ext cx="680085" cy="365125"/>
          </a:xfrm>
          <a:prstGeom prst="rect">
            <a:avLst/>
          </a:prstGeom>
        </p:spPr>
        <p:txBody>
          <a:bodyPr vert="horz" lIns="0" tIns="0" rIns="0" bIns="0" rtlCol="0" anchor="ctr"/>
          <a:lstStyle>
            <a:lvl1pPr algn="r">
              <a:defRPr sz="1550" b="1">
                <a:solidFill>
                  <a:srgbClr val="6D7373"/>
                </a:solidFill>
                <a:latin typeface="Arial" pitchFamily="34" charset="0"/>
                <a:ea typeface="Arial" panose="020B0503020204020204" pitchFamily="34" charset="0"/>
                <a:cs typeface="Arial" panose="020B0503020204020204" pitchFamily="34" charset="0"/>
              </a:defRPr>
            </a:lvl1pPr>
          </a:lstStyle>
          <a:p>
            <a:fld id="{075B144D-941B-4DFC-AF5F-0416193D12EC}" type="slidenum">
              <a:rPr lang="de-DE" smtClean="0"/>
              <a:t>‹#›</a:t>
            </a:fld>
            <a:endParaRPr lang="de-DE" dirty="0"/>
          </a:p>
        </p:txBody>
      </p:sp>
      <p:sp>
        <p:nvSpPr>
          <p:cNvPr id="4" name="Datumsplatzhalter 3"/>
          <p:cNvSpPr>
            <a:spLocks noGrp="1"/>
          </p:cNvSpPr>
          <p:nvPr>
            <p:ph type="dt" sz="half" idx="2"/>
          </p:nvPr>
        </p:nvSpPr>
        <p:spPr>
          <a:xfrm>
            <a:off x="367645" y="6356350"/>
            <a:ext cx="874559"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fld id="{7049F9DB-D845-E244-8A1F-1368183894D1}" type="datetime1">
              <a:rPr lang="de-DE" smtClean="0"/>
              <a:t>29.09.26</a:t>
            </a:fld>
            <a:endParaRPr lang="de-DE" dirty="0"/>
          </a:p>
        </p:txBody>
      </p:sp>
      <p:sp>
        <p:nvSpPr>
          <p:cNvPr id="5" name="Fußzeilenplatzhalter 4"/>
          <p:cNvSpPr>
            <a:spLocks noGrp="1"/>
          </p:cNvSpPr>
          <p:nvPr>
            <p:ph type="ftr" sz="quarter" idx="3"/>
          </p:nvPr>
        </p:nvSpPr>
        <p:spPr>
          <a:xfrm>
            <a:off x="1319842" y="6356350"/>
            <a:ext cx="6495690" cy="365125"/>
          </a:xfrm>
          <a:prstGeom prst="rect">
            <a:avLst/>
          </a:prstGeom>
        </p:spPr>
        <p:txBody>
          <a:bodyPr vert="horz" lIns="0" tIns="0" rIns="0" bIns="0" rtlCol="0" anchor="ctr"/>
          <a:lstStyle>
            <a:lvl1pPr algn="l">
              <a:defRPr sz="900" b="1">
                <a:solidFill>
                  <a:srgbClr val="6D7373"/>
                </a:solidFill>
                <a:latin typeface="Arial" pitchFamily="34" charset="0"/>
                <a:ea typeface="Arial" panose="020B0503020204020204" pitchFamily="34" charset="0"/>
                <a:cs typeface="Arial" panose="020B0503020204020204" pitchFamily="34" charset="0"/>
              </a:defRPr>
            </a:lvl1pPr>
          </a:lstStyle>
          <a:p>
            <a:r>
              <a:rPr lang="de-DE" dirty="0"/>
              <a:t>SRH Hochschule Heidelberg – Scientific Research, Writing and </a:t>
            </a:r>
            <a:r>
              <a:rPr lang="de-DE" dirty="0" err="1"/>
              <a:t>Presentation</a:t>
            </a:r>
            <a:endParaRPr lang="de-DE" dirty="0"/>
          </a:p>
        </p:txBody>
      </p:sp>
      <p:sp>
        <p:nvSpPr>
          <p:cNvPr id="3" name="Textplatzhalter 2"/>
          <p:cNvSpPr>
            <a:spLocks noGrp="1"/>
          </p:cNvSpPr>
          <p:nvPr>
            <p:ph type="body" idx="1"/>
          </p:nvPr>
        </p:nvSpPr>
        <p:spPr>
          <a:xfrm>
            <a:off x="359400" y="1728000"/>
            <a:ext cx="9157663" cy="4230000"/>
          </a:xfrm>
          <a:prstGeom prst="rect">
            <a:avLst/>
          </a:prstGeom>
          <a:noFill/>
        </p:spPr>
        <p:txBody>
          <a:bodyPr vert="horz" lIns="0" tIns="0" rIns="0" bIns="0" rtlCol="0">
            <a:noAutofit/>
          </a:bodyPr>
          <a:lstStyle/>
          <a:p>
            <a:pPr lvl="0"/>
            <a:r>
              <a:rPr lang="de-DE" dirty="0" err="1"/>
              <a:t>Copy</a:t>
            </a:r>
            <a:r>
              <a:rPr lang="de-DE" dirty="0"/>
              <a:t> 18 Pt.</a:t>
            </a:r>
          </a:p>
          <a:p>
            <a:pPr lvl="1"/>
            <a:r>
              <a:rPr lang="de-DE" dirty="0" err="1"/>
              <a:t>Copy</a:t>
            </a:r>
            <a:r>
              <a:rPr lang="de-DE" dirty="0"/>
              <a:t> mit </a:t>
            </a:r>
            <a:r>
              <a:rPr lang="de-DE" dirty="0" err="1"/>
              <a:t>Bulletpoint</a:t>
            </a:r>
            <a:r>
              <a:rPr lang="de-DE" dirty="0"/>
              <a:t> 18 Pt.</a:t>
            </a:r>
          </a:p>
          <a:p>
            <a:pPr lvl="2"/>
            <a:r>
              <a:rPr lang="de-DE" dirty="0" err="1"/>
              <a:t>Copy</a:t>
            </a:r>
            <a:r>
              <a:rPr lang="de-DE" dirty="0"/>
              <a:t> mit </a:t>
            </a:r>
            <a:r>
              <a:rPr lang="de-DE" dirty="0" err="1"/>
              <a:t>Bulletpoint</a:t>
            </a:r>
            <a:r>
              <a:rPr lang="de-DE" dirty="0"/>
              <a:t>, eingerückt 16 Pt.</a:t>
            </a:r>
          </a:p>
          <a:p>
            <a:pPr lvl="3"/>
            <a:r>
              <a:rPr lang="de-DE" dirty="0"/>
              <a:t>Zwischenüberschrift 20 Pt. </a:t>
            </a:r>
            <a:r>
              <a:rPr lang="de-DE" dirty="0" err="1"/>
              <a:t>Bold</a:t>
            </a:r>
            <a:endParaRPr lang="de-DE" dirty="0"/>
          </a:p>
          <a:p>
            <a:pPr lvl="4"/>
            <a:r>
              <a:rPr lang="de-DE" dirty="0"/>
              <a:t>Einleitungstext 20 Pt. </a:t>
            </a:r>
            <a:r>
              <a:rPr lang="de-DE" dirty="0" err="1"/>
              <a:t>Bold</a:t>
            </a:r>
            <a:endParaRPr lang="de-DE" dirty="0"/>
          </a:p>
          <a:p>
            <a:pPr lvl="5"/>
            <a:r>
              <a:rPr lang="de-DE" dirty="0" err="1"/>
              <a:t>Subline</a:t>
            </a:r>
            <a:r>
              <a:rPr lang="de-DE" dirty="0"/>
              <a:t> 24 Pt.</a:t>
            </a:r>
          </a:p>
          <a:p>
            <a:pPr lvl="6"/>
            <a:r>
              <a:rPr lang="de-DE" dirty="0"/>
              <a:t>Statements!</a:t>
            </a:r>
          </a:p>
          <a:p>
            <a:pPr lvl="7"/>
            <a:r>
              <a:rPr lang="de-DE" dirty="0"/>
              <a:t>SRH </a:t>
            </a:r>
          </a:p>
          <a:p>
            <a:pPr lvl="8"/>
            <a:r>
              <a:rPr lang="de-DE" dirty="0"/>
              <a:t>Quelle</a:t>
            </a:r>
          </a:p>
        </p:txBody>
      </p:sp>
      <p:sp>
        <p:nvSpPr>
          <p:cNvPr id="2" name="Titelplatzhalter 1"/>
          <p:cNvSpPr>
            <a:spLocks noGrp="1"/>
          </p:cNvSpPr>
          <p:nvPr>
            <p:ph type="title"/>
          </p:nvPr>
        </p:nvSpPr>
        <p:spPr>
          <a:xfrm>
            <a:off x="360000" y="358969"/>
            <a:ext cx="9157663" cy="835093"/>
          </a:xfrm>
          <a:prstGeom prst="rect">
            <a:avLst/>
          </a:prstGeom>
        </p:spPr>
        <p:txBody>
          <a:bodyPr vert="horz" lIns="0" tIns="0" rIns="0" bIns="0" rtlCol="0" anchor="b">
            <a:noAutofit/>
          </a:bodyPr>
          <a:lstStyle/>
          <a:p>
            <a:r>
              <a:rPr lang="de-DE" dirty="0"/>
              <a:t>Mastertitelformat bearbeiten</a:t>
            </a:r>
          </a:p>
        </p:txBody>
      </p:sp>
      <p:sp>
        <p:nvSpPr>
          <p:cNvPr id="12" name="Freihandform: Form 11"/>
          <p:cNvSpPr/>
          <p:nvPr/>
        </p:nvSpPr>
        <p:spPr>
          <a:xfrm>
            <a:off x="10878555" y="361156"/>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Lst>
  <p:hf hdr="0"/>
  <p:txStyles>
    <p:titleStyle>
      <a:lvl1pPr algn="l" defTabSz="914400" rtl="0" eaLnBrk="1" latinLnBrk="0" hangingPunct="1">
        <a:lnSpc>
          <a:spcPct val="100000"/>
        </a:lnSpc>
        <a:spcBef>
          <a:spcPct val="0"/>
        </a:spcBef>
        <a:buNone/>
        <a:defRPr sz="3000" b="1" kern="1200">
          <a:solidFill>
            <a:schemeClr val="tx1"/>
          </a:solidFill>
          <a:latin typeface="Arial" pitchFamily="34" charset="0"/>
          <a:ea typeface="Arial" panose="020B0603020204020204" pitchFamily="34" charset="0"/>
          <a:cs typeface="Arial" panose="020B0603020204020204" pitchFamily="34" charset="0"/>
        </a:defRPr>
      </a:lvl1pPr>
    </p:titleStyle>
    <p:bodyStyle>
      <a:lvl1pPr marL="0" indent="0" algn="l" defTabSz="914400" rtl="0" eaLnBrk="1" latinLnBrk="0" hangingPunct="1">
        <a:lnSpc>
          <a:spcPct val="110000"/>
        </a:lnSpc>
        <a:spcBef>
          <a:spcPts val="1200"/>
        </a:spcBef>
        <a:buFont typeface="Arial" panose="020B0604020202020204" pitchFamily="34" charset="0"/>
        <a:buNone/>
        <a:defRPr sz="1800" b="0" kern="1200">
          <a:solidFill>
            <a:schemeClr val="tx1"/>
          </a:solidFill>
          <a:latin typeface="Arial" pitchFamily="34" charset="0"/>
          <a:ea typeface="Arial" panose="020B0503020204020204" pitchFamily="34" charset="0"/>
          <a:cs typeface="Arial" panose="020B0503020204020204" pitchFamily="34" charset="0"/>
        </a:defRPr>
      </a:lvl1pPr>
      <a:lvl2pPr marL="360045" indent="-360045" algn="l" defTabSz="914400" rtl="0" eaLnBrk="1" latinLnBrk="0" hangingPunct="1">
        <a:lnSpc>
          <a:spcPct val="110000"/>
        </a:lnSpc>
        <a:spcBef>
          <a:spcPts val="1200"/>
        </a:spcBef>
        <a:spcAft>
          <a:spcPts val="0"/>
        </a:spcAft>
        <a:buClr>
          <a:schemeClr val="accent1"/>
        </a:buClr>
        <a:buFont typeface="Arial" panose="020B0503020204020204" pitchFamily="34" charset="0"/>
        <a:buChar char="—"/>
        <a:defRPr sz="1800" b="0" kern="1200">
          <a:solidFill>
            <a:schemeClr val="tx1"/>
          </a:solidFill>
          <a:latin typeface="Arial" pitchFamily="34" charset="0"/>
          <a:ea typeface="Arial" panose="020B0503020204020204" pitchFamily="34" charset="0"/>
          <a:cs typeface="Arial" panose="020B0503020204020204" pitchFamily="34" charset="0"/>
        </a:defRPr>
      </a:lvl2pPr>
      <a:lvl3pPr marL="720090" indent="-360045" algn="l" defTabSz="914400" rtl="0" eaLnBrk="1" latinLnBrk="0" hangingPunct="1">
        <a:lnSpc>
          <a:spcPct val="110000"/>
        </a:lnSpc>
        <a:spcBef>
          <a:spcPts val="0"/>
        </a:spcBef>
        <a:buClr>
          <a:schemeClr val="accent1"/>
        </a:buClr>
        <a:buFont typeface="Arial" panose="020B0503020204020204" pitchFamily="34" charset="0"/>
        <a:buChar char="—"/>
        <a:defRPr sz="1600" b="0" kern="1200">
          <a:solidFill>
            <a:schemeClr val="tx1"/>
          </a:solidFill>
          <a:latin typeface="Arial" pitchFamily="34" charset="0"/>
          <a:ea typeface="Arial" panose="020B0503020204020204" pitchFamily="34" charset="0"/>
          <a:cs typeface="Arial" panose="020B0503020204020204" pitchFamily="34" charset="0"/>
        </a:defRPr>
      </a:lvl3pPr>
      <a:lvl4pPr marL="0" indent="0" algn="l" defTabSz="914400" rtl="0" eaLnBrk="1" latinLnBrk="0" hangingPunct="1">
        <a:lnSpc>
          <a:spcPct val="110000"/>
        </a:lnSpc>
        <a:spcBef>
          <a:spcPts val="2400"/>
        </a:spcBef>
        <a:buFont typeface="Arial" panose="020B0503020204020204" pitchFamily="34" charset="0"/>
        <a:buNone/>
        <a:defRPr sz="2000" b="1" kern="1200">
          <a:solidFill>
            <a:schemeClr val="accent1"/>
          </a:solidFill>
          <a:latin typeface="Arial" pitchFamily="34" charset="0"/>
          <a:ea typeface="Arial" panose="020B0503020204020204" pitchFamily="34" charset="0"/>
          <a:cs typeface="Arial" panose="020B0503020204020204" pitchFamily="34" charset="0"/>
        </a:defRPr>
      </a:lvl4pPr>
      <a:lvl5pPr marL="0" indent="0" algn="l" defTabSz="914400" rtl="0" eaLnBrk="1" latinLnBrk="0" hangingPunct="1">
        <a:lnSpc>
          <a:spcPct val="110000"/>
        </a:lnSpc>
        <a:spcBef>
          <a:spcPts val="1200"/>
        </a:spcBef>
        <a:buFont typeface="Arial" panose="020B0503020204020204" pitchFamily="34" charset="0"/>
        <a:buNone/>
        <a:defRPr sz="2000" b="1" kern="1200">
          <a:solidFill>
            <a:schemeClr val="tx1"/>
          </a:solidFill>
          <a:latin typeface="Arial" pitchFamily="34" charset="0"/>
          <a:ea typeface="Arial" panose="020B0603020204020204" pitchFamily="34" charset="0"/>
          <a:cs typeface="Arial" panose="020B0603020204020204" pitchFamily="34" charset="0"/>
        </a:defRPr>
      </a:lvl5pPr>
      <a:lvl6pPr marL="0" indent="0" algn="l" defTabSz="914400" rtl="0" eaLnBrk="1" latinLnBrk="0" hangingPunct="1">
        <a:lnSpc>
          <a:spcPct val="110000"/>
        </a:lnSpc>
        <a:spcBef>
          <a:spcPts val="1200"/>
        </a:spcBef>
        <a:buFont typeface="Arial" panose="020B0604020202020204" pitchFamily="34" charset="0"/>
        <a:buNone/>
        <a:defRPr sz="2400" b="0" kern="1200">
          <a:solidFill>
            <a:schemeClr val="tx1"/>
          </a:solidFill>
          <a:latin typeface="Arial" pitchFamily="34" charset="0"/>
          <a:ea typeface="Arial" panose="020B0603020204020204" pitchFamily="34" charset="0"/>
          <a:cs typeface="Arial" panose="020B0603020204020204" pitchFamily="34" charset="0"/>
        </a:defRPr>
      </a:lvl6pPr>
      <a:lvl7pPr marL="0" indent="0" algn="l" defTabSz="914400" rtl="0" eaLnBrk="1" latinLnBrk="0" hangingPunct="1">
        <a:lnSpc>
          <a:spcPct val="98000"/>
        </a:lnSpc>
        <a:spcBef>
          <a:spcPts val="1200"/>
        </a:spcBef>
        <a:buFont typeface="Arial" panose="020B0604020202020204" pitchFamily="34" charset="0"/>
        <a:buNone/>
        <a:defRPr sz="4800" b="1" kern="1200">
          <a:solidFill>
            <a:schemeClr val="accent1"/>
          </a:solidFill>
          <a:latin typeface="Arial" pitchFamily="34" charset="0"/>
          <a:ea typeface="Arial" panose="020B0603020204020204" pitchFamily="34" charset="0"/>
          <a:cs typeface="Arial" panose="020B0603020204020204" pitchFamily="34" charset="0"/>
        </a:defRPr>
      </a:lvl7pPr>
      <a:lvl8pPr marL="0" indent="0" algn="l" defTabSz="914400" rtl="0" eaLnBrk="1" latinLnBrk="0" hangingPunct="1">
        <a:lnSpc>
          <a:spcPct val="98000"/>
        </a:lnSpc>
        <a:spcBef>
          <a:spcPts val="1200"/>
        </a:spcBef>
        <a:buFont typeface="Arial" panose="020B0604020202020204" pitchFamily="34" charset="0"/>
        <a:buNone/>
        <a:defRPr sz="2000" b="1" kern="1200">
          <a:solidFill>
            <a:schemeClr val="tx1"/>
          </a:solidFill>
          <a:latin typeface="Arial" pitchFamily="34" charset="0"/>
          <a:ea typeface="Arial" panose="020B0503020204020204" pitchFamily="34" charset="0"/>
          <a:cs typeface="Arial" panose="020B0503020204020204" pitchFamily="34" charset="0"/>
        </a:defRPr>
      </a:lvl8pPr>
      <a:lvl9pPr marL="0" indent="0" algn="l" defTabSz="914400" rtl="0" eaLnBrk="1" latinLnBrk="0" hangingPunct="1">
        <a:lnSpc>
          <a:spcPct val="110000"/>
        </a:lnSpc>
        <a:spcBef>
          <a:spcPts val="600"/>
        </a:spcBef>
        <a:buFont typeface="Arial" panose="020B0604020202020204" pitchFamily="34" charset="0"/>
        <a:buNone/>
        <a:defRPr sz="1200" b="0" kern="1200">
          <a:solidFill>
            <a:schemeClr val="tx1"/>
          </a:solidFill>
          <a:latin typeface="Arial" pitchFamily="34" charset="0"/>
          <a:ea typeface="Arial" panose="020B0503020204020204" pitchFamily="34" charset="0"/>
          <a:cs typeface="Arial" panose="020B0503020204020204" pitchFamily="34"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chart" Target="../charts/char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chart" Target="../charts/char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chart" Target="../charts/char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F4807"/>
        </a:solidFill>
        <a:effectLst/>
      </p:bgPr>
    </p:bg>
    <p:spTree>
      <p:nvGrpSpPr>
        <p:cNvPr id="1" name=""/>
        <p:cNvGrpSpPr/>
        <p:nvPr/>
      </p:nvGrpSpPr>
      <p:grpSpPr>
        <a:xfrm>
          <a:off x="0" y="0"/>
          <a:ext cx="0" cy="0"/>
          <a:chOff x="0" y="0"/>
          <a:chExt cx="0" cy="0"/>
        </a:xfrm>
      </p:grpSpPr>
      <p:sp>
        <p:nvSpPr>
          <p:cNvPr id="15" name="Teil des Logos"/>
          <p:cNvSpPr/>
          <p:nvPr/>
        </p:nvSpPr>
        <p:spPr>
          <a:xfrm>
            <a:off x="0" y="1929487"/>
            <a:ext cx="6239665" cy="4928513"/>
          </a:xfrm>
          <a:custGeom>
            <a:avLst/>
            <a:gdLst>
              <a:gd name="connsiteX0" fmla="*/ 343733 w 6239665"/>
              <a:gd name="connsiteY0" fmla="*/ 1 h 4928513"/>
              <a:gd name="connsiteX1" fmla="*/ 363365 w 6239665"/>
              <a:gd name="connsiteY1" fmla="*/ 454 h 4928513"/>
              <a:gd name="connsiteX2" fmla="*/ 391501 w 6239665"/>
              <a:gd name="connsiteY2" fmla="*/ 1 h 4928513"/>
              <a:gd name="connsiteX3" fmla="*/ 913851 w 6239665"/>
              <a:gd name="connsiteY3" fmla="*/ 12035 h 4928513"/>
              <a:gd name="connsiteX4" fmla="*/ 6190318 w 6239665"/>
              <a:gd name="connsiteY4" fmla="*/ 4641670 h 4928513"/>
              <a:gd name="connsiteX5" fmla="*/ 6239665 w 6239665"/>
              <a:gd name="connsiteY5" fmla="*/ 4928513 h 4928513"/>
              <a:gd name="connsiteX6" fmla="*/ 2549806 w 6239665"/>
              <a:gd name="connsiteY6" fmla="*/ 4928513 h 4928513"/>
              <a:gd name="connsiteX7" fmla="*/ 2495430 w 6239665"/>
              <a:gd name="connsiteY7" fmla="*/ 4786236 h 4928513"/>
              <a:gd name="connsiteX8" fmla="*/ 45385 w 6239665"/>
              <a:gd name="connsiteY8" fmla="*/ 3413227 h 4928513"/>
              <a:gd name="connsiteX9" fmla="*/ 0 w 6239665"/>
              <a:gd name="connsiteY9" fmla="*/ 3409750 h 4928513"/>
              <a:gd name="connsiteX10" fmla="*/ 0 w 6239665"/>
              <a:gd name="connsiteY10" fmla="*/ 5528 h 4928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39665" h="4928513">
                <a:moveTo>
                  <a:pt x="343733" y="1"/>
                </a:moveTo>
                <a:lnTo>
                  <a:pt x="363365" y="454"/>
                </a:lnTo>
                <a:lnTo>
                  <a:pt x="391501" y="1"/>
                </a:lnTo>
                <a:cubicBezTo>
                  <a:pt x="574027" y="-6"/>
                  <a:pt x="748982" y="4008"/>
                  <a:pt x="913851" y="12035"/>
                </a:cubicBezTo>
                <a:cubicBezTo>
                  <a:pt x="3765486" y="120637"/>
                  <a:pt x="5666021" y="1924912"/>
                  <a:pt x="6190318" y="4641670"/>
                </a:cubicBezTo>
                <a:lnTo>
                  <a:pt x="6239665" y="4928513"/>
                </a:lnTo>
                <a:lnTo>
                  <a:pt x="2549806" y="4928513"/>
                </a:lnTo>
                <a:lnTo>
                  <a:pt x="2495430" y="4786236"/>
                </a:lnTo>
                <a:cubicBezTo>
                  <a:pt x="2118161" y="3890405"/>
                  <a:pt x="1345158" y="3534960"/>
                  <a:pt x="45385" y="3413227"/>
                </a:cubicBezTo>
                <a:lnTo>
                  <a:pt x="0" y="3409750"/>
                </a:lnTo>
                <a:lnTo>
                  <a:pt x="0" y="5528"/>
                </a:lnTo>
                <a:close/>
              </a:path>
            </a:pathLst>
          </a:custGeom>
          <a:solidFill>
            <a:srgbClr val="FFFFFF">
              <a:alpha val="18000"/>
            </a:srgbClr>
          </a:solidFill>
          <a:ln w="80179" cap="flat">
            <a:noFill/>
            <a:prstDash val="solid"/>
            <a:round/>
          </a:ln>
        </p:spPr>
        <p:txBody>
          <a:bodyPr lIns="90979" tIns="45489" rIns="90979" bIns="45489" rtlCol="0" anchor="ctr"/>
          <a:lstStyle/>
          <a:p>
            <a:endParaRPr lang="de-DE"/>
          </a:p>
        </p:txBody>
      </p:sp>
      <p:sp>
        <p:nvSpPr>
          <p:cNvPr id="6" name="Untertitel 5"/>
          <p:cNvSpPr>
            <a:spLocks noGrp="1"/>
          </p:cNvSpPr>
          <p:nvPr>
            <p:ph type="subTitle" idx="1"/>
          </p:nvPr>
        </p:nvSpPr>
        <p:spPr>
          <a:xfrm>
            <a:off x="630168" y="3513332"/>
            <a:ext cx="10058400" cy="1048109"/>
          </a:xfrm>
        </p:spPr>
        <p:txBody>
          <a:bodyPr/>
          <a:lstStyle/>
          <a:p>
            <a:r>
              <a:rPr b="1"/>
              <a:t>Evaluating RAG-based high-risk classification under the EU AI Act against an authoritative answer key</a:t>
            </a:r>
            <a:endParaRPr lang="en-US" altLang="en-GB" b="0" dirty="0"/>
          </a:p>
          <a:p>
            <a:r>
              <a:rPr b="0"/>
              <a:t>Master of Science Data Science and Analytics – Case Study 2 – September 2026</a:t>
            </a:r>
          </a:p>
          <a:p>
            <a:r>
              <a:rPr b="0"/>
              <a:t>Rahul Rawat  |  Supervisor: Prof. Dr. Swati Chandna</a:t>
            </a:r>
          </a:p>
        </p:txBody>
      </p:sp>
      <p:sp>
        <p:nvSpPr>
          <p:cNvPr id="5" name="Titel 4"/>
          <p:cNvSpPr>
            <a:spLocks noGrp="1"/>
          </p:cNvSpPr>
          <p:nvPr>
            <p:ph type="ctrTitle"/>
          </p:nvPr>
        </p:nvSpPr>
        <p:spPr>
          <a:xfrm>
            <a:off x="630168" y="536308"/>
            <a:ext cx="9071274" cy="3018316"/>
          </a:xfrm>
        </p:spPr>
        <p:txBody>
          <a:bodyPr/>
          <a:lstStyle/>
          <a:p>
            <a:r>
              <a:t>Faithful but wrong?</a:t>
            </a:r>
          </a:p>
        </p:txBody>
      </p:sp>
      <p:sp>
        <p:nvSpPr>
          <p:cNvPr id="7" name="Textplatzhalter 6"/>
          <p:cNvSpPr>
            <a:spLocks noGrp="1"/>
          </p:cNvSpPr>
          <p:nvPr>
            <p:ph type="body" sz="quarter" idx="10"/>
          </p:nvPr>
        </p:nvSpPr>
        <p:spPr/>
        <p:txBody>
          <a:bodyPr/>
          <a:lstStyle/>
          <a:p>
            <a:r>
              <a:rPr lang="de-DE" dirty="0" err="1"/>
              <a:t>Passionate</a:t>
            </a:r>
            <a:r>
              <a:rPr lang="de-DE" dirty="0"/>
              <a:t> </a:t>
            </a:r>
            <a:r>
              <a:rPr lang="de-DE" dirty="0" err="1"/>
              <a:t>about</a:t>
            </a:r>
            <a:r>
              <a:rPr lang="de-DE" dirty="0"/>
              <a:t> </a:t>
            </a:r>
            <a:br>
              <a:rPr lang="de-DE" dirty="0"/>
            </a:br>
            <a:r>
              <a:rPr lang="de-DE" dirty="0" err="1"/>
              <a:t>life</a:t>
            </a:r>
            <a:r>
              <a:rPr lang="de-DE" dirty="0"/>
              <a:t>.</a:t>
            </a:r>
          </a:p>
        </p:txBody>
      </p:sp>
      <p:sp>
        <p:nvSpPr>
          <p:cNvPr id="2" name="Holding/Dienstleistung"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AAA39D"/>
          </a:solidFill>
          <a:ln w="6638" cap="flat">
            <a:noFill/>
            <a:prstDash val="solid"/>
            <a:round/>
          </a:ln>
        </p:spPr>
        <p:txBody>
          <a:bodyPr rtlCol="0" anchor="ctr"/>
          <a:lstStyle/>
          <a:p>
            <a:endParaRPr lang="de-DE"/>
          </a:p>
        </p:txBody>
      </p:sp>
      <p:sp>
        <p:nvSpPr>
          <p:cNvPr id="3" name="Gesundheit"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0067A0"/>
          </a:solidFill>
          <a:ln w="6638" cap="flat">
            <a:noFill/>
            <a:prstDash val="solid"/>
            <a:round/>
          </a:ln>
        </p:spPr>
        <p:txBody>
          <a:bodyPr rtlCol="0" anchor="ctr"/>
          <a:lstStyle/>
          <a:p>
            <a:endParaRPr lang="de-DE"/>
          </a:p>
        </p:txBody>
      </p:sp>
      <p:sp>
        <p:nvSpPr>
          <p:cNvPr id="9" name="Bildung" hidden="1"/>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chemeClr val="accent1"/>
          </a:solidFill>
          <a:ln w="6638" cap="flat">
            <a:noFill/>
            <a:prstDash val="solid"/>
            <a:round/>
          </a:ln>
        </p:spPr>
        <p:txBody>
          <a:bodyPr rtlCol="0" anchor="ctr"/>
          <a:lstStyle/>
          <a:p>
            <a:endParaRPr lang="de-DE"/>
          </a:p>
        </p:txBody>
      </p:sp>
      <p:sp>
        <p:nvSpPr>
          <p:cNvPr id="4" name="Logo flex."/>
          <p:cNvSpPr/>
          <p:nvPr/>
        </p:nvSpPr>
        <p:spPr>
          <a:xfrm>
            <a:off x="628506" y="457200"/>
            <a:ext cx="948335" cy="733815"/>
          </a:xfrm>
          <a:custGeom>
            <a:avLst/>
            <a:gdLst>
              <a:gd name="connsiteX0" fmla="*/ 619905 w 948335"/>
              <a:gd name="connsiteY0" fmla="*/ 599045 h 733815"/>
              <a:gd name="connsiteX1" fmla="*/ 708360 w 948335"/>
              <a:gd name="connsiteY1" fmla="*/ 599045 h 733815"/>
              <a:gd name="connsiteX2" fmla="*/ 708360 w 948335"/>
              <a:gd name="connsiteY2" fmla="*/ 175 h 733815"/>
              <a:gd name="connsiteX3" fmla="*/ 619905 w 948335"/>
              <a:gd name="connsiteY3" fmla="*/ 175 h 733815"/>
              <a:gd name="connsiteX4" fmla="*/ 619905 w 948335"/>
              <a:gd name="connsiteY4" fmla="*/ 599045 h 733815"/>
              <a:gd name="connsiteX5" fmla="*/ 811823 w 948335"/>
              <a:gd name="connsiteY5" fmla="*/ 196963 h 733815"/>
              <a:gd name="connsiteX6" fmla="*/ 753805 w 948335"/>
              <a:gd name="connsiteY6" fmla="*/ 199399 h 733815"/>
              <a:gd name="connsiteX7" fmla="*/ 753805 w 948335"/>
              <a:gd name="connsiteY7" fmla="*/ 281323 h 733815"/>
              <a:gd name="connsiteX8" fmla="*/ 860105 w 948335"/>
              <a:gd name="connsiteY8" fmla="*/ 364907 h 733815"/>
              <a:gd name="connsiteX9" fmla="*/ 860105 w 948335"/>
              <a:gd name="connsiteY9" fmla="*/ 599045 h 733815"/>
              <a:gd name="connsiteX10" fmla="*/ 948560 w 948335"/>
              <a:gd name="connsiteY10" fmla="*/ 599045 h 733815"/>
              <a:gd name="connsiteX11" fmla="*/ 948560 w 948335"/>
              <a:gd name="connsiteY11" fmla="*/ 353981 h 733815"/>
              <a:gd name="connsiteX12" fmla="*/ 811823 w 948335"/>
              <a:gd name="connsiteY12" fmla="*/ 196963 h 733815"/>
              <a:gd name="connsiteX13" fmla="*/ 208777 w 948335"/>
              <a:gd name="connsiteY13" fmla="*/ 199800 h 733815"/>
              <a:gd name="connsiteX14" fmla="*/ 72849 w 948335"/>
              <a:gd name="connsiteY14" fmla="*/ 366560 h 733815"/>
              <a:gd name="connsiteX15" fmla="*/ 72849 w 948335"/>
              <a:gd name="connsiteY15" fmla="*/ 567022 h 733815"/>
              <a:gd name="connsiteX16" fmla="*/ 225 w 948335"/>
              <a:gd name="connsiteY16" fmla="*/ 651830 h 733815"/>
              <a:gd name="connsiteX17" fmla="*/ 225 w 948335"/>
              <a:gd name="connsiteY17" fmla="*/ 732932 h 733815"/>
              <a:gd name="connsiteX18" fmla="*/ 25376 w 948335"/>
              <a:gd name="connsiteY18" fmla="*/ 733742 h 733815"/>
              <a:gd name="connsiteX19" fmla="*/ 161297 w 948335"/>
              <a:gd name="connsiteY19" fmla="*/ 566989 h 733815"/>
              <a:gd name="connsiteX20" fmla="*/ 161297 w 948335"/>
              <a:gd name="connsiteY20" fmla="*/ 366527 h 733815"/>
              <a:gd name="connsiteX21" fmla="*/ 233520 w 948335"/>
              <a:gd name="connsiteY21" fmla="*/ 281732 h 733815"/>
              <a:gd name="connsiteX22" fmla="*/ 233520 w 948335"/>
              <a:gd name="connsiteY22" fmla="*/ 200209 h 733815"/>
              <a:gd name="connsiteX23" fmla="*/ 208777 w 948335"/>
              <a:gd name="connsiteY23" fmla="*/ 199800 h 733815"/>
              <a:gd name="connsiteX24" fmla="*/ 480210 w 948335"/>
              <a:gd name="connsiteY24" fmla="*/ 199800 h 733815"/>
              <a:gd name="connsiteX25" fmla="*/ 344283 w 948335"/>
              <a:gd name="connsiteY25" fmla="*/ 366560 h 733815"/>
              <a:gd name="connsiteX26" fmla="*/ 344283 w 948335"/>
              <a:gd name="connsiteY26" fmla="*/ 599045 h 733815"/>
              <a:gd name="connsiteX27" fmla="*/ 432731 w 948335"/>
              <a:gd name="connsiteY27" fmla="*/ 599045 h 733815"/>
              <a:gd name="connsiteX28" fmla="*/ 432731 w 948335"/>
              <a:gd name="connsiteY28" fmla="*/ 366527 h 733815"/>
              <a:gd name="connsiteX29" fmla="*/ 505362 w 948335"/>
              <a:gd name="connsiteY29" fmla="*/ 281732 h 733815"/>
              <a:gd name="connsiteX30" fmla="*/ 505362 w 948335"/>
              <a:gd name="connsiteY30" fmla="*/ 200209 h 733815"/>
              <a:gd name="connsiteX31" fmla="*/ 480210 w 948335"/>
              <a:gd name="connsiteY31" fmla="*/ 199800 h 73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48335" h="733815">
                <a:moveTo>
                  <a:pt x="619905" y="599045"/>
                </a:moveTo>
                <a:lnTo>
                  <a:pt x="708360" y="599045"/>
                </a:lnTo>
                <a:lnTo>
                  <a:pt x="708360" y="175"/>
                </a:lnTo>
                <a:lnTo>
                  <a:pt x="619905" y="175"/>
                </a:lnTo>
                <a:lnTo>
                  <a:pt x="619905" y="599045"/>
                </a:lnTo>
                <a:close/>
                <a:moveTo>
                  <a:pt x="811823" y="196963"/>
                </a:moveTo>
                <a:cubicBezTo>
                  <a:pt x="795196" y="196154"/>
                  <a:pt x="774500" y="196963"/>
                  <a:pt x="753805" y="199399"/>
                </a:cubicBezTo>
                <a:lnTo>
                  <a:pt x="753805" y="281323"/>
                </a:lnTo>
                <a:cubicBezTo>
                  <a:pt x="831702" y="281323"/>
                  <a:pt x="860105" y="292732"/>
                  <a:pt x="860105" y="364907"/>
                </a:cubicBezTo>
                <a:lnTo>
                  <a:pt x="860105" y="599045"/>
                </a:lnTo>
                <a:lnTo>
                  <a:pt x="948560" y="599045"/>
                </a:lnTo>
                <a:lnTo>
                  <a:pt x="948560" y="353981"/>
                </a:lnTo>
                <a:cubicBezTo>
                  <a:pt x="948560" y="263505"/>
                  <a:pt x="897033" y="200209"/>
                  <a:pt x="811823" y="196963"/>
                </a:cubicBezTo>
                <a:close/>
                <a:moveTo>
                  <a:pt x="208777" y="199800"/>
                </a:moveTo>
                <a:cubicBezTo>
                  <a:pt x="114634" y="204671"/>
                  <a:pt x="72849" y="267152"/>
                  <a:pt x="72849" y="366560"/>
                </a:cubicBezTo>
                <a:lnTo>
                  <a:pt x="72849" y="567022"/>
                </a:lnTo>
                <a:cubicBezTo>
                  <a:pt x="72849" y="625455"/>
                  <a:pt x="61073" y="650613"/>
                  <a:pt x="225" y="651830"/>
                </a:cubicBezTo>
                <a:lnTo>
                  <a:pt x="225" y="732932"/>
                </a:lnTo>
                <a:cubicBezTo>
                  <a:pt x="7525" y="734156"/>
                  <a:pt x="19288" y="734156"/>
                  <a:pt x="25376" y="733742"/>
                </a:cubicBezTo>
                <a:cubicBezTo>
                  <a:pt x="119907" y="728068"/>
                  <a:pt x="161297" y="665179"/>
                  <a:pt x="161297" y="566989"/>
                </a:cubicBezTo>
                <a:lnTo>
                  <a:pt x="161297" y="366527"/>
                </a:lnTo>
                <a:cubicBezTo>
                  <a:pt x="161297" y="307693"/>
                  <a:pt x="172257" y="282943"/>
                  <a:pt x="233520" y="281732"/>
                </a:cubicBezTo>
                <a:lnTo>
                  <a:pt x="233520" y="200209"/>
                </a:lnTo>
                <a:cubicBezTo>
                  <a:pt x="226622" y="199399"/>
                  <a:pt x="214859" y="199399"/>
                  <a:pt x="208777" y="199800"/>
                </a:cubicBezTo>
                <a:close/>
                <a:moveTo>
                  <a:pt x="480210" y="199800"/>
                </a:moveTo>
                <a:cubicBezTo>
                  <a:pt x="386483" y="204671"/>
                  <a:pt x="344283" y="267560"/>
                  <a:pt x="344283" y="366560"/>
                </a:cubicBezTo>
                <a:lnTo>
                  <a:pt x="344283" y="599045"/>
                </a:lnTo>
                <a:lnTo>
                  <a:pt x="432731" y="599045"/>
                </a:lnTo>
                <a:lnTo>
                  <a:pt x="432731" y="366527"/>
                </a:lnTo>
                <a:cubicBezTo>
                  <a:pt x="432731" y="308094"/>
                  <a:pt x="444507" y="282943"/>
                  <a:pt x="505362" y="281732"/>
                </a:cubicBezTo>
                <a:lnTo>
                  <a:pt x="505362" y="200209"/>
                </a:lnTo>
                <a:cubicBezTo>
                  <a:pt x="498055" y="199399"/>
                  <a:pt x="486292" y="199399"/>
                  <a:pt x="480210" y="199800"/>
                </a:cubicBezTo>
                <a:close/>
              </a:path>
            </a:pathLst>
          </a:custGeom>
          <a:solidFill>
            <a:srgbClr val="FFFFFF"/>
          </a:solidFill>
          <a:ln w="6638" cap="flat">
            <a:noFill/>
            <a:prstDash val="solid"/>
            <a:round/>
          </a:ln>
        </p:spPr>
        <p:txBody>
          <a:bodyPr rtlCol="0" anchor="ctr"/>
          <a:lstStyle/>
          <a:p>
            <a:endParaRPr lang="de-D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 and task</a:t>
            </a:r>
          </a:p>
        </p:txBody>
      </p:sp>
      <p:sp>
        <p:nvSpPr>
          <p:cNvPr id="3" name="Text Placeholder 2"/>
          <p:cNvSpPr>
            <a:spLocks noGrp="1"/>
          </p:cNvSpPr>
          <p:nvPr>
            <p:ph type="body" idx="1"/>
          </p:nvPr>
        </p:nvSpPr>
        <p:spPr/>
        <p:txBody>
          <a:bodyPr/>
          <a:lstStyle/>
          <a:p>
            <a:r>
              <a:t>01</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 grounded the same as right?</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1155680" cy="457200"/>
          </a:xfrm>
          <a:prstGeom prst="rect">
            <a:avLst/>
          </a:prstGeom>
          <a:noFill/>
        </p:spPr>
        <p:txBody>
          <a:bodyPr wrap="square" anchor="t" lIns="0" rIns="0" tIns="0" bIns="0">
            <a:spAutoFit/>
          </a:bodyPr>
          <a:lstStyle/>
          <a:p>
            <a:pPr algn="l">
              <a:spcAft>
                <a:spcPts val="400"/>
              </a:spcAft>
            </a:pPr>
            <a:r>
              <a:rPr sz="1600" b="0" i="0">
                <a:solidFill>
                  <a:srgbClr val="575756"/>
                </a:solidFill>
              </a:rPr>
              <a:t>RAG compliance tools are usually judged by how grounded their answers are.</a:t>
            </a:r>
          </a:p>
        </p:txBody>
      </p:sp>
      <p:sp>
        <p:nvSpPr>
          <p:cNvPr id="8" name="Rectangle 7"/>
          <p:cNvSpPr/>
          <p:nvPr/>
        </p:nvSpPr>
        <p:spPr>
          <a:xfrm>
            <a:off x="356616" y="1965960"/>
            <a:ext cx="5120640" cy="16459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148840"/>
            <a:ext cx="4754880" cy="365760"/>
          </a:xfrm>
          <a:prstGeom prst="rect">
            <a:avLst/>
          </a:prstGeom>
          <a:noFill/>
        </p:spPr>
        <p:txBody>
          <a:bodyPr wrap="square" anchor="t" lIns="0" rIns="0" tIns="0" bIns="0">
            <a:spAutoFit/>
          </a:bodyPr>
          <a:lstStyle/>
          <a:p>
            <a:pPr algn="l">
              <a:spcAft>
                <a:spcPts val="400"/>
              </a:spcAft>
            </a:pPr>
            <a:r>
              <a:rPr sz="1800" b="1" i="0">
                <a:solidFill>
                  <a:srgbClr val="DF4807"/>
                </a:solidFill>
              </a:rPr>
              <a:t>Faithfulness (RAGAS)</a:t>
            </a:r>
          </a:p>
        </p:txBody>
      </p:sp>
      <p:sp>
        <p:nvSpPr>
          <p:cNvPr id="10" name="TextBox 9"/>
          <p:cNvSpPr txBox="1"/>
          <p:nvPr/>
        </p:nvSpPr>
        <p:spPr>
          <a:xfrm>
            <a:off x="548640" y="2606039"/>
            <a:ext cx="4754880" cy="914400"/>
          </a:xfrm>
          <a:prstGeom prst="rect">
            <a:avLst/>
          </a:prstGeom>
          <a:noFill/>
        </p:spPr>
        <p:txBody>
          <a:bodyPr wrap="square" anchor="t" lIns="0" rIns="0" tIns="0" bIns="0">
            <a:spAutoFit/>
          </a:bodyPr>
          <a:lstStyle/>
          <a:p>
            <a:pPr algn="l">
              <a:spcAft>
                <a:spcPts val="400"/>
              </a:spcAft>
            </a:pPr>
            <a:r>
              <a:rPr sz="1400" b="0" i="0">
                <a:solidFill>
                  <a:srgbClr val="575756"/>
                </a:solidFill>
              </a:rPr>
              <a:t>Share of the answer's claims that can be traced to the retrieved passages. Needs no answer key, which is why it is so widely used.</a:t>
            </a:r>
          </a:p>
        </p:txBody>
      </p:sp>
      <p:sp>
        <p:nvSpPr>
          <p:cNvPr id="11" name="Rectangle 10"/>
          <p:cNvSpPr/>
          <p:nvPr/>
        </p:nvSpPr>
        <p:spPr>
          <a:xfrm>
            <a:off x="356616" y="3840479"/>
            <a:ext cx="5120640" cy="16459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4023359"/>
            <a:ext cx="4754880" cy="365760"/>
          </a:xfrm>
          <a:prstGeom prst="rect">
            <a:avLst/>
          </a:prstGeom>
          <a:noFill/>
        </p:spPr>
        <p:txBody>
          <a:bodyPr wrap="square" anchor="t" lIns="0" rIns="0" tIns="0" bIns="0">
            <a:spAutoFit/>
          </a:bodyPr>
          <a:lstStyle/>
          <a:p>
            <a:pPr algn="l">
              <a:spcAft>
                <a:spcPts val="400"/>
              </a:spcAft>
            </a:pPr>
            <a:r>
              <a:rPr sz="1800" b="1" i="0">
                <a:solidFill>
                  <a:srgbClr val="DF4807"/>
                </a:solidFill>
              </a:rPr>
              <a:t>Correctness</a:t>
            </a:r>
          </a:p>
        </p:txBody>
      </p:sp>
      <p:sp>
        <p:nvSpPr>
          <p:cNvPr id="13" name="TextBox 12"/>
          <p:cNvSpPr txBox="1"/>
          <p:nvPr/>
        </p:nvSpPr>
        <p:spPr>
          <a:xfrm>
            <a:off x="548640" y="4480559"/>
            <a:ext cx="4754880" cy="914400"/>
          </a:xfrm>
          <a:prstGeom prst="rect">
            <a:avLst/>
          </a:prstGeom>
          <a:noFill/>
        </p:spPr>
        <p:txBody>
          <a:bodyPr wrap="square" anchor="t" lIns="0" rIns="0" tIns="0" bIns="0">
            <a:spAutoFit/>
          </a:bodyPr>
          <a:lstStyle/>
          <a:p>
            <a:pPr algn="l">
              <a:spcAft>
                <a:spcPts val="400"/>
              </a:spcAft>
            </a:pPr>
            <a:r>
              <a:rPr sz="1400" b="0" i="0">
                <a:solidFill>
                  <a:srgbClr val="575756"/>
                </a:solidFill>
              </a:rPr>
              <a:t>Does the predicted label match the official answer? Needs a ground truth, which legal tasks rarely have.</a:t>
            </a:r>
          </a:p>
        </p:txBody>
      </p:sp>
      <p:sp>
        <p:nvSpPr>
          <p:cNvPr id="14" name="TextBox 13"/>
          <p:cNvSpPr txBox="1"/>
          <p:nvPr/>
        </p:nvSpPr>
        <p:spPr>
          <a:xfrm>
            <a:off x="6035040" y="1965960"/>
            <a:ext cx="5486400" cy="365760"/>
          </a:xfrm>
          <a:prstGeom prst="rect">
            <a:avLst/>
          </a:prstGeom>
          <a:noFill/>
        </p:spPr>
        <p:txBody>
          <a:bodyPr wrap="square" anchor="t" lIns="0" rIns="0" tIns="0" bIns="0">
            <a:spAutoFit/>
          </a:bodyPr>
          <a:lstStyle/>
          <a:p>
            <a:pPr algn="l">
              <a:spcAft>
                <a:spcPts val="400"/>
              </a:spcAft>
            </a:pPr>
            <a:r>
              <a:rPr sz="1600" b="1" i="0">
                <a:solidFill>
                  <a:srgbClr val="575756"/>
                </a:solidFill>
              </a:rPr>
              <a:t>Two independent axes, four buckets</a:t>
            </a:r>
          </a:p>
        </p:txBody>
      </p:sp>
      <p:sp>
        <p:nvSpPr>
          <p:cNvPr id="15" name="Rectangle 14"/>
          <p:cNvSpPr/>
          <p:nvPr/>
        </p:nvSpPr>
        <p:spPr>
          <a:xfrm>
            <a:off x="6035040" y="2468880"/>
            <a:ext cx="2651760" cy="1344168"/>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72200" y="2743200"/>
            <a:ext cx="2377440" cy="822960"/>
          </a:xfrm>
          <a:prstGeom prst="rect">
            <a:avLst/>
          </a:prstGeom>
          <a:noFill/>
        </p:spPr>
        <p:txBody>
          <a:bodyPr wrap="square" anchor="t" lIns="0" rIns="0" tIns="0" bIns="0">
            <a:spAutoFit/>
          </a:bodyPr>
          <a:lstStyle/>
          <a:p>
            <a:pPr algn="ctr">
              <a:spcAft>
                <a:spcPts val="400"/>
              </a:spcAft>
            </a:pPr>
            <a:r>
              <a:rPr sz="1500" b="1" i="0">
                <a:solidFill>
                  <a:srgbClr val="575756"/>
                </a:solidFill>
              </a:rPr>
              <a:t>Right and faithful</a:t>
            </a:r>
          </a:p>
          <a:p>
            <a:pPr algn="ctr">
              <a:spcAft>
                <a:spcPts val="400"/>
              </a:spcAft>
            </a:pPr>
            <a:r>
              <a:rPr sz="1200" b="0" i="1">
                <a:solidFill>
                  <a:srgbClr val="575756"/>
                </a:solidFill>
              </a:rPr>
              <a:t>expected</a:t>
            </a:r>
          </a:p>
        </p:txBody>
      </p:sp>
      <p:sp>
        <p:nvSpPr>
          <p:cNvPr id="17" name="Rectangle 16"/>
          <p:cNvSpPr/>
          <p:nvPr/>
        </p:nvSpPr>
        <p:spPr>
          <a:xfrm>
            <a:off x="8823959" y="2468880"/>
            <a:ext cx="2651760" cy="1344168"/>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61119" y="2743200"/>
            <a:ext cx="2377440" cy="822960"/>
          </a:xfrm>
          <a:prstGeom prst="rect">
            <a:avLst/>
          </a:prstGeom>
          <a:noFill/>
        </p:spPr>
        <p:txBody>
          <a:bodyPr wrap="square" anchor="t" lIns="0" rIns="0" tIns="0" bIns="0">
            <a:spAutoFit/>
          </a:bodyPr>
          <a:lstStyle/>
          <a:p>
            <a:pPr algn="ctr">
              <a:spcAft>
                <a:spcPts val="400"/>
              </a:spcAft>
            </a:pPr>
            <a:r>
              <a:rPr sz="1500" b="1" i="0">
                <a:solidFill>
                  <a:srgbClr val="DF4807"/>
                </a:solidFill>
              </a:rPr>
              <a:t>Right but unfaithful</a:t>
            </a:r>
          </a:p>
          <a:p>
            <a:pPr algn="ctr">
              <a:spcAft>
                <a:spcPts val="400"/>
              </a:spcAft>
            </a:pPr>
            <a:r>
              <a:rPr sz="1200" b="0" i="1">
                <a:solidFill>
                  <a:srgbClr val="DF4807"/>
                </a:solidFill>
              </a:rPr>
              <a:t>finding</a:t>
            </a:r>
          </a:p>
        </p:txBody>
      </p:sp>
      <p:sp>
        <p:nvSpPr>
          <p:cNvPr id="19" name="Rectangle 18"/>
          <p:cNvSpPr/>
          <p:nvPr/>
        </p:nvSpPr>
        <p:spPr>
          <a:xfrm>
            <a:off x="6035040" y="3950208"/>
            <a:ext cx="2651760" cy="1344168"/>
          </a:xfrm>
          <a:prstGeom prst="rect">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72200" y="4224528"/>
            <a:ext cx="2377440" cy="822960"/>
          </a:xfrm>
          <a:prstGeom prst="rect">
            <a:avLst/>
          </a:prstGeom>
          <a:noFill/>
        </p:spPr>
        <p:txBody>
          <a:bodyPr wrap="square" anchor="t" lIns="0" rIns="0" tIns="0" bIns="0">
            <a:spAutoFit/>
          </a:bodyPr>
          <a:lstStyle/>
          <a:p>
            <a:pPr algn="ctr">
              <a:spcAft>
                <a:spcPts val="400"/>
              </a:spcAft>
            </a:pPr>
            <a:r>
              <a:rPr sz="1500" b="1" i="0">
                <a:solidFill>
                  <a:srgbClr val="FFFFFF"/>
                </a:solidFill>
              </a:rPr>
              <a:t>Faithful but wrong</a:t>
            </a:r>
          </a:p>
          <a:p>
            <a:pPr algn="ctr">
              <a:spcAft>
                <a:spcPts val="400"/>
              </a:spcAft>
            </a:pPr>
            <a:r>
              <a:rPr sz="1200" b="0" i="1">
                <a:solidFill>
                  <a:srgbClr val="FFFFFF"/>
                </a:solidFill>
              </a:rPr>
              <a:t>headline finding</a:t>
            </a:r>
          </a:p>
        </p:txBody>
      </p:sp>
      <p:sp>
        <p:nvSpPr>
          <p:cNvPr id="21" name="Rectangle 20"/>
          <p:cNvSpPr/>
          <p:nvPr/>
        </p:nvSpPr>
        <p:spPr>
          <a:xfrm>
            <a:off x="8823959" y="3950208"/>
            <a:ext cx="2651760" cy="1344168"/>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61119" y="4224528"/>
            <a:ext cx="2377440" cy="822960"/>
          </a:xfrm>
          <a:prstGeom prst="rect">
            <a:avLst/>
          </a:prstGeom>
          <a:noFill/>
        </p:spPr>
        <p:txBody>
          <a:bodyPr wrap="square" anchor="t" lIns="0" rIns="0" tIns="0" bIns="0">
            <a:spAutoFit/>
          </a:bodyPr>
          <a:lstStyle/>
          <a:p>
            <a:pPr algn="ctr">
              <a:spcAft>
                <a:spcPts val="400"/>
              </a:spcAft>
            </a:pPr>
            <a:r>
              <a:rPr sz="1500" b="1" i="0">
                <a:solidFill>
                  <a:srgbClr val="575756"/>
                </a:solidFill>
              </a:rPr>
              <a:t>Wrong and unfaithful</a:t>
            </a:r>
          </a:p>
          <a:p>
            <a:pPr algn="ctr">
              <a:spcAft>
                <a:spcPts val="400"/>
              </a:spcAft>
            </a:pPr>
            <a:r>
              <a:rPr sz="1200" b="0" i="1">
                <a:solidFill>
                  <a:srgbClr val="575756"/>
                </a:solidFill>
              </a:rPr>
              <a:t>expected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task: Article 6 high-risk classification</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1155680" cy="365760"/>
          </a:xfrm>
          <a:prstGeom prst="rect">
            <a:avLst/>
          </a:prstGeom>
          <a:noFill/>
        </p:spPr>
        <p:txBody>
          <a:bodyPr wrap="square" anchor="t" lIns="0" rIns="0" tIns="0" bIns="0">
            <a:spAutoFit/>
          </a:bodyPr>
          <a:lstStyle/>
          <a:p>
            <a:pPr algn="l">
              <a:spcAft>
                <a:spcPts val="400"/>
              </a:spcAft>
            </a:pPr>
            <a:r>
              <a:rPr sz="1600" b="0" i="0">
                <a:solidFill>
                  <a:srgbClr val="575756"/>
                </a:solidFill>
              </a:rPr>
              <a:t>Annex III route of the EU AI Act, including the Article 6(3) filter</a:t>
            </a:r>
          </a:p>
        </p:txBody>
      </p:sp>
      <p:sp>
        <p:nvSpPr>
          <p:cNvPr id="8" name="Rectangle 7"/>
          <p:cNvSpPr/>
          <p:nvPr/>
        </p:nvSpPr>
        <p:spPr>
          <a:xfrm>
            <a:off x="356616"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39496"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10" name="TextBox 9"/>
          <p:cNvSpPr txBox="1"/>
          <p:nvPr/>
        </p:nvSpPr>
        <p:spPr>
          <a:xfrm>
            <a:off x="539496"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Intended purpose</a:t>
            </a:r>
          </a:p>
        </p:txBody>
      </p:sp>
      <p:sp>
        <p:nvSpPr>
          <p:cNvPr id="11" name="TextBox 10"/>
          <p:cNvSpPr txBox="1"/>
          <p:nvPr/>
        </p:nvSpPr>
        <p:spPr>
          <a:xfrm>
            <a:off x="539496"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What does the system do, for whom, with which data?</a:t>
            </a:r>
          </a:p>
        </p:txBody>
      </p:sp>
      <p:sp>
        <p:nvSpPr>
          <p:cNvPr id="12" name="Rectangle 11"/>
          <p:cNvSpPr/>
          <p:nvPr/>
        </p:nvSpPr>
        <p:spPr>
          <a:xfrm>
            <a:off x="3209544"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392424"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4" name="TextBox 13"/>
          <p:cNvSpPr txBox="1"/>
          <p:nvPr/>
        </p:nvSpPr>
        <p:spPr>
          <a:xfrm>
            <a:off x="3392424"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Annex III use case?</a:t>
            </a:r>
          </a:p>
        </p:txBody>
      </p:sp>
      <p:sp>
        <p:nvSpPr>
          <p:cNvPr id="15" name="TextBox 14"/>
          <p:cNvSpPr txBox="1"/>
          <p:nvPr/>
        </p:nvSpPr>
        <p:spPr>
          <a:xfrm>
            <a:off x="3392424"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Eight areas: biometrics, critical infrastructure, education, employment, essential services, law enforcement, migration, justice and democracy</a:t>
            </a:r>
          </a:p>
        </p:txBody>
      </p:sp>
      <p:sp>
        <p:nvSpPr>
          <p:cNvPr id="16" name="Rectangle 15"/>
          <p:cNvSpPr/>
          <p:nvPr/>
        </p:nvSpPr>
        <p:spPr>
          <a:xfrm>
            <a:off x="6062472"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245352"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8" name="TextBox 17"/>
          <p:cNvSpPr txBox="1"/>
          <p:nvPr/>
        </p:nvSpPr>
        <p:spPr>
          <a:xfrm>
            <a:off x="6245352"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Article 6(3) filter</a:t>
            </a:r>
          </a:p>
        </p:txBody>
      </p:sp>
      <p:sp>
        <p:nvSpPr>
          <p:cNvPr id="19" name="TextBox 18"/>
          <p:cNvSpPr txBox="1"/>
          <p:nvPr/>
        </p:nvSpPr>
        <p:spPr>
          <a:xfrm>
            <a:off x="6245352"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Out again if only a narrow procedural or preparatory task, or improving completed human work. Profiling always stays high-risk.</a:t>
            </a:r>
          </a:p>
        </p:txBody>
      </p:sp>
      <p:sp>
        <p:nvSpPr>
          <p:cNvPr id="20" name="Rectangle 19"/>
          <p:cNvSpPr/>
          <p:nvPr/>
        </p:nvSpPr>
        <p:spPr>
          <a:xfrm>
            <a:off x="8915400" y="1920240"/>
            <a:ext cx="2606040" cy="251460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098280" y="21031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22" name="TextBox 21"/>
          <p:cNvSpPr txBox="1"/>
          <p:nvPr/>
        </p:nvSpPr>
        <p:spPr>
          <a:xfrm>
            <a:off x="9098280" y="2651760"/>
            <a:ext cx="2240280" cy="411480"/>
          </a:xfrm>
          <a:prstGeom prst="rect">
            <a:avLst/>
          </a:prstGeom>
          <a:noFill/>
        </p:spPr>
        <p:txBody>
          <a:bodyPr wrap="square" anchor="t" lIns="0" rIns="0" tIns="0" bIns="0">
            <a:spAutoFit/>
          </a:bodyPr>
          <a:lstStyle/>
          <a:p>
            <a:pPr algn="l">
              <a:spcAft>
                <a:spcPts val="400"/>
              </a:spcAft>
            </a:pPr>
            <a:r>
              <a:rPr sz="1600" b="1" i="0">
                <a:solidFill>
                  <a:srgbClr val="DF4807"/>
                </a:solidFill>
              </a:rPr>
              <a:t>Label</a:t>
            </a:r>
          </a:p>
        </p:txBody>
      </p:sp>
      <p:sp>
        <p:nvSpPr>
          <p:cNvPr id="23" name="TextBox 22"/>
          <p:cNvSpPr txBox="1"/>
          <p:nvPr/>
        </p:nvSpPr>
        <p:spPr>
          <a:xfrm>
            <a:off x="9098280" y="3108960"/>
            <a:ext cx="2240280" cy="1280160"/>
          </a:xfrm>
          <a:prstGeom prst="rect">
            <a:avLst/>
          </a:prstGeom>
          <a:noFill/>
        </p:spPr>
        <p:txBody>
          <a:bodyPr wrap="square" anchor="t" lIns="0" rIns="0" tIns="0" bIns="0">
            <a:spAutoFit/>
          </a:bodyPr>
          <a:lstStyle/>
          <a:p>
            <a:pPr algn="l">
              <a:spcAft>
                <a:spcPts val="400"/>
              </a:spcAft>
            </a:pPr>
            <a:r>
              <a:rPr sz="1250" b="0" i="0">
                <a:solidFill>
                  <a:srgbClr val="575756"/>
                </a:solidFill>
              </a:rPr>
              <a:t>high-risk or not-high-risk, with an explanation</a:t>
            </a:r>
          </a:p>
        </p:txBody>
      </p:sp>
      <p:sp>
        <p:nvSpPr>
          <p:cNvPr id="24" name="Rectangle 23"/>
          <p:cNvSpPr/>
          <p:nvPr/>
        </p:nvSpPr>
        <p:spPr>
          <a:xfrm>
            <a:off x="356616" y="4709160"/>
            <a:ext cx="11155680" cy="123444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8640" y="4846320"/>
            <a:ext cx="10789920" cy="1005840"/>
          </a:xfrm>
          <a:prstGeom prst="rect">
            <a:avLst/>
          </a:prstGeom>
          <a:noFill/>
        </p:spPr>
        <p:txBody>
          <a:bodyPr wrap="square" anchor="t" lIns="0" rIns="0" tIns="0" bIns="0">
            <a:spAutoFit/>
          </a:bodyPr>
          <a:lstStyle/>
          <a:p>
            <a:pPr algn="l">
              <a:spcAft>
                <a:spcPts val="0"/>
              </a:spcAft>
            </a:pPr>
            <a:r>
              <a:rPr sz="1400" b="1" i="0">
                <a:solidFill>
                  <a:srgbClr val="DF4807"/>
                </a:solidFill>
              </a:rPr>
              <a:t>Ground truth: </a:t>
            </a:r>
          </a:p>
          <a:p>
            <a:pPr algn="l">
              <a:spcAft>
                <a:spcPts val="0"/>
              </a:spcAft>
            </a:pPr>
            <a:r>
              <a:rPr sz="1400" b="0" i="0">
                <a:solidFill>
                  <a:srgbClr val="575756"/>
                </a:solidFill>
              </a:rPr>
              <a:t>the European Commission's draft guidelines on Annex III (19 May 2026, frozen). Every worked example ends in an authoritative verdict, so each test input has one known correct answer. Article 6(1) product safety is out of scope.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and method</a:t>
            </a:r>
          </a:p>
        </p:txBody>
      </p:sp>
      <p:sp>
        <p:nvSpPr>
          <p:cNvPr id="3" name="Text Placeholder 2"/>
          <p:cNvSpPr>
            <a:spLocks noGrp="1"/>
          </p:cNvSpPr>
          <p:nvPr>
            <p:ph type="body" idx="1"/>
          </p:nvPr>
        </p:nvSpPr>
        <p:spPr/>
        <p:txBody>
          <a:bodyPr/>
          <a:lstStyle/>
          <a:p>
            <a:r>
              <a:t>02</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set: 215 inputs with official labels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7315200" cy="365760"/>
          </a:xfrm>
          <a:prstGeom prst="rect">
            <a:avLst/>
          </a:prstGeom>
          <a:noFill/>
        </p:spPr>
        <p:txBody>
          <a:bodyPr wrap="square" anchor="t" lIns="0" rIns="0" tIns="0" bIns="0">
            <a:spAutoFit/>
          </a:bodyPr>
          <a:lstStyle/>
          <a:p>
            <a:pPr algn="l">
              <a:spcAft>
                <a:spcPts val="400"/>
              </a:spcAft>
            </a:pPr>
            <a:r>
              <a:rPr sz="1600" b="0" i="0">
                <a:solidFill>
                  <a:srgbClr val="575756"/>
                </a:solidFill>
              </a:rPr>
              <a:t>Extracted from the worked examples; all eight Annex III areas covered</a:t>
            </a:r>
          </a:p>
        </p:txBody>
      </p:sp>
      <p:graphicFrame>
        <p:nvGraphicFramePr>
          <p:cNvPr id="8" name="Chart 7"/>
          <p:cNvGraphicFramePr>
            <a:graphicFrameLocks noGrp="1"/>
          </p:cNvGraphicFramePr>
          <p:nvPr/>
        </p:nvGraphicFramePr>
        <p:xfrm>
          <a:off x="356616" y="1828800"/>
          <a:ext cx="7498079" cy="4297680"/>
        </p:xfrm>
        <a:graphic>
          <a:graphicData uri="http://schemas.openxmlformats.org/drawingml/2006/chart">
            <c:chart xmlns:c="http://schemas.openxmlformats.org/drawingml/2006/chart" r:id="rId3"/>
          </a:graphicData>
        </a:graphic>
      </p:graphicFrame>
      <p:sp>
        <p:nvSpPr>
          <p:cNvPr id="9" name="TextBox 8"/>
          <p:cNvSpPr txBox="1"/>
          <p:nvPr/>
        </p:nvSpPr>
        <p:spPr>
          <a:xfrm>
            <a:off x="8412480" y="19202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215</a:t>
            </a:r>
          </a:p>
        </p:txBody>
      </p:sp>
      <p:sp>
        <p:nvSpPr>
          <p:cNvPr id="10" name="TextBox 9"/>
          <p:cNvSpPr txBox="1"/>
          <p:nvPr/>
        </p:nvSpPr>
        <p:spPr>
          <a:xfrm>
            <a:off x="8412480" y="2542032"/>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test inputs, one gold label each</a:t>
            </a:r>
          </a:p>
        </p:txBody>
      </p:sp>
      <p:sp>
        <p:nvSpPr>
          <p:cNvPr id="11" name="TextBox 10"/>
          <p:cNvSpPr txBox="1"/>
          <p:nvPr/>
        </p:nvSpPr>
        <p:spPr>
          <a:xfrm>
            <a:off x="8412480" y="32918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66 / 149</a:t>
            </a:r>
          </a:p>
        </p:txBody>
      </p:sp>
      <p:sp>
        <p:nvSpPr>
          <p:cNvPr id="12" name="TextBox 11"/>
          <p:cNvSpPr txBox="1"/>
          <p:nvPr/>
        </p:nvSpPr>
        <p:spPr>
          <a:xfrm>
            <a:off x="8412480" y="3913632"/>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high-risk / not high-risk (31% / 69%)</a:t>
            </a:r>
          </a:p>
        </p:txBody>
      </p:sp>
      <p:sp>
        <p:nvSpPr>
          <p:cNvPr id="13" name="TextBox 12"/>
          <p:cNvSpPr txBox="1"/>
          <p:nvPr/>
        </p:nvSpPr>
        <p:spPr>
          <a:xfrm>
            <a:off x="8412480" y="4663440"/>
            <a:ext cx="3108960" cy="594360"/>
          </a:xfrm>
          <a:prstGeom prst="rect">
            <a:avLst/>
          </a:prstGeom>
          <a:noFill/>
        </p:spPr>
        <p:txBody>
          <a:bodyPr wrap="square" anchor="t" lIns="0" rIns="0" tIns="0" bIns="0">
            <a:spAutoFit/>
          </a:bodyPr>
          <a:lstStyle/>
          <a:p>
            <a:pPr algn="l">
              <a:spcAft>
                <a:spcPts val="400"/>
              </a:spcAft>
            </a:pPr>
            <a:r>
              <a:rPr sz="3400" b="1" i="0">
                <a:solidFill>
                  <a:srgbClr val="DF4807"/>
                </a:solidFill>
              </a:rPr>
              <a:t>41</a:t>
            </a:r>
          </a:p>
        </p:txBody>
      </p:sp>
      <p:sp>
        <p:nvSpPr>
          <p:cNvPr id="14" name="TextBox 13"/>
          <p:cNvSpPr txBox="1"/>
          <p:nvPr/>
        </p:nvSpPr>
        <p:spPr>
          <a:xfrm>
            <a:off x="8412480" y="5285231"/>
            <a:ext cx="3108960" cy="685800"/>
          </a:xfrm>
          <a:prstGeom prst="rect">
            <a:avLst/>
          </a:prstGeom>
          <a:noFill/>
        </p:spPr>
        <p:txBody>
          <a:bodyPr wrap="square" anchor="t" lIns="0" rIns="0" tIns="0" bIns="0">
            <a:spAutoFit/>
          </a:bodyPr>
          <a:lstStyle/>
          <a:p>
            <a:pPr algn="l">
              <a:spcAft>
                <a:spcPts val="400"/>
              </a:spcAft>
            </a:pPr>
            <a:r>
              <a:rPr sz="1200" b="0" i="0">
                <a:solidFill>
                  <a:srgbClr val="575756"/>
                </a:solidFill>
              </a:rPr>
              <a:t>Article 6(3) filter cases, all not high-risk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framework</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pic>
        <p:nvPicPr>
          <p:cNvPr id="7" name="Picture 6" descr="arch_detailed.png"/>
          <p:cNvPicPr>
            <a:picLocks noChangeAspect="1"/>
          </p:cNvPicPr>
          <p:nvPr/>
        </p:nvPicPr>
        <p:blipFill>
          <a:blip r:embed="rId3"/>
          <a:stretch>
            <a:fillRect/>
          </a:stretch>
        </p:blipFill>
        <p:spPr>
          <a:xfrm>
            <a:off x="356616" y="1280160"/>
            <a:ext cx="3872923" cy="4892040"/>
          </a:xfrm>
          <a:prstGeom prst="rect">
            <a:avLst/>
          </a:prstGeom>
        </p:spPr>
      </p:pic>
      <p:sp>
        <p:nvSpPr>
          <p:cNvPr id="8" name="Oval 7"/>
          <p:cNvSpPr/>
          <p:nvPr/>
        </p:nvSpPr>
        <p:spPr>
          <a:xfrm>
            <a:off x="4572000" y="137160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9" name="TextBox 8"/>
          <p:cNvSpPr txBox="1"/>
          <p:nvPr/>
        </p:nvSpPr>
        <p:spPr>
          <a:xfrm>
            <a:off x="5120640" y="135331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Source split</a:t>
            </a:r>
          </a:p>
        </p:txBody>
      </p:sp>
      <p:sp>
        <p:nvSpPr>
          <p:cNvPr id="10" name="TextBox 9"/>
          <p:cNvSpPr txBox="1"/>
          <p:nvPr/>
        </p:nvSpPr>
        <p:spPr>
          <a:xfrm>
            <a:off x="5120640" y="173736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Worked examples become the test set; only normative text (400 chunks) goes into the retrieval corpus, so labels cannot leak through retrieval.</a:t>
            </a:r>
          </a:p>
        </p:txBody>
      </p:sp>
      <p:sp>
        <p:nvSpPr>
          <p:cNvPr id="11" name="Oval 10"/>
          <p:cNvSpPr/>
          <p:nvPr/>
        </p:nvSpPr>
        <p:spPr>
          <a:xfrm>
            <a:off x="4572000" y="256032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2" name="TextBox 11"/>
          <p:cNvSpPr txBox="1"/>
          <p:nvPr/>
        </p:nvSpPr>
        <p:spPr>
          <a:xfrm>
            <a:off x="5120640" y="254203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One shared pipeline</a:t>
            </a:r>
          </a:p>
        </p:txBody>
      </p:sp>
      <p:sp>
        <p:nvSpPr>
          <p:cNvPr id="13" name="TextBox 12"/>
          <p:cNvSpPr txBox="1"/>
          <p:nvPr/>
        </p:nvSpPr>
        <p:spPr>
          <a:xfrm>
            <a:off x="5120640" y="2926079"/>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Hybrid BM25 + dense retrieval (bge-base-en-v1.5, Chroma, alpha 0.5, top 5). One generator for all three systems: only the prompt changes.</a:t>
            </a:r>
          </a:p>
        </p:txBody>
      </p:sp>
      <p:sp>
        <p:nvSpPr>
          <p:cNvPr id="14" name="Oval 13"/>
          <p:cNvSpPr/>
          <p:nvPr/>
        </p:nvSpPr>
        <p:spPr>
          <a:xfrm>
            <a:off x="4572000" y="3749039"/>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5" name="TextBox 14"/>
          <p:cNvSpPr txBox="1"/>
          <p:nvPr/>
        </p:nvSpPr>
        <p:spPr>
          <a:xfrm>
            <a:off x="5120640" y="373075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Two independent axes</a:t>
            </a:r>
          </a:p>
        </p:txBody>
      </p:sp>
      <p:sp>
        <p:nvSpPr>
          <p:cNvPr id="16" name="TextBox 15"/>
          <p:cNvSpPr txBox="1"/>
          <p:nvPr/>
        </p:nvSpPr>
        <p:spPr>
          <a:xfrm>
            <a:off x="5120640" y="411480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Judge (Qwen2.5-72B, separate model family) scores RAGAS faithfulness; correctness is a plain lookup against the Commission label.</a:t>
            </a:r>
          </a:p>
        </p:txBody>
      </p:sp>
      <p:sp>
        <p:nvSpPr>
          <p:cNvPr id="17" name="Oval 16"/>
          <p:cNvSpPr/>
          <p:nvPr/>
        </p:nvSpPr>
        <p:spPr>
          <a:xfrm>
            <a:off x="4572000" y="49377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18" name="TextBox 17"/>
          <p:cNvSpPr txBox="1"/>
          <p:nvPr/>
        </p:nvSpPr>
        <p:spPr>
          <a:xfrm>
            <a:off x="5120640" y="4919472"/>
            <a:ext cx="6400800" cy="365760"/>
          </a:xfrm>
          <a:prstGeom prst="rect">
            <a:avLst/>
          </a:prstGeom>
          <a:noFill/>
        </p:spPr>
        <p:txBody>
          <a:bodyPr wrap="square" anchor="t" lIns="0" rIns="0" tIns="0" bIns="0">
            <a:spAutoFit/>
          </a:bodyPr>
          <a:lstStyle/>
          <a:p>
            <a:pPr algn="l">
              <a:spcAft>
                <a:spcPts val="400"/>
              </a:spcAft>
            </a:pPr>
            <a:r>
              <a:rPr sz="1600" b="1" i="0">
                <a:solidFill>
                  <a:srgbClr val="DF4807"/>
                </a:solidFill>
              </a:rPr>
              <a:t>Reproducible</a:t>
            </a:r>
          </a:p>
        </p:txBody>
      </p:sp>
      <p:sp>
        <p:nvSpPr>
          <p:cNvPr id="19" name="TextBox 18"/>
          <p:cNvSpPr txBox="1"/>
          <p:nvPr/>
        </p:nvSpPr>
        <p:spPr>
          <a:xfrm>
            <a:off x="5120640" y="5303520"/>
            <a:ext cx="6400800" cy="777240"/>
          </a:xfrm>
          <a:prstGeom prst="rect">
            <a:avLst/>
          </a:prstGeom>
          <a:noFill/>
        </p:spPr>
        <p:txBody>
          <a:bodyPr wrap="square" anchor="t" lIns="0" rIns="0" tIns="0" bIns="0">
            <a:spAutoFit/>
          </a:bodyPr>
          <a:lstStyle/>
          <a:p>
            <a:pPr algn="l">
              <a:spcAft>
                <a:spcPts val="400"/>
              </a:spcAft>
            </a:pPr>
            <a:r>
              <a:rPr sz="1300" b="0" i="0">
                <a:solidFill>
                  <a:srgbClr val="575756"/>
                </a:solidFill>
              </a:rPr>
              <a:t>Local models on the university GPU with pinned revisions, greedy decoding, every prompt, passage and output logged.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systems, one generator</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Everything is held fixed except the prompt</a:t>
            </a:r>
          </a:p>
        </p:txBody>
      </p:sp>
      <p:sp>
        <p:nvSpPr>
          <p:cNvPr id="8" name="Rectangle 7"/>
          <p:cNvSpPr/>
          <p:nvPr/>
        </p:nvSpPr>
        <p:spPr>
          <a:xfrm>
            <a:off x="356616" y="1874519"/>
            <a:ext cx="3566160" cy="21488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9496" y="2057400"/>
            <a:ext cx="3200400" cy="411480"/>
          </a:xfrm>
          <a:prstGeom prst="rect">
            <a:avLst/>
          </a:prstGeom>
          <a:noFill/>
        </p:spPr>
        <p:txBody>
          <a:bodyPr wrap="square" anchor="t" lIns="0" rIns="0" tIns="0" bIns="0">
            <a:spAutoFit/>
          </a:bodyPr>
          <a:lstStyle/>
          <a:p>
            <a:pPr algn="l">
              <a:spcAft>
                <a:spcPts val="400"/>
              </a:spcAft>
            </a:pPr>
            <a:r>
              <a:rPr sz="1600" b="1" i="0">
                <a:solidFill>
                  <a:srgbClr val="575756"/>
                </a:solidFill>
              </a:rPr>
              <a:t>Baseline 1: plain LLM</a:t>
            </a:r>
          </a:p>
        </p:txBody>
      </p:sp>
      <p:sp>
        <p:nvSpPr>
          <p:cNvPr id="10" name="TextBox 9"/>
          <p:cNvSpPr txBox="1"/>
          <p:nvPr/>
        </p:nvSpPr>
        <p:spPr>
          <a:xfrm>
            <a:off x="539496" y="2560320"/>
            <a:ext cx="3200400" cy="1371600"/>
          </a:xfrm>
          <a:prstGeom prst="rect">
            <a:avLst/>
          </a:prstGeom>
          <a:noFill/>
        </p:spPr>
        <p:txBody>
          <a:bodyPr wrap="square" anchor="t" lIns="0" rIns="0" tIns="0" bIns="0">
            <a:spAutoFit/>
          </a:bodyPr>
          <a:lstStyle/>
          <a:p>
            <a:pPr algn="l">
              <a:spcAft>
                <a:spcPts val="400"/>
              </a:spcAft>
            </a:pPr>
            <a:r>
              <a:rPr sz="1300" b="0" i="0">
                <a:solidFill>
                  <a:srgbClr val="575756"/>
                </a:solidFill>
              </a:rPr>
              <a:t>System description only, no retrieved text. Label plus a short reason. No faithfulness score by design.</a:t>
            </a:r>
          </a:p>
        </p:txBody>
      </p:sp>
      <p:sp>
        <p:nvSpPr>
          <p:cNvPr id="11" name="Rectangle 10"/>
          <p:cNvSpPr/>
          <p:nvPr/>
        </p:nvSpPr>
        <p:spPr>
          <a:xfrm>
            <a:off x="4151376" y="1874519"/>
            <a:ext cx="3566160" cy="21488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34256" y="2057400"/>
            <a:ext cx="3200400" cy="411480"/>
          </a:xfrm>
          <a:prstGeom prst="rect">
            <a:avLst/>
          </a:prstGeom>
          <a:noFill/>
        </p:spPr>
        <p:txBody>
          <a:bodyPr wrap="square" anchor="t" lIns="0" rIns="0" tIns="0" bIns="0">
            <a:spAutoFit/>
          </a:bodyPr>
          <a:lstStyle/>
          <a:p>
            <a:pPr algn="l">
              <a:spcAft>
                <a:spcPts val="400"/>
              </a:spcAft>
            </a:pPr>
            <a:r>
              <a:rPr sz="1600" b="1" i="0">
                <a:solidFill>
                  <a:srgbClr val="575756"/>
                </a:solidFill>
              </a:rPr>
              <a:t>Baseline 2: standard RAG</a:t>
            </a:r>
          </a:p>
        </p:txBody>
      </p:sp>
      <p:sp>
        <p:nvSpPr>
          <p:cNvPr id="13" name="TextBox 12"/>
          <p:cNvSpPr txBox="1"/>
          <p:nvPr/>
        </p:nvSpPr>
        <p:spPr>
          <a:xfrm>
            <a:off x="4334256" y="2560320"/>
            <a:ext cx="3200400" cy="1371600"/>
          </a:xfrm>
          <a:prstGeom prst="rect">
            <a:avLst/>
          </a:prstGeom>
          <a:noFill/>
        </p:spPr>
        <p:txBody>
          <a:bodyPr wrap="square" anchor="t" lIns="0" rIns="0" tIns="0" bIns="0">
            <a:spAutoFit/>
          </a:bodyPr>
          <a:lstStyle/>
          <a:p>
            <a:pPr algn="l">
              <a:spcAft>
                <a:spcPts val="400"/>
              </a:spcAft>
            </a:pPr>
            <a:r>
              <a:rPr sz="1300" b="0" i="0">
                <a:solidFill>
                  <a:srgbClr val="575756"/>
                </a:solidFill>
              </a:rPr>
              <a:t>Description plus the top 5 passages and a generic instruction to classify and ground the explanation.</a:t>
            </a:r>
          </a:p>
        </p:txBody>
      </p:sp>
      <p:sp>
        <p:nvSpPr>
          <p:cNvPr id="14" name="Rectangle 13"/>
          <p:cNvSpPr/>
          <p:nvPr/>
        </p:nvSpPr>
        <p:spPr>
          <a:xfrm>
            <a:off x="7946136" y="1874519"/>
            <a:ext cx="3566160" cy="214884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29016" y="2057400"/>
            <a:ext cx="3200400" cy="411480"/>
          </a:xfrm>
          <a:prstGeom prst="rect">
            <a:avLst/>
          </a:prstGeom>
          <a:noFill/>
        </p:spPr>
        <p:txBody>
          <a:bodyPr wrap="square" anchor="t" lIns="0" rIns="0" tIns="0" bIns="0">
            <a:spAutoFit/>
          </a:bodyPr>
          <a:lstStyle/>
          <a:p>
            <a:pPr algn="l">
              <a:spcAft>
                <a:spcPts val="400"/>
              </a:spcAft>
            </a:pPr>
            <a:r>
              <a:rPr sz="1600" b="1" i="0">
                <a:solidFill>
                  <a:srgbClr val="DF4807"/>
                </a:solidFill>
              </a:rPr>
              <a:t>Agent: structured RAG</a:t>
            </a:r>
          </a:p>
        </p:txBody>
      </p:sp>
      <p:sp>
        <p:nvSpPr>
          <p:cNvPr id="16" name="TextBox 15"/>
          <p:cNvSpPr txBox="1"/>
          <p:nvPr/>
        </p:nvSpPr>
        <p:spPr>
          <a:xfrm>
            <a:off x="8129016" y="2560320"/>
            <a:ext cx="3200400" cy="1371600"/>
          </a:xfrm>
          <a:prstGeom prst="rect">
            <a:avLst/>
          </a:prstGeom>
          <a:noFill/>
        </p:spPr>
        <p:txBody>
          <a:bodyPr wrap="square" anchor="t" lIns="0" rIns="0" tIns="0" bIns="0">
            <a:spAutoFit/>
          </a:bodyPr>
          <a:lstStyle/>
          <a:p>
            <a:pPr algn="l">
              <a:spcAft>
                <a:spcPts val="400"/>
              </a:spcAft>
            </a:pPr>
            <a:r>
              <a:rPr sz="1300" b="0" i="0">
                <a:solidFill>
                  <a:srgbClr val="575756"/>
                </a:solidFill>
              </a:rPr>
              <a:t>Same passages; the prompt walks the legal test step by step: purpose, Annex III area, Article 6(3) conditions, profiling rule.</a:t>
            </a:r>
          </a:p>
        </p:txBody>
      </p:sp>
      <p:sp>
        <p:nvSpPr>
          <p:cNvPr id="17" name="TextBox 16"/>
          <p:cNvSpPr txBox="1"/>
          <p:nvPr/>
        </p:nvSpPr>
        <p:spPr>
          <a:xfrm>
            <a:off x="356616" y="4389120"/>
            <a:ext cx="3566160" cy="594360"/>
          </a:xfrm>
          <a:prstGeom prst="rect">
            <a:avLst/>
          </a:prstGeom>
          <a:noFill/>
        </p:spPr>
        <p:txBody>
          <a:bodyPr wrap="square" anchor="t" lIns="0" rIns="0" tIns="0" bIns="0">
            <a:spAutoFit/>
          </a:bodyPr>
          <a:lstStyle/>
          <a:p>
            <a:pPr algn="l">
              <a:spcAft>
                <a:spcPts val="400"/>
              </a:spcAft>
            </a:pPr>
            <a:r>
              <a:rPr sz="3400" b="1" i="0">
                <a:solidFill>
                  <a:srgbClr val="DF4807"/>
                </a:solidFill>
              </a:rPr>
              <a:t>phi-4</a:t>
            </a:r>
          </a:p>
        </p:txBody>
      </p:sp>
      <p:sp>
        <p:nvSpPr>
          <p:cNvPr id="18" name="TextBox 17"/>
          <p:cNvSpPr txBox="1"/>
          <p:nvPr/>
        </p:nvSpPr>
        <p:spPr>
          <a:xfrm>
            <a:off x="356616" y="5010912"/>
            <a:ext cx="3566160" cy="685800"/>
          </a:xfrm>
          <a:prstGeom prst="rect">
            <a:avLst/>
          </a:prstGeom>
          <a:noFill/>
        </p:spPr>
        <p:txBody>
          <a:bodyPr wrap="square" anchor="t" lIns="0" rIns="0" tIns="0" bIns="0">
            <a:spAutoFit/>
          </a:bodyPr>
          <a:lstStyle/>
          <a:p>
            <a:pPr algn="l">
              <a:spcAft>
                <a:spcPts val="400"/>
              </a:spcAft>
            </a:pPr>
            <a:r>
              <a:rPr sz="1200" b="0" i="0">
                <a:solidFill>
                  <a:srgbClr val="575756"/>
                </a:solidFill>
              </a:rPr>
              <a:t>generator: microsoft/phi-4 (14B), local vLLM, greedy, pinned</a:t>
            </a:r>
          </a:p>
        </p:txBody>
      </p:sp>
      <p:sp>
        <p:nvSpPr>
          <p:cNvPr id="19" name="TextBox 18"/>
          <p:cNvSpPr txBox="1"/>
          <p:nvPr/>
        </p:nvSpPr>
        <p:spPr>
          <a:xfrm>
            <a:off x="4151376" y="4389120"/>
            <a:ext cx="3566160" cy="594360"/>
          </a:xfrm>
          <a:prstGeom prst="rect">
            <a:avLst/>
          </a:prstGeom>
          <a:noFill/>
        </p:spPr>
        <p:txBody>
          <a:bodyPr wrap="square" anchor="t" lIns="0" rIns="0" tIns="0" bIns="0">
            <a:spAutoFit/>
          </a:bodyPr>
          <a:lstStyle/>
          <a:p>
            <a:pPr algn="l">
              <a:spcAft>
                <a:spcPts val="400"/>
              </a:spcAft>
            </a:pPr>
            <a:r>
              <a:rPr sz="3400" b="1" i="0">
                <a:solidFill>
                  <a:srgbClr val="DF4807"/>
                </a:solidFill>
              </a:rPr>
              <a:t>Qwen 72B</a:t>
            </a:r>
          </a:p>
        </p:txBody>
      </p:sp>
      <p:sp>
        <p:nvSpPr>
          <p:cNvPr id="20" name="TextBox 19"/>
          <p:cNvSpPr txBox="1"/>
          <p:nvPr/>
        </p:nvSpPr>
        <p:spPr>
          <a:xfrm>
            <a:off x="4151376" y="5010912"/>
            <a:ext cx="3566160" cy="685800"/>
          </a:xfrm>
          <a:prstGeom prst="rect">
            <a:avLst/>
          </a:prstGeom>
          <a:noFill/>
        </p:spPr>
        <p:txBody>
          <a:bodyPr wrap="square" anchor="t" lIns="0" rIns="0" tIns="0" bIns="0">
            <a:spAutoFit/>
          </a:bodyPr>
          <a:lstStyle/>
          <a:p>
            <a:pPr algn="l">
              <a:spcAft>
                <a:spcPts val="400"/>
              </a:spcAft>
            </a:pPr>
            <a:r>
              <a:rPr sz="1200" b="0" i="0">
                <a:solidFill>
                  <a:srgbClr val="575756"/>
                </a:solidFill>
              </a:rPr>
              <a:t>judge: Qwen2.5-72B-Instruct-AWQ, other model family</a:t>
            </a:r>
          </a:p>
        </p:txBody>
      </p:sp>
      <p:sp>
        <p:nvSpPr>
          <p:cNvPr id="21" name="TextBox 20"/>
          <p:cNvSpPr txBox="1"/>
          <p:nvPr/>
        </p:nvSpPr>
        <p:spPr>
          <a:xfrm>
            <a:off x="7946136" y="4389120"/>
            <a:ext cx="3566160" cy="594360"/>
          </a:xfrm>
          <a:prstGeom prst="rect">
            <a:avLst/>
          </a:prstGeom>
          <a:noFill/>
        </p:spPr>
        <p:txBody>
          <a:bodyPr wrap="square" anchor="t" lIns="0" rIns="0" tIns="0" bIns="0">
            <a:spAutoFit/>
          </a:bodyPr>
          <a:lstStyle/>
          <a:p>
            <a:pPr algn="l">
              <a:spcAft>
                <a:spcPts val="400"/>
              </a:spcAft>
            </a:pPr>
            <a:r>
              <a:rPr sz="3400" b="1" i="0">
                <a:solidFill>
                  <a:srgbClr val="DF4807"/>
                </a:solidFill>
              </a:rPr>
              <a:t>645</a:t>
            </a:r>
          </a:p>
        </p:txBody>
      </p:sp>
      <p:sp>
        <p:nvSpPr>
          <p:cNvPr id="22" name="TextBox 21"/>
          <p:cNvSpPr txBox="1"/>
          <p:nvPr/>
        </p:nvSpPr>
        <p:spPr>
          <a:xfrm>
            <a:off x="7946136" y="5010912"/>
            <a:ext cx="3566160" cy="685800"/>
          </a:xfrm>
          <a:prstGeom prst="rect">
            <a:avLst/>
          </a:prstGeom>
          <a:noFill/>
        </p:spPr>
        <p:txBody>
          <a:bodyPr wrap="square" anchor="t" lIns="0" rIns="0" tIns="0" bIns="0">
            <a:spAutoFit/>
          </a:bodyPr>
          <a:lstStyle/>
          <a:p>
            <a:pPr algn="l">
              <a:spcAft>
                <a:spcPts val="400"/>
              </a:spcAft>
            </a:pPr>
            <a:r>
              <a:rPr sz="1200" b="0" i="0">
                <a:solidFill>
                  <a:srgbClr val="575756"/>
                </a:solidFill>
              </a:rPr>
              <a:t>generations; 0 parse failures, 0 empty, 0 errors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label leak found and fixed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60% of inputs contained the Commission's own verdict (first run, before redaction)</a:t>
            </a:r>
          </a:p>
        </p:txBody>
      </p:sp>
      <p:graphicFrame>
        <p:nvGraphicFramePr>
          <p:cNvPr id="8" name="Chart 7"/>
          <p:cNvGraphicFramePr>
            <a:graphicFrameLocks noGrp="1"/>
          </p:cNvGraphicFramePr>
          <p:nvPr/>
        </p:nvGraphicFramePr>
        <p:xfrm>
          <a:off x="356616" y="1828800"/>
          <a:ext cx="6035040" cy="4297680"/>
        </p:xfrm>
        <a:graphic>
          <a:graphicData uri="http://schemas.openxmlformats.org/drawingml/2006/chart">
            <c:chart xmlns:c="http://schemas.openxmlformats.org/drawingml/2006/chart" r:id="rId3"/>
          </a:graphicData>
        </a:graphic>
      </p:graphicFrame>
      <p:sp>
        <p:nvSpPr>
          <p:cNvPr id="9" name="TextBox 8"/>
          <p:cNvSpPr txBox="1"/>
          <p:nvPr/>
        </p:nvSpPr>
        <p:spPr>
          <a:xfrm>
            <a:off x="6766560" y="1920240"/>
            <a:ext cx="4754880" cy="365760"/>
          </a:xfrm>
          <a:prstGeom prst="rect">
            <a:avLst/>
          </a:prstGeom>
          <a:noFill/>
        </p:spPr>
        <p:txBody>
          <a:bodyPr wrap="square" anchor="t" lIns="0" rIns="0" tIns="0" bIns="0">
            <a:spAutoFit/>
          </a:bodyPr>
          <a:lstStyle/>
          <a:p>
            <a:pPr algn="l">
              <a:spcAft>
                <a:spcPts val="400"/>
              </a:spcAft>
            </a:pPr>
            <a:r>
              <a:rPr sz="1600" b="1" i="0">
                <a:solidFill>
                  <a:srgbClr val="DF4807"/>
                </a:solidFill>
              </a:rPr>
              <a:t>What happened</a:t>
            </a:r>
          </a:p>
        </p:txBody>
      </p:sp>
      <p:sp>
        <p:nvSpPr>
          <p:cNvPr id="10" name="TextBox 9"/>
          <p:cNvSpPr txBox="1"/>
          <p:nvPr/>
        </p:nvSpPr>
        <p:spPr>
          <a:xfrm>
            <a:off x="6766560" y="2331720"/>
            <a:ext cx="4754880" cy="1188720"/>
          </a:xfrm>
          <a:prstGeom prst="rect">
            <a:avLst/>
          </a:prstGeom>
          <a:noFill/>
        </p:spPr>
        <p:txBody>
          <a:bodyPr wrap="square" anchor="t" lIns="0" rIns="0" tIns="0" bIns="0">
            <a:spAutoFit/>
          </a:bodyPr>
          <a:lstStyle/>
          <a:p>
            <a:pPr algn="l">
              <a:spcAft>
                <a:spcPts val="400"/>
              </a:spcAft>
            </a:pPr>
            <a:r>
              <a:rPr sz="1300" b="0" i="0">
                <a:solidFill>
                  <a:srgbClr val="575756"/>
                </a:solidFill>
              </a:rPr>
              <a:t>The extractor kept each example's closing verdict, e.g. "It therefore falls outside the use case of point 4(a)". The plain model was reading the answer.</a:t>
            </a:r>
          </a:p>
        </p:txBody>
      </p:sp>
      <p:sp>
        <p:nvSpPr>
          <p:cNvPr id="11" name="TextBox 10"/>
          <p:cNvSpPr txBox="1"/>
          <p:nvPr/>
        </p:nvSpPr>
        <p:spPr>
          <a:xfrm>
            <a:off x="6766560" y="3520440"/>
            <a:ext cx="4754880" cy="365760"/>
          </a:xfrm>
          <a:prstGeom prst="rect">
            <a:avLst/>
          </a:prstGeom>
          <a:noFill/>
        </p:spPr>
        <p:txBody>
          <a:bodyPr wrap="square" anchor="t" lIns="0" rIns="0" tIns="0" bIns="0">
            <a:spAutoFit/>
          </a:bodyPr>
          <a:lstStyle/>
          <a:p>
            <a:pPr algn="l">
              <a:spcAft>
                <a:spcPts val="400"/>
              </a:spcAft>
            </a:pPr>
            <a:r>
              <a:rPr sz="1600" b="1" i="0">
                <a:solidFill>
                  <a:srgbClr val="DF4807"/>
                </a:solidFill>
              </a:rPr>
              <a:t>How it was fixed</a:t>
            </a:r>
          </a:p>
        </p:txBody>
      </p:sp>
      <p:sp>
        <p:nvSpPr>
          <p:cNvPr id="12" name="TextBox 11"/>
          <p:cNvSpPr txBox="1"/>
          <p:nvPr/>
        </p:nvSpPr>
        <p:spPr>
          <a:xfrm>
            <a:off x="6766560" y="3931920"/>
            <a:ext cx="4754880" cy="2194560"/>
          </a:xfrm>
          <a:prstGeom prst="rect">
            <a:avLst/>
          </a:prstGeom>
          <a:noFill/>
        </p:spPr>
        <p:txBody>
          <a:bodyPr wrap="square" anchor="t" lIns="0" rIns="0" tIns="0" bIns="0">
            <a:spAutoFit/>
          </a:bodyPr>
          <a:lstStyle/>
          <a:p>
            <a:pPr algn="l" marL="228600" indent="-228600">
              <a:spcAft>
                <a:spcPts val="400"/>
              </a:spcAft>
              <a:buChar char="–"/>
            </a:pPr>
            <a:r>
              <a:rPr sz="1300" b="0" i="0">
                <a:solidFill>
                  <a:srgbClr val="575756"/>
                </a:solidFill>
              </a:rPr>
              <a:t>Kept what the system does; removed every legal conclusion and citation</a:t>
            </a:r>
          </a:p>
          <a:p>
            <a:pPr algn="l" marL="228600" indent="-228600">
              <a:spcAft>
                <a:spcPts val="400"/>
              </a:spcAft>
              <a:buChar char="–"/>
            </a:pPr>
            <a:r>
              <a:rPr sz="1300" b="0" i="0">
                <a:solidFill>
                  <a:srgbClr val="575756"/>
                </a:solidFill>
              </a:rPr>
              <a:t>96 rows automatic, 31 hand-edited, 46 reviewed by the author</a:t>
            </a:r>
          </a:p>
          <a:p>
            <a:pPr algn="l" marL="228600" indent="-228600">
              <a:spcAft>
                <a:spcPts val="400"/>
              </a:spcAft>
              <a:buChar char="–"/>
            </a:pPr>
            <a:r>
              <a:rPr sz="1300" b="0" i="0">
                <a:solidFill>
                  <a:srgbClr val="575756"/>
                </a:solidFill>
              </a:rPr>
              <a:t>IDs and gold labels unchanged; all systems rerun</a:t>
            </a:r>
          </a:p>
          <a:p>
            <a:pPr algn="l" marL="228600" indent="-228600">
              <a:spcAft>
                <a:spcPts val="400"/>
              </a:spcAft>
              <a:buChar char="–"/>
            </a:pPr>
            <a:r>
              <a:rPr sz="1300" b="0" i="0">
                <a:solidFill>
                  <a:srgbClr val="575756"/>
                </a:solidFill>
              </a:rPr>
              <a:t>Mean input length 557 to 392 characters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
        <p:nvSpPr>
          <p:cNvPr id="3" name="Text Placeholder 2"/>
          <p:cNvSpPr>
            <a:spLocks noGrp="1"/>
          </p:cNvSpPr>
          <p:nvPr>
            <p:ph type="body" idx="1"/>
          </p:nvPr>
        </p:nvSpPr>
        <p:spPr/>
        <p:txBody>
          <a:bodyPr/>
          <a:lstStyle/>
          <a:p>
            <a:r>
              <a:t>03</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1: retrieval helps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…but the structured prompt does not. Accuracy on 215 inputs, before and after redaction</a:t>
            </a:r>
          </a:p>
        </p:txBody>
      </p:sp>
      <p:graphicFrame>
        <p:nvGraphicFramePr>
          <p:cNvPr id="8" name="Chart 7"/>
          <p:cNvGraphicFramePr>
            <a:graphicFrameLocks noGrp="1"/>
          </p:cNvGraphicFramePr>
          <p:nvPr/>
        </p:nvGraphicFramePr>
        <p:xfrm>
          <a:off x="356616" y="1828800"/>
          <a:ext cx="6583680" cy="4297680"/>
        </p:xfrm>
        <a:graphic>
          <a:graphicData uri="http://schemas.openxmlformats.org/drawingml/2006/chart">
            <c:chart xmlns:c="http://schemas.openxmlformats.org/drawingml/2006/chart" r:id="rId3"/>
          </a:graphicData>
        </a:graphic>
      </p:graphicFrame>
      <p:sp>
        <p:nvSpPr>
          <p:cNvPr id="9" name="TextBox 8"/>
          <p:cNvSpPr txBox="1"/>
          <p:nvPr/>
        </p:nvSpPr>
        <p:spPr>
          <a:xfrm>
            <a:off x="7406640" y="19202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+19 pts</a:t>
            </a:r>
          </a:p>
        </p:txBody>
      </p:sp>
      <p:sp>
        <p:nvSpPr>
          <p:cNvPr id="10" name="TextBox 9"/>
          <p:cNvSpPr txBox="1"/>
          <p:nvPr/>
        </p:nvSpPr>
        <p:spPr>
          <a:xfrm>
            <a:off x="7406640" y="2542032"/>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standard RAG vs plain LLM on redacted inputs (McNemar p &lt; 0.001)</a:t>
            </a:r>
          </a:p>
        </p:txBody>
      </p:sp>
      <p:sp>
        <p:nvSpPr>
          <p:cNvPr id="11" name="TextBox 10"/>
          <p:cNvSpPr txBox="1"/>
          <p:nvPr/>
        </p:nvSpPr>
        <p:spPr>
          <a:xfrm>
            <a:off x="7406640" y="32918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60 vs 17</a:t>
            </a:r>
          </a:p>
        </p:txBody>
      </p:sp>
      <p:sp>
        <p:nvSpPr>
          <p:cNvPr id="12" name="TextBox 11"/>
          <p:cNvSpPr txBox="1"/>
          <p:nvPr/>
        </p:nvSpPr>
        <p:spPr>
          <a:xfrm>
            <a:off x="7406640" y="3913632"/>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false high-risk calls: plain LLM vs standard RAG</a:t>
            </a:r>
          </a:p>
        </p:txBody>
      </p:sp>
      <p:sp>
        <p:nvSpPr>
          <p:cNvPr id="13" name="TextBox 12"/>
          <p:cNvSpPr txBox="1"/>
          <p:nvPr/>
        </p:nvSpPr>
        <p:spPr>
          <a:xfrm>
            <a:off x="7406640" y="4663440"/>
            <a:ext cx="4114800" cy="594360"/>
          </a:xfrm>
          <a:prstGeom prst="rect">
            <a:avLst/>
          </a:prstGeom>
          <a:noFill/>
        </p:spPr>
        <p:txBody>
          <a:bodyPr wrap="square" anchor="t" lIns="0" rIns="0" tIns="0" bIns="0">
            <a:spAutoFit/>
          </a:bodyPr>
          <a:lstStyle/>
          <a:p>
            <a:pPr algn="l">
              <a:spcAft>
                <a:spcPts val="400"/>
              </a:spcAft>
            </a:pPr>
            <a:r>
              <a:rPr sz="3400" b="1" i="0">
                <a:solidFill>
                  <a:srgbClr val="DF4807"/>
                </a:solidFill>
              </a:rPr>
              <a:t>p = 0.30</a:t>
            </a:r>
          </a:p>
        </p:txBody>
      </p:sp>
      <p:sp>
        <p:nvSpPr>
          <p:cNvPr id="14" name="TextBox 13"/>
          <p:cNvSpPr txBox="1"/>
          <p:nvPr/>
        </p:nvSpPr>
        <p:spPr>
          <a:xfrm>
            <a:off x="7406640" y="5285231"/>
            <a:ext cx="411480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vs standard RAG: no significant difference (0.856 vs 0.879)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systems struggle</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Accuracy by Annex III area and error types (redacted inputs)</a:t>
            </a:r>
          </a:p>
        </p:txBody>
      </p:sp>
      <p:pic>
        <p:nvPicPr>
          <p:cNvPr id="8" name="Picture 7" descr="fig_area_heatmap.png"/>
          <p:cNvPicPr>
            <a:picLocks noChangeAspect="1"/>
          </p:cNvPicPr>
          <p:nvPr/>
        </p:nvPicPr>
        <p:blipFill>
          <a:blip r:embed="rId3"/>
          <a:stretch>
            <a:fillRect/>
          </a:stretch>
        </p:blipFill>
        <p:spPr>
          <a:xfrm>
            <a:off x="356616" y="1828800"/>
            <a:ext cx="7315200" cy="2679312"/>
          </a:xfrm>
          <a:prstGeom prst="rect">
            <a:avLst/>
          </a:prstGeom>
        </p:spPr>
      </p:pic>
      <p:pic>
        <p:nvPicPr>
          <p:cNvPr id="9" name="Picture 8" descr="fig_confusion.png"/>
          <p:cNvPicPr>
            <a:picLocks noChangeAspect="1"/>
          </p:cNvPicPr>
          <p:nvPr/>
        </p:nvPicPr>
        <p:blipFill>
          <a:blip r:embed="rId4"/>
          <a:stretch>
            <a:fillRect/>
          </a:stretch>
        </p:blipFill>
        <p:spPr>
          <a:xfrm>
            <a:off x="356616" y="4572000"/>
            <a:ext cx="4572000" cy="1603424"/>
          </a:xfrm>
          <a:prstGeom prst="rect">
            <a:avLst/>
          </a:prstGeom>
        </p:spPr>
      </p:pic>
      <p:sp>
        <p:nvSpPr>
          <p:cNvPr id="10" name="Rectangle 9"/>
          <p:cNvSpPr/>
          <p:nvPr/>
        </p:nvSpPr>
        <p:spPr>
          <a:xfrm>
            <a:off x="8046720" y="1828800"/>
            <a:ext cx="3474720" cy="19202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0" y="1965960"/>
            <a:ext cx="3108960" cy="365760"/>
          </a:xfrm>
          <a:prstGeom prst="rect">
            <a:avLst/>
          </a:prstGeom>
          <a:noFill/>
        </p:spPr>
        <p:txBody>
          <a:bodyPr wrap="square" anchor="t" lIns="0" rIns="0" tIns="0" bIns="0">
            <a:spAutoFit/>
          </a:bodyPr>
          <a:lstStyle/>
          <a:p>
            <a:pPr algn="l">
              <a:spcAft>
                <a:spcPts val="400"/>
              </a:spcAft>
            </a:pPr>
            <a:r>
              <a:rPr sz="1500" b="1" i="0">
                <a:solidFill>
                  <a:srgbClr val="DF4807"/>
                </a:solidFill>
              </a:rPr>
              <a:t>Critical infrastructure</a:t>
            </a:r>
          </a:p>
        </p:txBody>
      </p:sp>
      <p:sp>
        <p:nvSpPr>
          <p:cNvPr id="12" name="TextBox 11"/>
          <p:cNvSpPr txBox="1"/>
          <p:nvPr/>
        </p:nvSpPr>
        <p:spPr>
          <a:xfrm>
            <a:off x="8229600" y="2377440"/>
            <a:ext cx="3108960" cy="1280160"/>
          </a:xfrm>
          <a:prstGeom prst="rect">
            <a:avLst/>
          </a:prstGeom>
          <a:noFill/>
        </p:spPr>
        <p:txBody>
          <a:bodyPr wrap="square" anchor="t" lIns="0" rIns="0" tIns="0" bIns="0">
            <a:spAutoFit/>
          </a:bodyPr>
          <a:lstStyle/>
          <a:p>
            <a:pPr algn="l">
              <a:spcAft>
                <a:spcPts val="400"/>
              </a:spcAft>
            </a:pPr>
            <a:r>
              <a:rPr sz="1300" b="0" i="0">
                <a:solidFill>
                  <a:srgbClr val="575756"/>
                </a:solidFill>
              </a:rPr>
              <a:t>Hardest for both RAG systems (0.61, 0.56). The test is safety component, not sector.</a:t>
            </a:r>
          </a:p>
        </p:txBody>
      </p:sp>
      <p:sp>
        <p:nvSpPr>
          <p:cNvPr id="13" name="Rectangle 12"/>
          <p:cNvSpPr/>
          <p:nvPr/>
        </p:nvSpPr>
        <p:spPr>
          <a:xfrm>
            <a:off x="8046720" y="3977639"/>
            <a:ext cx="3474720" cy="192024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600" y="4114800"/>
            <a:ext cx="3108960" cy="365760"/>
          </a:xfrm>
          <a:prstGeom prst="rect">
            <a:avLst/>
          </a:prstGeom>
          <a:noFill/>
        </p:spPr>
        <p:txBody>
          <a:bodyPr wrap="square" anchor="t" lIns="0" rIns="0" tIns="0" bIns="0">
            <a:spAutoFit/>
          </a:bodyPr>
          <a:lstStyle/>
          <a:p>
            <a:pPr algn="l">
              <a:spcAft>
                <a:spcPts val="400"/>
              </a:spcAft>
            </a:pPr>
            <a:r>
              <a:rPr sz="1500" b="1" i="0">
                <a:solidFill>
                  <a:srgbClr val="DF4807"/>
                </a:solidFill>
              </a:rPr>
              <a:t>Law enforcement</a:t>
            </a:r>
          </a:p>
        </p:txBody>
      </p:sp>
      <p:sp>
        <p:nvSpPr>
          <p:cNvPr id="15" name="TextBox 14"/>
          <p:cNvSpPr txBox="1"/>
          <p:nvPr/>
        </p:nvSpPr>
        <p:spPr>
          <a:xfrm>
            <a:off x="8229600" y="4526280"/>
            <a:ext cx="3108960" cy="1280160"/>
          </a:xfrm>
          <a:prstGeom prst="rect">
            <a:avLst/>
          </a:prstGeom>
          <a:noFill/>
        </p:spPr>
        <p:txBody>
          <a:bodyPr wrap="square" anchor="t" lIns="0" rIns="0" tIns="0" bIns="0">
            <a:spAutoFit/>
          </a:bodyPr>
          <a:lstStyle/>
          <a:p>
            <a:pPr algn="l">
              <a:spcAft>
                <a:spcPts val="400"/>
              </a:spcAft>
            </a:pPr>
            <a:r>
              <a:rPr sz="1300" b="0" i="0">
                <a:solidFill>
                  <a:srgbClr val="575756"/>
                </a:solidFill>
              </a:rPr>
              <a:t>Plain LLM collapses to 0.26: it calls most police uses high-risk. RAG fixes this (0.87+).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 2: faithfulness misses wrong labels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RAGAS faithfulness of every answer, split by whether the label was correct</a:t>
            </a:r>
          </a:p>
        </p:txBody>
      </p:sp>
      <p:pic>
        <p:nvPicPr>
          <p:cNvPr id="8" name="Picture 7" descr="fig3_faithfulness.png"/>
          <p:cNvPicPr>
            <a:picLocks noChangeAspect="1"/>
          </p:cNvPicPr>
          <p:nvPr/>
        </p:nvPicPr>
        <p:blipFill>
          <a:blip r:embed="rId3"/>
          <a:stretch>
            <a:fillRect/>
          </a:stretch>
        </p:blipFill>
        <p:spPr>
          <a:xfrm>
            <a:off x="356616" y="1828800"/>
            <a:ext cx="7863840" cy="4045852"/>
          </a:xfrm>
          <a:prstGeom prst="rect">
            <a:avLst/>
          </a:prstGeom>
        </p:spPr>
      </p:pic>
      <p:sp>
        <p:nvSpPr>
          <p:cNvPr id="9" name="TextBox 8"/>
          <p:cNvSpPr txBox="1"/>
          <p:nvPr/>
        </p:nvSpPr>
        <p:spPr>
          <a:xfrm>
            <a:off x="8595360" y="1920240"/>
            <a:ext cx="3017520" cy="594360"/>
          </a:xfrm>
          <a:prstGeom prst="rect">
            <a:avLst/>
          </a:prstGeom>
          <a:noFill/>
        </p:spPr>
        <p:txBody>
          <a:bodyPr wrap="square" anchor="t" lIns="0" rIns="0" tIns="0" bIns="0">
            <a:spAutoFit/>
          </a:bodyPr>
          <a:lstStyle/>
          <a:p>
            <a:pPr algn="l">
              <a:spcAft>
                <a:spcPts val="400"/>
              </a:spcAft>
            </a:pPr>
            <a:r>
              <a:rPr sz="3400" b="1" i="0">
                <a:solidFill>
                  <a:srgbClr val="DF4807"/>
                </a:solidFill>
              </a:rPr>
              <a:t>0.465</a:t>
            </a:r>
          </a:p>
        </p:txBody>
      </p:sp>
      <p:sp>
        <p:nvSpPr>
          <p:cNvPr id="10" name="TextBox 9"/>
          <p:cNvSpPr txBox="1"/>
          <p:nvPr/>
        </p:nvSpPr>
        <p:spPr>
          <a:xfrm>
            <a:off x="8595360" y="25420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AUC (95% CI 0.36 to 0.57): chance level</a:t>
            </a:r>
          </a:p>
        </p:txBody>
      </p:sp>
      <p:sp>
        <p:nvSpPr>
          <p:cNvPr id="11" name="TextBox 10"/>
          <p:cNvSpPr txBox="1"/>
          <p:nvPr/>
        </p:nvSpPr>
        <p:spPr>
          <a:xfrm>
            <a:off x="8595360" y="3291840"/>
            <a:ext cx="3017520" cy="594360"/>
          </a:xfrm>
          <a:prstGeom prst="rect">
            <a:avLst/>
          </a:prstGeom>
          <a:noFill/>
        </p:spPr>
        <p:txBody>
          <a:bodyPr wrap="square" anchor="t" lIns="0" rIns="0" tIns="0" bIns="0">
            <a:spAutoFit/>
          </a:bodyPr>
          <a:lstStyle/>
          <a:p>
            <a:pPr algn="l">
              <a:spcAft>
                <a:spcPts val="400"/>
              </a:spcAft>
            </a:pPr>
            <a:r>
              <a:rPr sz="3000" b="1" i="0">
                <a:solidFill>
                  <a:srgbClr val="DF4807"/>
                </a:solidFill>
              </a:rPr>
              <a:t>0.49 vs 0.45</a:t>
            </a:r>
          </a:p>
        </p:txBody>
      </p:sp>
      <p:sp>
        <p:nvSpPr>
          <p:cNvPr id="12" name="TextBox 11"/>
          <p:cNvSpPr txBox="1"/>
          <p:nvPr/>
        </p:nvSpPr>
        <p:spPr>
          <a:xfrm>
            <a:off x="8595360" y="39136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wrong answers score slightly higher than right ones</a:t>
            </a:r>
          </a:p>
        </p:txBody>
      </p:sp>
      <p:sp>
        <p:nvSpPr>
          <p:cNvPr id="13" name="TextBox 12"/>
          <p:cNvSpPr txBox="1"/>
          <p:nvPr/>
        </p:nvSpPr>
        <p:spPr>
          <a:xfrm>
            <a:off x="8595360" y="4663440"/>
            <a:ext cx="3017520" cy="594360"/>
          </a:xfrm>
          <a:prstGeom prst="rect">
            <a:avLst/>
          </a:prstGeom>
          <a:noFill/>
        </p:spPr>
        <p:txBody>
          <a:bodyPr wrap="square" anchor="t" lIns="0" rIns="0" tIns="0" bIns="0">
            <a:spAutoFit/>
          </a:bodyPr>
          <a:lstStyle/>
          <a:p>
            <a:pPr algn="l">
              <a:spcAft>
                <a:spcPts val="400"/>
              </a:spcAft>
            </a:pPr>
            <a:r>
              <a:rPr sz="3400" b="1" i="0">
                <a:solidFill>
                  <a:srgbClr val="575756"/>
                </a:solidFill>
              </a:rPr>
              <a:t>0.615</a:t>
            </a:r>
          </a:p>
        </p:txBody>
      </p:sp>
      <p:sp>
        <p:nvSpPr>
          <p:cNvPr id="14" name="TextBox 13"/>
          <p:cNvSpPr txBox="1"/>
          <p:nvPr/>
        </p:nvSpPr>
        <p:spPr>
          <a:xfrm>
            <a:off x="8595360" y="5285231"/>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standard RAG AUC: weak signal only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Both off-diagonal buckets are populated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Four-bucket matrix at a faithful cut of 0.5</a:t>
            </a:r>
          </a:p>
        </p:txBody>
      </p:sp>
      <p:pic>
        <p:nvPicPr>
          <p:cNvPr id="8" name="Picture 7" descr="fig_buckets.png"/>
          <p:cNvPicPr>
            <a:picLocks noChangeAspect="1"/>
          </p:cNvPicPr>
          <p:nvPr/>
        </p:nvPicPr>
        <p:blipFill>
          <a:blip r:embed="rId3"/>
          <a:stretch>
            <a:fillRect/>
          </a:stretch>
        </p:blipFill>
        <p:spPr>
          <a:xfrm>
            <a:off x="356616" y="1828800"/>
            <a:ext cx="7863840" cy="3471085"/>
          </a:xfrm>
          <a:prstGeom prst="rect">
            <a:avLst/>
          </a:prstGeom>
        </p:spPr>
      </p:pic>
      <p:sp>
        <p:nvSpPr>
          <p:cNvPr id="9" name="TextBox 8"/>
          <p:cNvSpPr txBox="1"/>
          <p:nvPr/>
        </p:nvSpPr>
        <p:spPr>
          <a:xfrm>
            <a:off x="8595360" y="1920240"/>
            <a:ext cx="3017520" cy="594360"/>
          </a:xfrm>
          <a:prstGeom prst="rect">
            <a:avLst/>
          </a:prstGeom>
          <a:noFill/>
        </p:spPr>
        <p:txBody>
          <a:bodyPr wrap="square" anchor="t" lIns="0" rIns="0" tIns="0" bIns="0">
            <a:spAutoFit/>
          </a:bodyPr>
          <a:lstStyle/>
          <a:p>
            <a:pPr algn="l">
              <a:spcAft>
                <a:spcPts val="400"/>
              </a:spcAft>
            </a:pPr>
            <a:r>
              <a:rPr sz="3400" b="1" i="0">
                <a:solidFill>
                  <a:srgbClr val="DF4807"/>
                </a:solidFill>
              </a:rPr>
              <a:t>17 of 31</a:t>
            </a:r>
          </a:p>
        </p:txBody>
      </p:sp>
      <p:sp>
        <p:nvSpPr>
          <p:cNvPr id="10" name="TextBox 9"/>
          <p:cNvSpPr txBox="1"/>
          <p:nvPr/>
        </p:nvSpPr>
        <p:spPr>
          <a:xfrm>
            <a:off x="8595360" y="25420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agent errors that pass as faithful (55%)</a:t>
            </a:r>
          </a:p>
        </p:txBody>
      </p:sp>
      <p:sp>
        <p:nvSpPr>
          <p:cNvPr id="11" name="TextBox 10"/>
          <p:cNvSpPr txBox="1"/>
          <p:nvPr/>
        </p:nvSpPr>
        <p:spPr>
          <a:xfrm>
            <a:off x="8595360" y="3291840"/>
            <a:ext cx="3017520" cy="594360"/>
          </a:xfrm>
          <a:prstGeom prst="rect">
            <a:avLst/>
          </a:prstGeom>
          <a:noFill/>
        </p:spPr>
        <p:txBody>
          <a:bodyPr wrap="square" anchor="t" lIns="0" rIns="0" tIns="0" bIns="0">
            <a:spAutoFit/>
          </a:bodyPr>
          <a:lstStyle/>
          <a:p>
            <a:pPr algn="l">
              <a:spcAft>
                <a:spcPts val="400"/>
              </a:spcAft>
            </a:pPr>
            <a:r>
              <a:rPr sz="3400" b="1" i="0">
                <a:solidFill>
                  <a:srgbClr val="575756"/>
                </a:solidFill>
              </a:rPr>
              <a:t>93 of 184</a:t>
            </a:r>
          </a:p>
        </p:txBody>
      </p:sp>
      <p:sp>
        <p:nvSpPr>
          <p:cNvPr id="12" name="TextBox 11"/>
          <p:cNvSpPr txBox="1"/>
          <p:nvPr/>
        </p:nvSpPr>
        <p:spPr>
          <a:xfrm>
            <a:off x="8595360" y="3913632"/>
            <a:ext cx="3017520" cy="685800"/>
          </a:xfrm>
          <a:prstGeom prst="rect">
            <a:avLst/>
          </a:prstGeom>
          <a:noFill/>
        </p:spPr>
        <p:txBody>
          <a:bodyPr wrap="square" anchor="t" lIns="0" rIns="0" tIns="0" bIns="0">
            <a:spAutoFit/>
          </a:bodyPr>
          <a:lstStyle/>
          <a:p>
            <a:pPr algn="l">
              <a:spcAft>
                <a:spcPts val="400"/>
              </a:spcAft>
            </a:pPr>
            <a:r>
              <a:rPr sz="1200" b="0" i="0">
                <a:solidFill>
                  <a:srgbClr val="575756"/>
                </a:solidFill>
              </a:rPr>
              <a:t>correct agent answers scored as unfaithful</a:t>
            </a:r>
          </a:p>
        </p:txBody>
      </p:sp>
      <p:sp>
        <p:nvSpPr>
          <p:cNvPr id="13" name="TextBox 12"/>
          <p:cNvSpPr txBox="1"/>
          <p:nvPr/>
        </p:nvSpPr>
        <p:spPr>
          <a:xfrm>
            <a:off x="356616" y="5440680"/>
            <a:ext cx="7863840" cy="731520"/>
          </a:xfrm>
          <a:prstGeom prst="rect">
            <a:avLst/>
          </a:prstGeom>
          <a:noFill/>
        </p:spPr>
        <p:txBody>
          <a:bodyPr wrap="square" anchor="t" lIns="0" rIns="0" tIns="0" bIns="0">
            <a:spAutoFit/>
          </a:bodyPr>
          <a:lstStyle/>
          <a:p>
            <a:pPr algn="l">
              <a:spcAft>
                <a:spcPts val="400"/>
              </a:spcAft>
            </a:pPr>
            <a:r>
              <a:rPr sz="1200" b="0" i="0">
                <a:solidFill>
                  <a:srgbClr val="575756"/>
                </a:solidFill>
              </a:rPr>
              <a:t>Part of the right-but-unfaithful effect is mechanical: sentences that restate the input are not in the passages, so the judge marks them unsupported. That is how RAGAS is defined.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 an artefact of the cut-off</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Share of wrong answers that still pass as faithful as the threshold rises</a:t>
            </a:r>
          </a:p>
        </p:txBody>
      </p:sp>
      <p:graphicFrame>
        <p:nvGraphicFramePr>
          <p:cNvPr id="8" name="Chart 7"/>
          <p:cNvGraphicFramePr>
            <a:graphicFrameLocks noGrp="1"/>
          </p:cNvGraphicFramePr>
          <p:nvPr/>
        </p:nvGraphicFramePr>
        <p:xfrm>
          <a:off x="356616" y="1828800"/>
          <a:ext cx="6949440" cy="4297680"/>
        </p:xfrm>
        <a:graphic>
          <a:graphicData uri="http://schemas.openxmlformats.org/drawingml/2006/chart">
            <c:chart xmlns:c="http://schemas.openxmlformats.org/drawingml/2006/chart" r:id="rId3"/>
          </a:graphicData>
        </a:graphic>
      </p:graphicFrame>
      <p:sp>
        <p:nvSpPr>
          <p:cNvPr id="9" name="TextBox 8"/>
          <p:cNvSpPr txBox="1"/>
          <p:nvPr/>
        </p:nvSpPr>
        <p:spPr>
          <a:xfrm>
            <a:off x="7772400" y="1920240"/>
            <a:ext cx="3749039" cy="594360"/>
          </a:xfrm>
          <a:prstGeom prst="rect">
            <a:avLst/>
          </a:prstGeom>
          <a:noFill/>
        </p:spPr>
        <p:txBody>
          <a:bodyPr wrap="square" anchor="t" lIns="0" rIns="0" tIns="0" bIns="0">
            <a:spAutoFit/>
          </a:bodyPr>
          <a:lstStyle/>
          <a:p>
            <a:pPr algn="l">
              <a:spcAft>
                <a:spcPts val="400"/>
              </a:spcAft>
            </a:pPr>
            <a:r>
              <a:rPr sz="3400" b="1" i="0">
                <a:solidFill>
                  <a:srgbClr val="DF4807"/>
                </a:solidFill>
              </a:rPr>
              <a:t>7</a:t>
            </a:r>
          </a:p>
        </p:txBody>
      </p:sp>
      <p:sp>
        <p:nvSpPr>
          <p:cNvPr id="10" name="TextBox 9"/>
          <p:cNvSpPr txBox="1"/>
          <p:nvPr/>
        </p:nvSpPr>
        <p:spPr>
          <a:xfrm>
            <a:off x="7772400" y="2542032"/>
            <a:ext cx="3749039" cy="685800"/>
          </a:xfrm>
          <a:prstGeom prst="rect">
            <a:avLst/>
          </a:prstGeom>
          <a:noFill/>
        </p:spPr>
        <p:txBody>
          <a:bodyPr wrap="square" anchor="t" lIns="0" rIns="0" tIns="0" bIns="0">
            <a:spAutoFit/>
          </a:bodyPr>
          <a:lstStyle/>
          <a:p>
            <a:pPr algn="l">
              <a:spcAft>
                <a:spcPts val="400"/>
              </a:spcAft>
            </a:pPr>
            <a:r>
              <a:rPr sz="1200" b="0" i="0">
                <a:solidFill>
                  <a:srgbClr val="575756"/>
                </a:solidFill>
              </a:rPr>
              <a:t>agent errors still count as faithful at a strict cut of 0.7</a:t>
            </a:r>
          </a:p>
        </p:txBody>
      </p:sp>
      <p:sp>
        <p:nvSpPr>
          <p:cNvPr id="11" name="TextBox 10"/>
          <p:cNvSpPr txBox="1"/>
          <p:nvPr/>
        </p:nvSpPr>
        <p:spPr>
          <a:xfrm>
            <a:off x="7772400" y="3291840"/>
            <a:ext cx="3749039" cy="594360"/>
          </a:xfrm>
          <a:prstGeom prst="rect">
            <a:avLst/>
          </a:prstGeom>
          <a:noFill/>
        </p:spPr>
        <p:txBody>
          <a:bodyPr wrap="square" anchor="t" lIns="0" rIns="0" tIns="0" bIns="0">
            <a:spAutoFit/>
          </a:bodyPr>
          <a:lstStyle/>
          <a:p>
            <a:pPr algn="l">
              <a:spcAft>
                <a:spcPts val="400"/>
              </a:spcAft>
            </a:pPr>
            <a:r>
              <a:rPr sz="3400" b="1" i="0">
                <a:solidFill>
                  <a:srgbClr val="DF4807"/>
                </a:solidFill>
              </a:rPr>
              <a:t>1.00</a:t>
            </a:r>
          </a:p>
        </p:txBody>
      </p:sp>
      <p:sp>
        <p:nvSpPr>
          <p:cNvPr id="12" name="TextBox 11"/>
          <p:cNvSpPr txBox="1"/>
          <p:nvPr/>
        </p:nvSpPr>
        <p:spPr>
          <a:xfrm>
            <a:off x="7772400" y="3913632"/>
            <a:ext cx="3749039" cy="685800"/>
          </a:xfrm>
          <a:prstGeom prst="rect">
            <a:avLst/>
          </a:prstGeom>
          <a:noFill/>
        </p:spPr>
        <p:txBody>
          <a:bodyPr wrap="square" anchor="t" lIns="0" rIns="0" tIns="0" bIns="0">
            <a:spAutoFit/>
          </a:bodyPr>
          <a:lstStyle/>
          <a:p>
            <a:pPr algn="l">
              <a:spcAft>
                <a:spcPts val="400"/>
              </a:spcAft>
            </a:pPr>
            <a:r>
              <a:rPr sz="1200" b="0" i="0">
                <a:solidFill>
                  <a:srgbClr val="575756"/>
                </a:solidFill>
              </a:rPr>
              <a:t>perfect faithfulness score on a wrong answer (input 207)</a:t>
            </a:r>
          </a:p>
        </p:txBody>
      </p:sp>
      <p:sp>
        <p:nvSpPr>
          <p:cNvPr id="13" name="TextBox 12"/>
          <p:cNvSpPr txBox="1"/>
          <p:nvPr/>
        </p:nvSpPr>
        <p:spPr>
          <a:xfrm>
            <a:off x="7772400" y="4709160"/>
            <a:ext cx="3749039" cy="1188720"/>
          </a:xfrm>
          <a:prstGeom prst="rect">
            <a:avLst/>
          </a:prstGeom>
          <a:noFill/>
        </p:spPr>
        <p:txBody>
          <a:bodyPr wrap="square" anchor="t" lIns="0" rIns="0" tIns="0" bIns="0">
            <a:spAutoFit/>
          </a:bodyPr>
          <a:lstStyle/>
          <a:p>
            <a:pPr algn="l">
              <a:spcAft>
                <a:spcPts val="400"/>
              </a:spcAft>
            </a:pPr>
            <a:r>
              <a:rPr sz="1200" b="0" i="0">
                <a:solidFill>
                  <a:srgbClr val="575756"/>
                </a:solidFill>
              </a:rPr>
              <a:t>Threshold-free measures (AUC, correlation) are reported alongside, so the finding does not rest on one cut.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the wrong answers look grounded</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1325880"/>
            <a:ext cx="10972800" cy="365760"/>
          </a:xfrm>
          <a:prstGeom prst="rect">
            <a:avLst/>
          </a:prstGeom>
          <a:noFill/>
        </p:spPr>
        <p:txBody>
          <a:bodyPr wrap="square" anchor="t" lIns="0" rIns="0" tIns="0" bIns="0">
            <a:spAutoFit/>
          </a:bodyPr>
          <a:lstStyle/>
          <a:p>
            <a:pPr algn="l">
              <a:spcAft>
                <a:spcPts val="400"/>
              </a:spcAft>
            </a:pPr>
            <a:r>
              <a:rPr sz="1600" b="0" i="0">
                <a:solidFill>
                  <a:srgbClr val="575756"/>
                </a:solidFill>
              </a:rPr>
              <a:t>All 17 faithful-but-wrong agent answers read and categorised</a:t>
            </a:r>
          </a:p>
        </p:txBody>
      </p:sp>
      <p:graphicFrame>
        <p:nvGraphicFramePr>
          <p:cNvPr id="8" name="Chart 7"/>
          <p:cNvGraphicFramePr>
            <a:graphicFrameLocks noGrp="1"/>
          </p:cNvGraphicFramePr>
          <p:nvPr/>
        </p:nvGraphicFramePr>
        <p:xfrm>
          <a:off x="356616" y="1783080"/>
          <a:ext cx="5852160" cy="3017520"/>
        </p:xfrm>
        <a:graphic>
          <a:graphicData uri="http://schemas.openxmlformats.org/drawingml/2006/chart">
            <c:chart xmlns:c="http://schemas.openxmlformats.org/drawingml/2006/chart" r:id="rId3"/>
          </a:graphicData>
        </a:graphic>
      </p:graphicFrame>
      <p:sp>
        <p:nvSpPr>
          <p:cNvPr id="9" name="TextBox 8"/>
          <p:cNvSpPr txBox="1"/>
          <p:nvPr/>
        </p:nvSpPr>
        <p:spPr>
          <a:xfrm>
            <a:off x="356616" y="4892040"/>
            <a:ext cx="2743200" cy="594360"/>
          </a:xfrm>
          <a:prstGeom prst="rect">
            <a:avLst/>
          </a:prstGeom>
          <a:noFill/>
        </p:spPr>
        <p:txBody>
          <a:bodyPr wrap="square" anchor="t" lIns="0" rIns="0" tIns="0" bIns="0">
            <a:spAutoFit/>
          </a:bodyPr>
          <a:lstStyle/>
          <a:p>
            <a:pPr algn="l">
              <a:spcAft>
                <a:spcPts val="400"/>
              </a:spcAft>
            </a:pPr>
            <a:r>
              <a:rPr sz="3400" b="1" i="0">
                <a:solidFill>
                  <a:srgbClr val="DF4807"/>
                </a:solidFill>
              </a:rPr>
              <a:t>14 / 17</a:t>
            </a:r>
          </a:p>
        </p:txBody>
      </p:sp>
      <p:sp>
        <p:nvSpPr>
          <p:cNvPr id="10" name="TextBox 9"/>
          <p:cNvSpPr txBox="1"/>
          <p:nvPr/>
        </p:nvSpPr>
        <p:spPr>
          <a:xfrm>
            <a:off x="356616" y="5513831"/>
            <a:ext cx="2743200" cy="685800"/>
          </a:xfrm>
          <a:prstGeom prst="rect">
            <a:avLst/>
          </a:prstGeom>
          <a:noFill/>
        </p:spPr>
        <p:txBody>
          <a:bodyPr wrap="square" anchor="t" lIns="0" rIns="0" tIns="0" bIns="0">
            <a:spAutoFit/>
          </a:bodyPr>
          <a:lstStyle/>
          <a:p>
            <a:pPr algn="l">
              <a:spcAft>
                <a:spcPts val="400"/>
              </a:spcAft>
            </a:pPr>
            <a:r>
              <a:rPr sz="1200" b="0" i="0">
                <a:solidFill>
                  <a:srgbClr val="575756"/>
                </a:solidFill>
              </a:rPr>
              <a:t>had the correct guideline section retrieved</a:t>
            </a:r>
          </a:p>
        </p:txBody>
      </p:sp>
      <p:sp>
        <p:nvSpPr>
          <p:cNvPr id="11" name="TextBox 10"/>
          <p:cNvSpPr txBox="1"/>
          <p:nvPr/>
        </p:nvSpPr>
        <p:spPr>
          <a:xfrm>
            <a:off x="3291840" y="4892040"/>
            <a:ext cx="2926080" cy="594360"/>
          </a:xfrm>
          <a:prstGeom prst="rect">
            <a:avLst/>
          </a:prstGeom>
          <a:noFill/>
        </p:spPr>
        <p:txBody>
          <a:bodyPr wrap="square" anchor="t" lIns="0" rIns="0" tIns="0" bIns="0">
            <a:spAutoFit/>
          </a:bodyPr>
          <a:lstStyle/>
          <a:p>
            <a:pPr algn="l">
              <a:spcAft>
                <a:spcPts val="400"/>
              </a:spcAft>
            </a:pPr>
            <a:r>
              <a:rPr sz="3400" b="1" i="0">
                <a:solidFill>
                  <a:srgbClr val="DF4807"/>
                </a:solidFill>
              </a:rPr>
              <a:t>21 / 31</a:t>
            </a:r>
          </a:p>
        </p:txBody>
      </p:sp>
      <p:sp>
        <p:nvSpPr>
          <p:cNvPr id="12" name="TextBox 11"/>
          <p:cNvSpPr txBox="1"/>
          <p:nvPr/>
        </p:nvSpPr>
        <p:spPr>
          <a:xfrm>
            <a:off x="3291840" y="5513831"/>
            <a:ext cx="2926080" cy="685800"/>
          </a:xfrm>
          <a:prstGeom prst="rect">
            <a:avLst/>
          </a:prstGeom>
          <a:noFill/>
        </p:spPr>
        <p:txBody>
          <a:bodyPr wrap="square" anchor="t" lIns="0" rIns="0" tIns="0" bIns="0">
            <a:spAutoFit/>
          </a:bodyPr>
          <a:lstStyle/>
          <a:p>
            <a:pPr algn="l">
              <a:spcAft>
                <a:spcPts val="400"/>
              </a:spcAft>
            </a:pPr>
            <a:r>
              <a:rPr sz="1200" b="0" i="0">
                <a:solidFill>
                  <a:srgbClr val="575756"/>
                </a:solidFill>
              </a:rPr>
              <a:t>verdict statements judged 'supported'</a:t>
            </a:r>
          </a:p>
        </p:txBody>
      </p:sp>
      <p:sp>
        <p:nvSpPr>
          <p:cNvPr id="13" name="Rectangle 12"/>
          <p:cNvSpPr/>
          <p:nvPr/>
        </p:nvSpPr>
        <p:spPr>
          <a:xfrm>
            <a:off x="6583680" y="1783080"/>
            <a:ext cx="4937760" cy="434340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12280" y="1920240"/>
            <a:ext cx="4480560" cy="4114800"/>
          </a:xfrm>
          <a:prstGeom prst="rect">
            <a:avLst/>
          </a:prstGeom>
          <a:noFill/>
        </p:spPr>
        <p:txBody>
          <a:bodyPr wrap="square" anchor="t" lIns="0" rIns="0" tIns="0" bIns="0">
            <a:spAutoFit/>
          </a:bodyPr>
          <a:lstStyle/>
          <a:p>
            <a:pPr algn="l">
              <a:spcAft>
                <a:spcPts val="800"/>
              </a:spcAft>
            </a:pPr>
            <a:r>
              <a:rPr sz="1600" b="1" i="0">
                <a:solidFill>
                  <a:srgbClr val="DF4807"/>
                </a:solidFill>
              </a:rPr>
              <a:t>Case: input 207</a:t>
            </a:r>
          </a:p>
          <a:p>
            <a:pPr algn="l">
              <a:spcAft>
                <a:spcPts val="1000"/>
              </a:spcAft>
            </a:pPr>
            <a:r>
              <a:rPr sz="1300" b="0" i="0">
                <a:solidFill>
                  <a:srgbClr val="575756"/>
                </a:solidFill>
              </a:rPr>
              <a:t>A tool that pre-classifies incoming court cases by type.</a:t>
            </a:r>
          </a:p>
          <a:p>
            <a:pPr algn="l">
              <a:spcAft>
                <a:spcPts val="0"/>
              </a:spcAft>
            </a:pPr>
            <a:r>
              <a:rPr sz="1300" b="1" i="0">
                <a:solidFill>
                  <a:srgbClr val="575756"/>
                </a:solidFill>
              </a:rPr>
              <a:t>Agent: </a:t>
            </a:r>
          </a:p>
          <a:p>
            <a:pPr algn="l">
              <a:spcAft>
                <a:spcPts val="1000"/>
              </a:spcAft>
            </a:pPr>
            <a:r>
              <a:rPr sz="1300" b="0" i="0">
                <a:solidFill>
                  <a:srgbClr val="575756"/>
                </a:solidFill>
              </a:rPr>
              <a:t>places it under point 8(a), then asserts no Article 6(3) condition applies. Label: high-risk.</a:t>
            </a:r>
          </a:p>
          <a:p>
            <a:pPr algn="l">
              <a:spcAft>
                <a:spcPts val="0"/>
              </a:spcAft>
            </a:pPr>
            <a:r>
              <a:rPr sz="1300" b="1" i="0">
                <a:solidFill>
                  <a:srgbClr val="575756"/>
                </a:solidFill>
              </a:rPr>
              <a:t>Commission: </a:t>
            </a:r>
          </a:p>
          <a:p>
            <a:pPr algn="l">
              <a:spcAft>
                <a:spcPts val="1000"/>
              </a:spcAft>
            </a:pPr>
            <a:r>
              <a:rPr sz="1300" b="0" i="0">
                <a:solidFill>
                  <a:srgbClr val="575756"/>
                </a:solidFill>
              </a:rPr>
              <a:t>narrow procedural / preparatory task. Not high-risk.</a:t>
            </a:r>
          </a:p>
          <a:p>
            <a:pPr algn="l">
              <a:spcAft>
                <a:spcPts val="400"/>
              </a:spcAft>
            </a:pPr>
            <a:r>
              <a:rPr sz="1400" b="1" i="0">
                <a:solidFill>
                  <a:srgbClr val="DF4807"/>
                </a:solidFill>
              </a:rPr>
              <a:t>Faithfulness: 6 of 6 statements supported = 1.00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Text Placeholder 2"/>
          <p:cNvSpPr>
            <a:spLocks noGrp="1"/>
          </p:cNvSpPr>
          <p:nvPr>
            <p:ph type="body" idx="1"/>
          </p:nvPr>
        </p:nvSpPr>
        <p:spPr/>
        <p:txBody>
          <a:bodyPr/>
          <a:lstStyle/>
          <a:p>
            <a:r>
              <a:t>04</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findings</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Rectangle 6"/>
          <p:cNvSpPr/>
          <p:nvPr/>
        </p:nvSpPr>
        <p:spPr>
          <a:xfrm>
            <a:off x="356616" y="1463040"/>
            <a:ext cx="5440680" cy="210312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5216" y="169164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9" name="TextBox 8"/>
          <p:cNvSpPr txBox="1"/>
          <p:nvPr/>
        </p:nvSpPr>
        <p:spPr>
          <a:xfrm>
            <a:off x="1133856" y="169164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Faithfulness is not correctness</a:t>
            </a:r>
          </a:p>
        </p:txBody>
      </p:sp>
      <p:sp>
        <p:nvSpPr>
          <p:cNvPr id="10" name="TextBox 9"/>
          <p:cNvSpPr txBox="1"/>
          <p:nvPr/>
        </p:nvSpPr>
        <p:spPr>
          <a:xfrm>
            <a:off x="1133856" y="224028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For the agent, faithfulness is at chance level for spotting wrong labels (AUC 0.465). 17 of 31 errors pass as faithful.</a:t>
            </a:r>
          </a:p>
        </p:txBody>
      </p:sp>
      <p:sp>
        <p:nvSpPr>
          <p:cNvPr id="11" name="Rectangle 10"/>
          <p:cNvSpPr/>
          <p:nvPr/>
        </p:nvSpPr>
        <p:spPr>
          <a:xfrm>
            <a:off x="6025896" y="146304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254496" y="169164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13" name="TextBox 12"/>
          <p:cNvSpPr txBox="1"/>
          <p:nvPr/>
        </p:nvSpPr>
        <p:spPr>
          <a:xfrm>
            <a:off x="6803136" y="169164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Errors are application errors</a:t>
            </a:r>
          </a:p>
        </p:txBody>
      </p:sp>
      <p:sp>
        <p:nvSpPr>
          <p:cNvPr id="14" name="TextBox 13"/>
          <p:cNvSpPr txBox="1"/>
          <p:nvPr/>
        </p:nvSpPr>
        <p:spPr>
          <a:xfrm>
            <a:off x="6803136" y="224028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The right passage was retrieved in 14 of 17 cases; the model misapplied the rule, which RAGAS cannot see.</a:t>
            </a:r>
          </a:p>
        </p:txBody>
      </p:sp>
      <p:sp>
        <p:nvSpPr>
          <p:cNvPr id="15" name="Rectangle 14"/>
          <p:cNvSpPr/>
          <p:nvPr/>
        </p:nvSpPr>
        <p:spPr>
          <a:xfrm>
            <a:off x="356616" y="379476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85216" y="40233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7" name="TextBox 16"/>
          <p:cNvSpPr txBox="1"/>
          <p:nvPr/>
        </p:nvSpPr>
        <p:spPr>
          <a:xfrm>
            <a:off x="1133856" y="402336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Retrieval matters, prompt engineering did not</a:t>
            </a:r>
          </a:p>
        </p:txBody>
      </p:sp>
      <p:sp>
        <p:nvSpPr>
          <p:cNvPr id="18" name="TextBox 17"/>
          <p:cNvSpPr txBox="1"/>
          <p:nvPr/>
        </p:nvSpPr>
        <p:spPr>
          <a:xfrm>
            <a:off x="1133856" y="457200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RAG adds about 19 points over the plain model; the step-by-step agent is not better than a generic RAG prompt.</a:t>
            </a:r>
          </a:p>
        </p:txBody>
      </p:sp>
      <p:sp>
        <p:nvSpPr>
          <p:cNvPr id="19" name="Rectangle 18"/>
          <p:cNvSpPr/>
          <p:nvPr/>
        </p:nvSpPr>
        <p:spPr>
          <a:xfrm>
            <a:off x="6025896" y="3794760"/>
            <a:ext cx="5440680" cy="210312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254496" y="4023360"/>
            <a:ext cx="384048" cy="384048"/>
          </a:xfrm>
          <a:prstGeom prst="ellipse">
            <a:avLst/>
          </a:prstGeom>
          <a:solidFill>
            <a:srgbClr val="DF480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21" name="TextBox 20"/>
          <p:cNvSpPr txBox="1"/>
          <p:nvPr/>
        </p:nvSpPr>
        <p:spPr>
          <a:xfrm>
            <a:off x="6803136" y="4023360"/>
            <a:ext cx="4480560" cy="457200"/>
          </a:xfrm>
          <a:prstGeom prst="rect">
            <a:avLst/>
          </a:prstGeom>
          <a:noFill/>
        </p:spPr>
        <p:txBody>
          <a:bodyPr wrap="square" anchor="t" lIns="0" rIns="0" tIns="0" bIns="0">
            <a:spAutoFit/>
          </a:bodyPr>
          <a:lstStyle/>
          <a:p>
            <a:pPr algn="l">
              <a:spcAft>
                <a:spcPts val="400"/>
              </a:spcAft>
            </a:pPr>
            <a:r>
              <a:rPr sz="1600" b="1" i="0">
                <a:solidFill>
                  <a:srgbClr val="DF4807"/>
                </a:solidFill>
              </a:rPr>
              <a:t>Benchmarks from worked examples can leak</a:t>
            </a:r>
          </a:p>
        </p:txBody>
      </p:sp>
      <p:sp>
        <p:nvSpPr>
          <p:cNvPr id="22" name="TextBox 21"/>
          <p:cNvSpPr txBox="1"/>
          <p:nvPr/>
        </p:nvSpPr>
        <p:spPr>
          <a:xfrm>
            <a:off x="6803136" y="4572000"/>
            <a:ext cx="4480560" cy="1234440"/>
          </a:xfrm>
          <a:prstGeom prst="rect">
            <a:avLst/>
          </a:prstGeom>
          <a:noFill/>
        </p:spPr>
        <p:txBody>
          <a:bodyPr wrap="square" anchor="t" lIns="0" rIns="0" tIns="0" bIns="0">
            <a:spAutoFit/>
          </a:bodyPr>
          <a:lstStyle/>
          <a:p>
            <a:pPr algn="l">
              <a:spcAft>
                <a:spcPts val="400"/>
              </a:spcAft>
            </a:pPr>
            <a:r>
              <a:rPr sz="1300" b="0" i="0">
                <a:solidFill>
                  <a:srgbClr val="575756"/>
                </a:solidFill>
              </a:rPr>
              <a:t>The verdict text inflated accuracy by up to 15 points and flipped the ranking of the two best systems.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 and future work</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Rectangle 6"/>
          <p:cNvSpPr/>
          <p:nvPr/>
        </p:nvSpPr>
        <p:spPr>
          <a:xfrm>
            <a:off x="356616" y="1463040"/>
            <a:ext cx="5440680" cy="3840480"/>
          </a:xfrm>
          <a:prstGeom prst="rect">
            <a:avLst/>
          </a:prstGeom>
          <a:solidFill>
            <a:srgbClr val="F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025896" y="1463040"/>
            <a:ext cx="5440680" cy="3840480"/>
          </a:xfrm>
          <a:prstGeom prst="rect">
            <a:avLst/>
          </a:prstGeom>
          <a:solidFill>
            <a:srgbClr val="FBE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85216" y="1645920"/>
            <a:ext cx="5029200" cy="411480"/>
          </a:xfrm>
          <a:prstGeom prst="rect">
            <a:avLst/>
          </a:prstGeom>
          <a:noFill/>
        </p:spPr>
        <p:txBody>
          <a:bodyPr wrap="square" anchor="t" lIns="0" rIns="0" tIns="0" bIns="0">
            <a:spAutoFit/>
          </a:bodyPr>
          <a:lstStyle/>
          <a:p>
            <a:pPr algn="l">
              <a:spcAft>
                <a:spcPts val="400"/>
              </a:spcAft>
            </a:pPr>
            <a:r>
              <a:rPr sz="1800" b="1" i="0">
                <a:solidFill>
                  <a:srgbClr val="575756"/>
                </a:solidFill>
              </a:rPr>
              <a:t>Limitations</a:t>
            </a:r>
          </a:p>
        </p:txBody>
      </p:sp>
      <p:sp>
        <p:nvSpPr>
          <p:cNvPr id="10" name="TextBox 9"/>
          <p:cNvSpPr txBox="1"/>
          <p:nvPr/>
        </p:nvSpPr>
        <p:spPr>
          <a:xfrm>
            <a:off x="585216" y="2194560"/>
            <a:ext cx="5029200" cy="3749039"/>
          </a:xfrm>
          <a:prstGeom prst="rect">
            <a:avLst/>
          </a:prstGeom>
          <a:noFill/>
        </p:spPr>
        <p:txBody>
          <a:bodyPr wrap="square" anchor="t" lIns="0" rIns="0" tIns="0" bIns="0">
            <a:spAutoFit/>
          </a:bodyPr>
          <a:lstStyle/>
          <a:p>
            <a:pPr algn="l" marL="228600" indent="-228600">
              <a:spcAft>
                <a:spcPts val="800"/>
              </a:spcAft>
              <a:buChar char="–"/>
            </a:pPr>
            <a:r>
              <a:rPr sz="1350" b="0" i="0">
                <a:solidFill>
                  <a:srgbClr val="575756"/>
                </a:solidFill>
              </a:rPr>
              <a:t>One generator and one judge; results may depend on these models</a:t>
            </a:r>
          </a:p>
          <a:p>
            <a:pPr algn="l" marL="228600" indent="-228600">
              <a:spcAft>
                <a:spcPts val="800"/>
              </a:spcAft>
              <a:buChar char="–"/>
            </a:pPr>
            <a:r>
              <a:rPr sz="1350" b="0" i="0">
                <a:solidFill>
                  <a:srgbClr val="575756"/>
                </a:solidFill>
              </a:rPr>
              <a:t>Single annotator for redaction review and error categories</a:t>
            </a:r>
          </a:p>
          <a:p>
            <a:pPr algn="l" marL="228600" indent="-228600">
              <a:spcAft>
                <a:spcPts val="800"/>
              </a:spcAft>
              <a:buChar char="–"/>
            </a:pPr>
            <a:r>
              <a:rPr sz="1350" b="0" i="0">
                <a:solidFill>
                  <a:srgbClr val="575756"/>
                </a:solidFill>
              </a:rPr>
              <a:t>About 20 inputs still describe the legal test without stating the label</a:t>
            </a:r>
          </a:p>
          <a:p>
            <a:pPr algn="l" marL="228600" indent="-228600">
              <a:spcAft>
                <a:spcPts val="800"/>
              </a:spcAft>
              <a:buChar char="–"/>
            </a:pPr>
            <a:r>
              <a:rPr sz="1350" b="0" i="0">
                <a:solidFill>
                  <a:srgbClr val="575756"/>
                </a:solidFill>
              </a:rPr>
              <a:t>26 and 31 wrong answers: wide confidence intervals</a:t>
            </a:r>
          </a:p>
          <a:p>
            <a:pPr algn="l" marL="228600" indent="-228600">
              <a:spcAft>
                <a:spcPts val="800"/>
              </a:spcAft>
              <a:buChar char="–"/>
            </a:pPr>
            <a:r>
              <a:rPr sz="1350" b="0" i="0">
                <a:solidFill>
                  <a:srgbClr val="575756"/>
                </a:solidFill>
              </a:rPr>
              <a:t>Commission examples are cleaner than real product descriptions</a:t>
            </a:r>
          </a:p>
        </p:txBody>
      </p:sp>
      <p:sp>
        <p:nvSpPr>
          <p:cNvPr id="11" name="TextBox 10"/>
          <p:cNvSpPr txBox="1"/>
          <p:nvPr/>
        </p:nvSpPr>
        <p:spPr>
          <a:xfrm>
            <a:off x="6254496" y="1645920"/>
            <a:ext cx="5029200" cy="411480"/>
          </a:xfrm>
          <a:prstGeom prst="rect">
            <a:avLst/>
          </a:prstGeom>
          <a:noFill/>
        </p:spPr>
        <p:txBody>
          <a:bodyPr wrap="square" anchor="t" lIns="0" rIns="0" tIns="0" bIns="0">
            <a:spAutoFit/>
          </a:bodyPr>
          <a:lstStyle/>
          <a:p>
            <a:pPr algn="l">
              <a:spcAft>
                <a:spcPts val="400"/>
              </a:spcAft>
            </a:pPr>
            <a:r>
              <a:rPr sz="1800" b="1" i="0">
                <a:solidFill>
                  <a:srgbClr val="DF4807"/>
                </a:solidFill>
              </a:rPr>
              <a:t>Future work</a:t>
            </a:r>
          </a:p>
        </p:txBody>
      </p:sp>
      <p:sp>
        <p:nvSpPr>
          <p:cNvPr id="12" name="TextBox 11"/>
          <p:cNvSpPr txBox="1"/>
          <p:nvPr/>
        </p:nvSpPr>
        <p:spPr>
          <a:xfrm>
            <a:off x="6254496" y="2194560"/>
            <a:ext cx="5029200" cy="3749039"/>
          </a:xfrm>
          <a:prstGeom prst="rect">
            <a:avLst/>
          </a:prstGeom>
          <a:noFill/>
        </p:spPr>
        <p:txBody>
          <a:bodyPr wrap="square" anchor="t" lIns="0" rIns="0" tIns="0" bIns="0">
            <a:spAutoFit/>
          </a:bodyPr>
          <a:lstStyle/>
          <a:p>
            <a:pPr algn="l" marL="228600" indent="-228600">
              <a:spcAft>
                <a:spcPts val="800"/>
              </a:spcAft>
              <a:buChar char="–"/>
            </a:pPr>
            <a:r>
              <a:rPr sz="1350" b="0" i="0">
                <a:solidFill>
                  <a:srgbClr val="575756"/>
                </a:solidFill>
              </a:rPr>
              <a:t>A second, stronger generator, including a closed commercial model, on the same redacted inputs</a:t>
            </a:r>
          </a:p>
          <a:p>
            <a:pPr algn="l" marL="228600" indent="-228600">
              <a:spcAft>
                <a:spcPts val="800"/>
              </a:spcAft>
              <a:buChar char="–"/>
            </a:pPr>
            <a:r>
              <a:rPr sz="1350" b="0" i="0">
                <a:solidFill>
                  <a:srgbClr val="575756"/>
                </a:solidFill>
              </a:rPr>
              <a:t>A second annotator and inter-annotator agreement</a:t>
            </a:r>
          </a:p>
          <a:p>
            <a:pPr algn="l" marL="228600" indent="-228600">
              <a:spcAft>
                <a:spcPts val="800"/>
              </a:spcAft>
              <a:buChar char="–"/>
            </a:pPr>
            <a:r>
              <a:rPr sz="1350" b="0" i="0">
                <a:solidFill>
                  <a:srgbClr val="575756"/>
                </a:solidFill>
              </a:rPr>
              <a:t>Realistic product descriptions labelled against the guidelines</a:t>
            </a:r>
          </a:p>
          <a:p>
            <a:pPr algn="l" marL="228600" indent="-228600">
              <a:spcAft>
                <a:spcPts val="800"/>
              </a:spcAft>
              <a:buChar char="–"/>
            </a:pPr>
            <a:r>
              <a:rPr sz="1350" b="0" i="0">
                <a:solidFill>
                  <a:srgbClr val="575756"/>
                </a:solidFill>
              </a:rPr>
              <a:t>A correctness-aware check: does the conclusion follow from the retrieved rule and the stated facts?</a:t>
            </a:r>
          </a:p>
          <a:p>
            <a:pPr algn="l" marL="228600" indent="-228600">
              <a:spcAft>
                <a:spcPts val="800"/>
              </a:spcAft>
              <a:buChar char="–"/>
            </a:pPr>
            <a:r>
              <a:rPr sz="1350" b="0" i="0">
                <a:solidFill>
                  <a:srgbClr val="575756"/>
                </a:solidFill>
              </a:rPr>
              <a:t>Extension towards a thesis or paper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A high faithfulness score says almost nothing about whether a legal classification is right.</a:t>
            </a:r>
          </a:p>
          <a:p>
            <a:r>
              <a:t/>
            </a:r>
          </a:p>
          <a:p>
            <a:r>
              <a:t>Thank you. Questions?</a:t>
            </a:r>
          </a:p>
          <a:p>
            <a:r>
              <a:t>Danke für Ihre Aufmerksamkeit!</a:t>
            </a:r>
          </a:p>
        </p:txBody>
      </p:sp>
      <p:sp>
        <p:nvSpPr>
          <p:cNvPr id="4" name="Datumsplatzhalter 3"/>
          <p:cNvSpPr>
            <a:spLocks noGrp="1"/>
          </p:cNvSpPr>
          <p:nvPr>
            <p:ph type="dt" sz="half" idx="10"/>
          </p:nvPr>
        </p:nvSpPr>
        <p:spPr/>
        <p:txBody>
          <a:bodyPr/>
          <a:lstStyle/>
          <a:p>
            <a:fld id="{F10EDF90-6C91-9C49-9EDC-F791C9CEFB17}" type="datetime1">
              <a:rPr lang="de-DE" smtClean="0"/>
              <a:t>29.09.26</a:t>
            </a:fld>
            <a:endParaRPr lang="de-DE"/>
          </a:p>
        </p:txBody>
      </p:sp>
      <p:sp>
        <p:nvSpPr>
          <p:cNvPr id="5" name="Fußzeilenplatzhalter 4"/>
          <p:cNvSpPr>
            <a:spLocks noGrp="1"/>
          </p:cNvSpPr>
          <p:nvPr>
            <p:ph type="ftr" sz="quarter" idx="11"/>
          </p:nvPr>
        </p:nvSpPr>
        <p:spPr/>
        <p:txBody>
          <a:bodyPr/>
          <a:lstStyle/>
          <a:p>
            <a:r>
              <a:rPr lang="de-DE" dirty="0">
                <a:sym typeface="+mn-ea"/>
              </a:rPr>
              <a:t>SRH Hochschule Heidelberg – Case Study 2, Data Science and Analytics</a:t>
            </a:r>
            <a:endParaRPr lang="de-DE" dirty="0"/>
          </a:p>
        </p:txBody>
      </p:sp>
      <p:sp>
        <p:nvSpPr>
          <p:cNvPr id="6" name="Foliennummernplatzhalter 5"/>
          <p:cNvSpPr>
            <a:spLocks noGrp="1"/>
          </p:cNvSpPr>
          <p:nvPr>
            <p:ph type="sldNum" sz="quarter" idx="12"/>
          </p:nvPr>
        </p:nvSpPr>
        <p:spPr/>
        <p:txBody>
          <a:bodyPr/>
          <a:lstStyle/>
          <a:p>
            <a:fld id="{075B144D-941B-4DFC-AF5F-0416193D12EC}" type="slidenum">
              <a:rPr lang="de-DE" smtClean="0"/>
              <a:t>3</a:t>
            </a:fld>
            <a:endParaRPr lang="de-DE"/>
          </a:p>
        </p:txBody>
      </p:sp>
      <p:sp>
        <p:nvSpPr>
          <p:cNvPr id="7" name="TextBox 6"/>
          <p:cNvSpPr txBox="1"/>
          <p:nvPr/>
        </p:nvSpPr>
        <p:spPr>
          <a:xfrm>
            <a:off x="356616" y="5806440"/>
            <a:ext cx="7315200" cy="365760"/>
          </a:xfrm>
          <a:prstGeom prst="rect">
            <a:avLst/>
          </a:prstGeom>
          <a:noFill/>
        </p:spPr>
        <p:txBody>
          <a:bodyPr wrap="square" anchor="t" lIns="0" rIns="0" tIns="0" bIns="0">
            <a:spAutoFit/>
          </a:bodyPr>
          <a:lstStyle/>
          <a:p>
            <a:pPr algn="l">
              <a:spcAft>
                <a:spcPts val="400"/>
              </a:spcAft>
            </a:pPr>
            <a:r>
              <a:rPr sz="1200" b="0" i="0">
                <a:solidFill>
                  <a:srgbClr val="FFFFFF"/>
                </a:solidFill>
              </a:rPr>
              <a:t>github.com/rahulrawat20022002/case_study2</a:t>
            </a:r>
          </a:p>
        </p:txBody>
      </p:sp>
    </p:spTree>
  </p:cSld>
  <p:clrMapOvr>
    <a:masterClrMapping/>
  </p:clrMapOvr>
</p:sld>
</file>

<file path=ppt/theme/theme1.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SRH">
  <a:themeElements>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fontScheme name="SR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RH Bildung">
        <a:dk1>
          <a:srgbClr val="575756"/>
        </a:dk1>
        <a:lt1>
          <a:sysClr val="window" lastClr="FFFFFF"/>
        </a:lt1>
        <a:dk2>
          <a:srgbClr val="00699A"/>
        </a:dk2>
        <a:lt2>
          <a:srgbClr val="AAA39D"/>
        </a:lt2>
        <a:accent1>
          <a:srgbClr val="DF4807"/>
        </a:accent1>
        <a:accent2>
          <a:srgbClr val="AAA39D"/>
        </a:accent2>
        <a:accent3>
          <a:srgbClr val="FCC61E"/>
        </a:accent3>
        <a:accent4>
          <a:srgbClr val="35B4A0"/>
        </a:accent4>
        <a:accent5>
          <a:srgbClr val="CA007F"/>
        </a:accent5>
        <a:accent6>
          <a:srgbClr val="021E3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Gesundheit">
        <a:dk1>
          <a:srgbClr val="575756"/>
        </a:dk1>
        <a:lt1>
          <a:sysClr val="window" lastClr="FFFFFF"/>
        </a:lt1>
        <a:dk2>
          <a:srgbClr val="35B4A0"/>
        </a:dk2>
        <a:lt2>
          <a:srgbClr val="AAA39D"/>
        </a:lt2>
        <a:accent1>
          <a:srgbClr val="00699A"/>
        </a:accent1>
        <a:accent2>
          <a:srgbClr val="CA007F"/>
        </a:accent2>
        <a:accent3>
          <a:srgbClr val="78C8D2"/>
        </a:accent3>
        <a:accent4>
          <a:srgbClr val="0D3A5D"/>
        </a:accent4>
        <a:accent5>
          <a:srgbClr val="DF4807"/>
        </a:accent5>
        <a:accent6>
          <a:srgbClr val="FCC61E"/>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Holding">
        <a:dk1>
          <a:srgbClr val="575756"/>
        </a:dk1>
        <a:lt1>
          <a:sysClr val="window" lastClr="FFFFFF"/>
        </a:lt1>
        <a:dk2>
          <a:srgbClr val="00699A"/>
        </a:dk2>
        <a:lt2>
          <a:srgbClr val="AAA39D"/>
        </a:lt2>
        <a:accent1>
          <a:srgbClr val="AAA39D"/>
        </a:accent1>
        <a:accent2>
          <a:srgbClr val="DF4807"/>
        </a:accent2>
        <a:accent3>
          <a:srgbClr val="575756"/>
        </a:accent3>
        <a:accent4>
          <a:srgbClr val="FCC61E"/>
        </a:accent4>
        <a:accent5>
          <a:srgbClr val="78C8D2"/>
        </a:accent5>
        <a:accent6>
          <a:srgbClr val="0D3A5D"/>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SRH ServicePartner">
        <a:dk1>
          <a:srgbClr val="575756"/>
        </a:dk1>
        <a:lt1>
          <a:sysClr val="window" lastClr="FFFFFF"/>
        </a:lt1>
        <a:dk2>
          <a:srgbClr val="9C0C35"/>
        </a:dk2>
        <a:lt2>
          <a:srgbClr val="AAA39D"/>
        </a:lt2>
        <a:accent1>
          <a:srgbClr val="AAA39D"/>
        </a:accent1>
        <a:accent2>
          <a:srgbClr val="35B4A0"/>
        </a:accent2>
        <a:accent3>
          <a:srgbClr val="575756"/>
        </a:accent3>
        <a:accent4>
          <a:srgbClr val="0D3A5D"/>
        </a:accent4>
        <a:accent5>
          <a:srgbClr val="DF4807"/>
        </a:accent5>
        <a:accent6>
          <a:srgbClr val="00699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custClrLst>
    <a:custClr name="SRH ORANGE">
      <a:srgbClr val="DF4807"/>
    </a:custClr>
    <a:custClr name="SRH WARM GREY">
      <a:srgbClr val="AAA39D"/>
    </a:custClr>
    <a:custClr name="SRH BLUE">
      <a:srgbClr val="00699A"/>
    </a:custClr>
    <a:custClr name="SRH SUN YELLOW">
      <a:srgbClr val="FCC61E"/>
    </a:custClr>
    <a:custClr name="SRH Fresh Mint">
      <a:srgbClr val="35B4A0"/>
    </a:custClr>
    <a:custClr name="SRH SWEET BERRY">
      <a:srgbClr val="CA007F"/>
    </a:custClr>
    <a:custClr name="WHITE">
      <a:srgbClr val="FFFFFF"/>
    </a:custClr>
    <a:custClr name="WHITE ">
      <a:srgbClr val="FFFFFF"/>
    </a:custClr>
    <a:custClr name="WHITE ">
      <a:srgbClr val="FFFFFF"/>
    </a:custClr>
    <a:custClr name="WHITE ">
      <a:srgbClr val="FFFFFF"/>
    </a:custClr>
    <a:custClr name="SRH PASSION RED">
      <a:srgbClr val="9C0C35"/>
    </a:custClr>
    <a:custClr name="SRH SMOKEY BLACK">
      <a:srgbClr val="575756"/>
    </a:custClr>
    <a:custClr name="SRH CALM OCEAN">
      <a:srgbClr val="78C8D2"/>
    </a:custClr>
    <a:custClr name="SRH MIDNIGHT BLUE">
      <a:srgbClr val="0D3A5D"/>
    </a:custClr>
    <a:custClr name="SRH DEEP BLUE">
      <a:srgbClr val="021E30"/>
    </a:custClr>
    <a:custClr name=" SRH Text ">
      <a:srgbClr val="575756"/>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33C054C8DA11F43B02CF1EC776FFAE3" ma:contentTypeVersion="2" ma:contentTypeDescription="Create a new document." ma:contentTypeScope="" ma:versionID="7a862a8188323a205a07e3503c6d0dc2">
  <xsd:schema xmlns:xsd="http://www.w3.org/2001/XMLSchema" xmlns:xs="http://www.w3.org/2001/XMLSchema" xmlns:p="http://schemas.microsoft.com/office/2006/metadata/properties" xmlns:ns2="5380ca77-ba03-4814-ba4f-2b8d3e44ca01" targetNamespace="http://schemas.microsoft.com/office/2006/metadata/properties" ma:root="true" ma:fieldsID="85684b047219332adb99588f30d95774" ns2:_="">
    <xsd:import namespace="5380ca77-ba03-4814-ba4f-2b8d3e44ca01"/>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80ca77-ba03-4814-ba4f-2b8d3e44ca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382F6F-1B5A-4B4A-AD6C-9EE81B138641}">
  <ds:schemaRefs/>
</ds:datastoreItem>
</file>

<file path=customXml/itemProps2.xml><?xml version="1.0" encoding="utf-8"?>
<ds:datastoreItem xmlns:ds="http://schemas.openxmlformats.org/officeDocument/2006/customXml" ds:itemID="{7CAAC9F2-EE4B-45FD-BCDE-91AA82334966}">
  <ds:schemaRefs/>
</ds:datastoreItem>
</file>

<file path=customXml/itemProps3.xml><?xml version="1.0" encoding="utf-8"?>
<ds:datastoreItem xmlns:ds="http://schemas.openxmlformats.org/officeDocument/2006/customXml" ds:itemID="{778990AA-0848-43A4-81EB-1FF437CC311F}">
  <ds:schemaRefs/>
</ds:datastoreItem>
</file>

<file path=docProps/app.xml><?xml version="1.0" encoding="utf-8"?>
<Properties xmlns="http://schemas.openxmlformats.org/officeDocument/2006/extended-properties" xmlns:vt="http://schemas.openxmlformats.org/officeDocument/2006/docPropsVTypes">
  <TotalTime>12</TotalTime>
  <Words>614</Words>
  <Application>Microsoft Macintosh PowerPoint</Application>
  <PresentationFormat>Widescreen</PresentationFormat>
  <Paragraphs>86</Paragraphs>
  <Slides>21</Slides>
  <Notes>2</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21</vt:i4>
      </vt:variant>
    </vt:vector>
  </HeadingPairs>
  <TitlesOfParts>
    <vt:vector size="33" baseType="lpstr">
      <vt:lpstr>SRH Headline</vt:lpstr>
      <vt:lpstr>SRH Text</vt:lpstr>
      <vt:lpstr>Calibri</vt:lpstr>
      <vt:lpstr>Arial</vt:lpstr>
      <vt:lpstr>SRH</vt:lpstr>
      <vt:lpstr>SRH</vt:lpstr>
      <vt:lpstr>1_SRH</vt:lpstr>
      <vt:lpstr>2_SRH</vt:lpstr>
      <vt:lpstr>3_SRH</vt:lpstr>
      <vt:lpstr>4_SRH</vt:lpstr>
      <vt:lpstr>5_SRH</vt:lpstr>
      <vt:lpstr>SRH</vt:lpstr>
      <vt:lpstr>PowerPoint Presentation</vt:lpstr>
      <vt:lpstr>PowerPoint Presentation</vt:lpstr>
      <vt:lpstr>Brief Overview</vt:lpstr>
      <vt:lpstr>PowerPoint Presentation</vt:lpstr>
      <vt:lpstr>Why Pose Classification for Yoga?</vt:lpstr>
      <vt:lpstr>PowerPoint Presentation</vt:lpstr>
      <vt:lpstr>Technology Stack</vt:lpstr>
      <vt:lpstr>PowerPoint Presentation</vt:lpstr>
      <vt:lpstr> Data Collection and Labeling</vt:lpstr>
      <vt:lpstr>PowerPoint Presentation</vt:lpstr>
      <vt:lpstr>PowerPoint Presentation</vt:lpstr>
      <vt:lpstr>Model Training (Training the Pose Classifier)</vt:lpstr>
      <vt:lpstr>PowerPoint Presentation</vt:lpstr>
      <vt:lpstr>Real-Time Yoga Pose Classification in Action</vt:lpstr>
      <vt:lpstr>Real-Time Yoga Pose Reggression in Action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Henrike Voelker</dc:creator>
  <cp:lastModifiedBy>Rawat, Rahul (Stud SRH-University)</cp:lastModifiedBy>
  <cp:revision>366</cp:revision>
  <dcterms:created xsi:type="dcterms:W3CDTF">2020-06-05T16:20:00Z</dcterms:created>
  <dcterms:modified xsi:type="dcterms:W3CDTF">2026-09-29T00:27:14Z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0x010100333C054C8DA11F43B02CF1EC776FFAE3</vt:lpwstr>
  </property>
  <property fmtid="{D5CDD505-2E9C-101B-9397-08002B2CF9AE}" pid="3" name="ICV">
    <vt:lpwstr>B58A8B18B9A443019F592B4D8E702B9F_12</vt:lpwstr>
  </property>
  <property fmtid="{D5CDD505-2E9C-101B-9397-08002B2CF9AE}" pid="4" name="KSOProductBuildVer">
    <vt:lpwstr>2057-12.2.0.21936</vt:lpwstr>
  </property>
</Properties>
</file>