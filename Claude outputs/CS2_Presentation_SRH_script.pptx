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media/image1.svg" ContentType="image/svg+xml"/>
  <Override PartName="/ppt/media/image2.svg" ContentType="image/svg+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 id="2147483672" r:id="rId5"/>
    <p:sldMasterId id="2147483696" r:id="rId6"/>
    <p:sldMasterId id="2147483720" r:id="rId7"/>
    <p:sldMasterId id="2147483744" r:id="rId8"/>
    <p:sldMasterId id="2147483768" r:id="rId9"/>
    <p:sldMasterId id="2147483792" r:id="rId10"/>
  </p:sldMasterIdLst>
  <p:notesMasterIdLst>
    <p:notesMasterId r:id="rId32"/>
  </p:notesMasterIdLst>
  <p:sldIdLst>
    <p:sldId id="307" r:id="rId11"/>
    <p:sldId id="477" r:id="rId44"/>
    <p:sldId id="478" r:id="rId45"/>
    <p:sldId id="479" r:id="rId46"/>
    <p:sldId id="480" r:id="rId47"/>
    <p:sldId id="481" r:id="rId48"/>
    <p:sldId id="482" r:id="rId49"/>
    <p:sldId id="483" r:id="rId50"/>
    <p:sldId id="484" r:id="rId51"/>
    <p:sldId id="485" r:id="rId52"/>
    <p:sldId id="486" r:id="rId53"/>
    <p:sldId id="487" r:id="rId54"/>
    <p:sldId id="488" r:id="rId55"/>
    <p:sldId id="489" r:id="rId56"/>
    <p:sldId id="490" r:id="rId57"/>
    <p:sldId id="491" r:id="rId58"/>
    <p:sldId id="492" r:id="rId59"/>
    <p:sldId id="493" r:id="rId60"/>
    <p:sldId id="494" r:id="rId61"/>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1" userDrawn="1">
          <p15:clr>
            <a:srgbClr val="A4A3A4"/>
          </p15:clr>
        </p15:guide>
        <p15:guide id="2" pos="3818" userDrawn="1">
          <p15:clr>
            <a:srgbClr val="A4A3A4"/>
          </p15:clr>
        </p15:guide>
        <p15:guide id="3" orient="horz" pos="3807" userDrawn="1">
          <p15:clr>
            <a:srgbClr val="A4A3A4"/>
          </p15:clr>
        </p15:guide>
        <p15:guide id="4" orient="horz" pos="1088" userDrawn="1">
          <p15:clr>
            <a:srgbClr val="A4A3A4"/>
          </p15:clr>
        </p15:guide>
        <p15:guide id="5" pos="7450" userDrawn="1">
          <p15:clr>
            <a:srgbClr val="A4A3A4"/>
          </p15:clr>
        </p15:guide>
        <p15:guide id="6" pos="5162" userDrawn="1">
          <p15:clr>
            <a:srgbClr val="A4A3A4"/>
          </p15:clr>
        </p15:guide>
        <p15:guide id="7" pos="5995" userDrawn="1">
          <p15:clr>
            <a:srgbClr val="A4A3A4"/>
          </p15:clr>
        </p15:guide>
        <p15:guide id="8" pos="5010" userDrawn="1">
          <p15:clr>
            <a:srgbClr val="A4A3A4"/>
          </p15:clr>
        </p15:guide>
      </p15:sldGuideLst>
    </p:ext>
    <p:ext uri="{2D200454-40CA-4A62-9FC3-DE9A4176ACB9}">
      <p15:notesGuideLst xmlns:p15="http://schemas.microsoft.com/office/powerpoint/2012/main">
        <p15:guide id="1" orient="horz" pos="2908">
          <p15:clr>
            <a:srgbClr val="A4A3A4"/>
          </p15:clr>
        </p15:guide>
        <p15:guide id="2" pos="214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1E30"/>
    <a:srgbClr val="DF4807"/>
    <a:srgbClr val="2C2E2E"/>
    <a:srgbClr val="000000"/>
    <a:srgbClr val="B92659"/>
    <a:srgbClr val="6D7373"/>
    <a:srgbClr val="0067A0"/>
    <a:srgbClr val="AAA39D"/>
    <a:srgbClr val="66FF33"/>
    <a:srgbClr val="142D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01" autoAdjust="0"/>
    <p:restoredTop sz="81139" autoAdjust="0"/>
  </p:normalViewPr>
  <p:slideViewPr>
    <p:cSldViewPr snapToGrid="0" showGuides="1">
      <p:cViewPr>
        <p:scale>
          <a:sx n="123" d="100"/>
          <a:sy n="123" d="100"/>
        </p:scale>
        <p:origin x="112" y="144"/>
      </p:cViewPr>
      <p:guideLst>
        <p:guide orient="horz" pos="2181"/>
        <p:guide pos="3818"/>
        <p:guide orient="horz" pos="3807"/>
        <p:guide orient="horz" pos="1088"/>
        <p:guide pos="7450"/>
        <p:guide pos="5162"/>
        <p:guide pos="5995"/>
        <p:guide pos="501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45" d="100"/>
          <a:sy n="45" d="100"/>
        </p:scale>
        <p:origin x="-2792" y="-72"/>
      </p:cViewPr>
      <p:guideLst>
        <p:guide orient="horz" pos="2908"/>
        <p:guide pos="2148"/>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9" Type="http://schemas.openxmlformats.org/officeDocument/2006/relationships/slideMaster" Target="slideMasters/slideMaster6.xml"/><Relationship Id="rId10" Type="http://schemas.openxmlformats.org/officeDocument/2006/relationships/slideMaster" Target="slideMasters/slideMaster7.xml"/><Relationship Id="rId11" Type="http://schemas.openxmlformats.org/officeDocument/2006/relationships/slide" Target="slides/slide1.xml"/><Relationship Id="rId32"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44" Type="http://schemas.openxmlformats.org/officeDocument/2006/relationships/slide" Target="slides/slide2.xml"/><Relationship Id="rId45" Type="http://schemas.openxmlformats.org/officeDocument/2006/relationships/slide" Target="slides/slide3.xml"/><Relationship Id="rId46" Type="http://schemas.openxmlformats.org/officeDocument/2006/relationships/slide" Target="slides/slide4.xml"/><Relationship Id="rId47" Type="http://schemas.openxmlformats.org/officeDocument/2006/relationships/slide" Target="slides/slide5.xml"/><Relationship Id="rId48" Type="http://schemas.openxmlformats.org/officeDocument/2006/relationships/slide" Target="slides/slide6.xml"/><Relationship Id="rId49" Type="http://schemas.openxmlformats.org/officeDocument/2006/relationships/slide" Target="slides/slide7.xml"/><Relationship Id="rId50" Type="http://schemas.openxmlformats.org/officeDocument/2006/relationships/slide" Target="slides/slide8.xml"/><Relationship Id="rId51" Type="http://schemas.openxmlformats.org/officeDocument/2006/relationships/slide" Target="slides/slide9.xml"/><Relationship Id="rId52" Type="http://schemas.openxmlformats.org/officeDocument/2006/relationships/slide" Target="slides/slide10.xml"/><Relationship Id="rId53" Type="http://schemas.openxmlformats.org/officeDocument/2006/relationships/slide" Target="slides/slide11.xml"/><Relationship Id="rId54" Type="http://schemas.openxmlformats.org/officeDocument/2006/relationships/slide" Target="slides/slide12.xml"/><Relationship Id="rId55" Type="http://schemas.openxmlformats.org/officeDocument/2006/relationships/slide" Target="slides/slide13.xml"/><Relationship Id="rId56" Type="http://schemas.openxmlformats.org/officeDocument/2006/relationships/slide" Target="slides/slide14.xml"/><Relationship Id="rId57" Type="http://schemas.openxmlformats.org/officeDocument/2006/relationships/slide" Target="slides/slide15.xml"/><Relationship Id="rId58" Type="http://schemas.openxmlformats.org/officeDocument/2006/relationships/slide" Target="slides/slide16.xml"/><Relationship Id="rId59" Type="http://schemas.openxmlformats.org/officeDocument/2006/relationships/slide" Target="slides/slide17.xml"/><Relationship Id="rId60" Type="http://schemas.openxmlformats.org/officeDocument/2006/relationships/slide" Target="slides/slide18.xml"/><Relationship Id="rId61"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stacked"/>
        <c:ser>
          <c:idx val="0"/>
          <c:order val="0"/>
          <c:tx>
            <c:strRef>
              <c:f>Sheet1!$B$1</c:f>
              <c:strCache>
                <c:ptCount val="1"/>
                <c:pt idx="0">
                  <c:v>High-risk</c:v>
                </c:pt>
              </c:strCache>
            </c:strRef>
          </c:tx>
          <c:spPr>
            <a:solidFill>
              <a:srgbClr val="DF4807"/>
            </a:solidFill>
          </c:spPr>
          <c:cat>
            <c:strRef>
              <c:f>Sheet1!$A$2:$A$9</c:f>
              <c:strCache>
                <c:ptCount val="8"/>
                <c:pt idx="0">
                  <c:v>Biometrics</c:v>
                </c:pt>
                <c:pt idx="1">
                  <c:v>Critical infra.</c:v>
                </c:pt>
                <c:pt idx="2">
                  <c:v>Education</c:v>
                </c:pt>
                <c:pt idx="3">
                  <c:v>Employment</c:v>
                </c:pt>
                <c:pt idx="4">
                  <c:v>Essential services</c:v>
                </c:pt>
                <c:pt idx="5">
                  <c:v>Law enforcement</c:v>
                </c:pt>
                <c:pt idx="6">
                  <c:v>Migration</c:v>
                </c:pt>
                <c:pt idx="7">
                  <c:v>Justice &amp; democracy</c:v>
                </c:pt>
              </c:strCache>
            </c:strRef>
          </c:cat>
          <c:val>
            <c:numRef>
              <c:f>Sheet1!$B$2:$B$9</c:f>
              <c:numCache>
                <c:formatCode>General</c:formatCode>
                <c:ptCount val="8"/>
                <c:pt idx="0">
                  <c:v>14</c:v>
                </c:pt>
                <c:pt idx="1">
                  <c:v>8</c:v>
                </c:pt>
                <c:pt idx="2">
                  <c:v>9</c:v>
                </c:pt>
                <c:pt idx="3">
                  <c:v>14</c:v>
                </c:pt>
                <c:pt idx="4">
                  <c:v>21</c:v>
                </c:pt>
                <c:pt idx="5">
                  <c:v>0</c:v>
                </c:pt>
                <c:pt idx="6">
                  <c:v>0</c:v>
                </c:pt>
                <c:pt idx="7">
                  <c:v>0</c:v>
                </c:pt>
              </c:numCache>
            </c:numRef>
          </c:val>
        </c:ser>
        <c:ser>
          <c:idx val="1"/>
          <c:order val="1"/>
          <c:tx>
            <c:strRef>
              <c:f>Sheet1!$C$1</c:f>
              <c:strCache>
                <c:ptCount val="1"/>
                <c:pt idx="0">
                  <c:v>Not high-risk</c:v>
                </c:pt>
              </c:strCache>
            </c:strRef>
          </c:tx>
          <c:spPr>
            <a:solidFill>
              <a:srgbClr val="AAA39D"/>
            </a:solidFill>
          </c:spPr>
          <c:cat>
            <c:strRef>
              <c:f>Sheet1!$A$2:$A$9</c:f>
              <c:strCache>
                <c:ptCount val="8"/>
                <c:pt idx="0">
                  <c:v>Biometrics</c:v>
                </c:pt>
                <c:pt idx="1">
                  <c:v>Critical infra.</c:v>
                </c:pt>
                <c:pt idx="2">
                  <c:v>Education</c:v>
                </c:pt>
                <c:pt idx="3">
                  <c:v>Employment</c:v>
                </c:pt>
                <c:pt idx="4">
                  <c:v>Essential services</c:v>
                </c:pt>
                <c:pt idx="5">
                  <c:v>Law enforcement</c:v>
                </c:pt>
                <c:pt idx="6">
                  <c:v>Migration</c:v>
                </c:pt>
                <c:pt idx="7">
                  <c:v>Justice &amp; democracy</c:v>
                </c:pt>
              </c:strCache>
            </c:strRef>
          </c:cat>
          <c:val>
            <c:numRef>
              <c:f>Sheet1!$C$2:$C$9</c:f>
              <c:numCache>
                <c:formatCode>General</c:formatCode>
                <c:ptCount val="8"/>
                <c:pt idx="0">
                  <c:v>18</c:v>
                </c:pt>
                <c:pt idx="1">
                  <c:v>10</c:v>
                </c:pt>
                <c:pt idx="2">
                  <c:v>19</c:v>
                </c:pt>
                <c:pt idx="3">
                  <c:v>18</c:v>
                </c:pt>
                <c:pt idx="4">
                  <c:v>22</c:v>
                </c:pt>
                <c:pt idx="5">
                  <c:v>23</c:v>
                </c:pt>
                <c:pt idx="6">
                  <c:v>23</c:v>
                </c:pt>
                <c:pt idx="7">
                  <c:v>16</c:v>
                </c:pt>
              </c:numCache>
            </c:numRef>
          </c:val>
        </c:ser>
        <c:dLbls>
          <c:numFmt formatCode="0;;;" sourceLinked="0"/>
          <c:txPr>
            <a:bodyPr/>
            <a:lstStyle/>
            <a:p>
              <a:pPr>
                <a:defRPr sz="1000">
                  <a:solidFill>
                    <a:srgbClr val="FFFFFF"/>
                  </a:solidFill>
                </a:defRPr>
              </a:pPr>
            </a:p>
          </c:txPr>
          <c:dLblPos val="ctr"/>
          <c:showLegendKey val="0"/>
          <c:showVal val="1"/>
          <c:showCatName val="0"/>
          <c:showSerName val="0"/>
          <c:showPercent val="0"/>
          <c:showBubbleSize val="0"/>
          <c:showLeaderLines val="1"/>
        </c:dLbls>
        <c:gapWidth val="60"/>
        <c:overlap val="100"/>
        <c:axId val="-2068027336"/>
        <c:axId val="-2113994440"/>
      </c:barChart>
      <c:catAx>
        <c:axId val="-2068027336"/>
        <c:scaling>
          <c:orientation val="maxMin"/>
        </c:scaling>
        <c:delete val="0"/>
        <c:axPos val="l"/>
        <c:majorTickMark val="out"/>
        <c:minorTickMark val="none"/>
        <c:tickLblPos val="nextTo"/>
        <c:spPr>
          <a:ln>
            <a:solidFill>
              <a:srgbClr val="AAA39D"/>
            </a:solidFill>
          </a:ln>
        </c:spPr>
        <c:txPr>
          <a:bodyPr/>
          <a:lstStyle/>
          <a:p>
            <a:pPr>
              <a:defRPr sz="1100"/>
            </a:pPr>
          </a:p>
        </c:txPr>
        <c:crossAx val="-2113994440"/>
        <c:crosses val="autoZero"/>
        <c:auto val="1"/>
        <c:lblAlgn val="ctr"/>
        <c:lblOffset val="100"/>
        <c:noMultiLvlLbl val="0"/>
      </c:catAx>
      <c:valAx>
        <c:axId val="-2113994440"/>
        <c:scaling/>
        <c:delete val="0"/>
        <c:axPos val="b"/>
        <c:majorGridlines>
          <c:spPr>
            <a:ln>
              <a:solidFill>
                <a:srgbClr val="E4E1DE"/>
              </a:solidFill>
            </a:ln>
          </c:spPr>
        </c:majorGridlines>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100"/>
          </a:pPr>
        </a:p>
      </c:txPr>
    </c:legend>
    <c:dispBlanksAs val="gap"/>
  </c:chart>
  <c:txPr>
    <a:bodyPr/>
    <a:lstStyle/>
    <a:p>
      <a:pPr>
        <a:defRPr sz="1100">
          <a:solidFill>
            <a:srgbClr val="575756"/>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129 inputs stating the verdict</c:v>
                </c:pt>
              </c:strCache>
            </c:strRef>
          </c:tx>
          <c:spPr>
            <a:solidFill>
              <a:srgbClr val="DF4807"/>
            </a:solidFill>
          </c:spPr>
          <c:cat>
            <c:strRef>
              <c:f>Sheet1!$A$2:$A$4</c:f>
              <c:strCache>
                <c:ptCount val="3"/>
                <c:pt idx="0">
                  <c:v>Plain LLM</c:v>
                </c:pt>
                <c:pt idx="1">
                  <c:v>Standard RAG</c:v>
                </c:pt>
                <c:pt idx="2">
                  <c:v>Agent</c:v>
                </c:pt>
              </c:strCache>
            </c:strRef>
          </c:cat>
          <c:val>
            <c:numRef>
              <c:f>Sheet1!$B$2:$B$4</c:f>
              <c:numCache>
                <c:formatCode>General</c:formatCode>
                <c:ptCount val="3"/>
                <c:pt idx="0">
                  <c:v>0.938</c:v>
                </c:pt>
                <c:pt idx="1">
                  <c:v>0.922</c:v>
                </c:pt>
                <c:pt idx="2">
                  <c:v>0.961</c:v>
                </c:pt>
              </c:numCache>
            </c:numRef>
          </c:val>
        </c:ser>
        <c:ser>
          <c:idx val="1"/>
          <c:order val="1"/>
          <c:tx>
            <c:strRef>
              <c:f>Sheet1!$C$1</c:f>
              <c:strCache>
                <c:ptCount val="1"/>
                <c:pt idx="0">
                  <c:v>86 clean inputs</c:v>
                </c:pt>
              </c:strCache>
            </c:strRef>
          </c:tx>
          <c:spPr>
            <a:solidFill>
              <a:srgbClr val="AAA39D"/>
            </a:solidFill>
          </c:spPr>
          <c:cat>
            <c:strRef>
              <c:f>Sheet1!$A$2:$A$4</c:f>
              <c:strCache>
                <c:ptCount val="3"/>
                <c:pt idx="0">
                  <c:v>Plain LLM</c:v>
                </c:pt>
                <c:pt idx="1">
                  <c:v>Standard RAG</c:v>
                </c:pt>
                <c:pt idx="2">
                  <c:v>Agent</c:v>
                </c:pt>
              </c:strCache>
            </c:strRef>
          </c:cat>
          <c:val>
            <c:numRef>
              <c:f>Sheet1!$C$2:$C$4</c:f>
              <c:numCache>
                <c:formatCode>General</c:formatCode>
                <c:ptCount val="3"/>
                <c:pt idx="0">
                  <c:v>0.674</c:v>
                </c:pt>
                <c:pt idx="1">
                  <c:v>0.953</c:v>
                </c:pt>
                <c:pt idx="2">
                  <c:v>0.953</c:v>
                </c:pt>
              </c:numCache>
            </c:numRef>
          </c:val>
        </c:ser>
        <c:dLbls>
          <c:numFmt formatCode="0.000" sourceLinked="0"/>
          <c:txPr>
            <a:bodyPr/>
            <a:lstStyle/>
            <a:p>
              <a:pPr>
                <a:defRPr sz="1000">
                  <a:solidFill>
                    <a:srgbClr val="575756"/>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AAA39D"/>
            </a:solidFill>
          </a:ln>
        </c:spPr>
        <c:txPr>
          <a:bodyPr/>
          <a:lstStyle/>
          <a:p>
            <a:pPr>
              <a:defRPr sz="1100"/>
            </a:pPr>
          </a:p>
        </c:txPr>
        <c:crossAx val="-2113994440"/>
        <c:crosses val="autoZero"/>
        <c:auto val="1"/>
        <c:lblAlgn val="ctr"/>
        <c:lblOffset val="100"/>
        <c:noMultiLvlLbl val="0"/>
      </c:catAx>
      <c:valAx>
        <c:axId val="-2113994440"/>
        <c:scaling>
          <c:max val="1.1"/>
          <c:min val="0.0"/>
        </c:scaling>
        <c:delete val="0"/>
        <c:axPos val="l"/>
        <c:majorGridlines>
          <c:spPr>
            <a:ln>
              <a:solidFill>
                <a:srgbClr val="E4E1DE"/>
              </a:solidFill>
            </a:ln>
          </c:spPr>
        </c:majorGridlines>
        <c:numFmt formatCode="0.0" sourceLinked="0"/>
        <c:majorTickMark val="out"/>
        <c:minorTickMark val="none"/>
        <c:tickLblPos val="nextTo"/>
        <c:spPr>
          <a:ln>
            <a:noFill/>
          </a:ln>
        </c:spPr>
        <c:txPr>
          <a:bodyPr/>
          <a:lstStyle/>
          <a:p>
            <a:pPr>
              <a:defRPr sz="1000"/>
            </a:pPr>
          </a:p>
        </c:txPr>
        <c:crossAx val="-2068027336"/>
        <c:crosses val="autoZero"/>
        <c:majorUnit val="0.2"/>
      </c:valAx>
    </c:plotArea>
    <c:legend>
      <c:legendPos val="b"/>
      <c:overlay val="0"/>
      <c:txPr>
        <a:bodyPr/>
        <a:lstStyle/>
        <a:p>
          <a:pPr>
            <a:defRPr sz="1100"/>
          </a:pPr>
        </a:p>
      </c:txPr>
    </c:legend>
    <c:dispBlanksAs val="gap"/>
  </c:chart>
  <c:txPr>
    <a:bodyPr/>
    <a:lstStyle/>
    <a:p>
      <a:pPr>
        <a:defRPr sz="1100">
          <a:solidFill>
            <a:srgbClr val="575756"/>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Original inputs</c:v>
                </c:pt>
              </c:strCache>
            </c:strRef>
          </c:tx>
          <c:spPr>
            <a:solidFill>
              <a:srgbClr val="AAA39D"/>
            </a:solidFill>
          </c:spPr>
          <c:cat>
            <c:strRef>
              <c:f>Sheet1!$A$2:$A$4</c:f>
              <c:strCache>
                <c:ptCount val="3"/>
                <c:pt idx="0">
                  <c:v>Plain LLM</c:v>
                </c:pt>
                <c:pt idx="1">
                  <c:v>Standard RAG</c:v>
                </c:pt>
                <c:pt idx="2">
                  <c:v>Agent</c:v>
                </c:pt>
              </c:strCache>
            </c:strRef>
          </c:cat>
          <c:val>
            <c:numRef>
              <c:f>Sheet1!$B$2:$B$4</c:f>
              <c:numCache>
                <c:formatCode>General</c:formatCode>
                <c:ptCount val="3"/>
                <c:pt idx="0">
                  <c:v>0.833</c:v>
                </c:pt>
                <c:pt idx="1">
                  <c:v>0.935</c:v>
                </c:pt>
                <c:pt idx="2">
                  <c:v>0.958</c:v>
                </c:pt>
              </c:numCache>
            </c:numRef>
          </c:val>
        </c:ser>
        <c:ser>
          <c:idx val="1"/>
          <c:order val="1"/>
          <c:tx>
            <c:strRef>
              <c:f>Sheet1!$C$1</c:f>
              <c:strCache>
                <c:ptCount val="1"/>
                <c:pt idx="0">
                  <c:v>Redacted inputs</c:v>
                </c:pt>
              </c:strCache>
            </c:strRef>
          </c:tx>
          <c:spPr>
            <a:solidFill>
              <a:srgbClr val="DF4807"/>
            </a:solidFill>
          </c:spPr>
          <c:cat>
            <c:strRef>
              <c:f>Sheet1!$A$2:$A$4</c:f>
              <c:strCache>
                <c:ptCount val="3"/>
                <c:pt idx="0">
                  <c:v>Plain LLM</c:v>
                </c:pt>
                <c:pt idx="1">
                  <c:v>Standard RAG</c:v>
                </c:pt>
                <c:pt idx="2">
                  <c:v>Agent</c:v>
                </c:pt>
              </c:strCache>
            </c:strRef>
          </c:cat>
          <c:val>
            <c:numRef>
              <c:f>Sheet1!$C$2:$C$4</c:f>
              <c:numCache>
                <c:formatCode>General</c:formatCode>
                <c:ptCount val="3"/>
                <c:pt idx="0">
                  <c:v>0.688</c:v>
                </c:pt>
                <c:pt idx="1">
                  <c:v>0.879</c:v>
                </c:pt>
                <c:pt idx="2">
                  <c:v>0.856</c:v>
                </c:pt>
              </c:numCache>
            </c:numRef>
          </c:val>
        </c:ser>
        <c:dLbls>
          <c:numFmt formatCode="0.000" sourceLinked="0"/>
          <c:txPr>
            <a:bodyPr/>
            <a:lstStyle/>
            <a:p>
              <a:pPr>
                <a:defRPr sz="1000">
                  <a:solidFill>
                    <a:srgbClr val="575756"/>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AAA39D"/>
            </a:solidFill>
          </a:ln>
        </c:spPr>
        <c:txPr>
          <a:bodyPr/>
          <a:lstStyle/>
          <a:p>
            <a:pPr>
              <a:defRPr sz="1100"/>
            </a:pPr>
          </a:p>
        </c:txPr>
        <c:crossAx val="-2113994440"/>
        <c:crosses val="autoZero"/>
        <c:auto val="1"/>
        <c:lblAlgn val="ctr"/>
        <c:lblOffset val="100"/>
        <c:noMultiLvlLbl val="0"/>
      </c:catAx>
      <c:valAx>
        <c:axId val="-2113994440"/>
        <c:scaling>
          <c:max val="1.1"/>
          <c:min val="0.0"/>
        </c:scaling>
        <c:delete val="0"/>
        <c:axPos val="l"/>
        <c:majorGridlines>
          <c:spPr>
            <a:ln>
              <a:solidFill>
                <a:srgbClr val="E4E1DE"/>
              </a:solidFill>
            </a:ln>
          </c:spPr>
        </c:majorGridlines>
        <c:numFmt formatCode="0.0" sourceLinked="0"/>
        <c:majorTickMark val="out"/>
        <c:minorTickMark val="none"/>
        <c:tickLblPos val="nextTo"/>
        <c:spPr>
          <a:ln>
            <a:noFill/>
          </a:ln>
        </c:spPr>
        <c:txPr>
          <a:bodyPr/>
          <a:lstStyle/>
          <a:p>
            <a:pPr>
              <a:defRPr sz="1000"/>
            </a:pPr>
          </a:p>
        </c:txPr>
        <c:crossAx val="-2068027336"/>
        <c:crosses val="autoZero"/>
        <c:majorUnit val="0.2"/>
      </c:valAx>
    </c:plotArea>
    <c:legend>
      <c:legendPos val="b"/>
      <c:overlay val="0"/>
      <c:txPr>
        <a:bodyPr/>
        <a:lstStyle/>
        <a:p>
          <a:pPr>
            <a:defRPr sz="1100"/>
          </a:pPr>
        </a:p>
      </c:txPr>
    </c:legend>
    <c:dispBlanksAs val="gap"/>
  </c:chart>
  <c:txPr>
    <a:bodyPr/>
    <a:lstStyle/>
    <a:p>
      <a:pPr>
        <a:defRPr sz="1100">
          <a:solidFill>
            <a:srgbClr val="575756"/>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Standard RAG</c:v>
                </c:pt>
              </c:strCache>
            </c:strRef>
          </c:tx>
          <c:spPr>
            <a:ln w="31750">
              <a:solidFill>
                <a:srgbClr val="AAA39D"/>
              </a:solidFill>
            </a:ln>
          </c:spPr>
          <c:marker>
            <c:spPr>
              <a:solidFill>
                <a:srgbClr val="AAA39D"/>
              </a:solidFill>
              <a:ln>
                <a:solidFill>
                  <a:srgbClr val="AAA39D"/>
                </a:solidFill>
              </a:ln>
            </c:spPr>
          </c:marker>
          <c:cat>
            <c:strRef>
              <c:f>Sheet1!$A$2:$A$5</c:f>
              <c:strCache>
                <c:ptCount val="4"/>
                <c:pt idx="0">
                  <c:v>0.3</c:v>
                </c:pt>
                <c:pt idx="1">
                  <c:v>0.5</c:v>
                </c:pt>
                <c:pt idx="2">
                  <c:v>0.7</c:v>
                </c:pt>
                <c:pt idx="3">
                  <c:v>0.9</c:v>
                </c:pt>
              </c:strCache>
            </c:strRef>
          </c:cat>
          <c:val>
            <c:numRef>
              <c:f>Sheet1!$B$2:$B$5</c:f>
              <c:numCache>
                <c:formatCode>General</c:formatCode>
                <c:ptCount val="4"/>
                <c:pt idx="0">
                  <c:v>0.808</c:v>
                </c:pt>
                <c:pt idx="1">
                  <c:v>0.538</c:v>
                </c:pt>
                <c:pt idx="2">
                  <c:v>0.038</c:v>
                </c:pt>
                <c:pt idx="3">
                  <c:v>0.0</c:v>
                </c:pt>
              </c:numCache>
            </c:numRef>
          </c:val>
          <c:smooth val="0"/>
        </c:ser>
        <c:ser>
          <c:idx val="1"/>
          <c:order val="1"/>
          <c:tx>
            <c:strRef>
              <c:f>Sheet1!$C$1</c:f>
              <c:strCache>
                <c:ptCount val="1"/>
                <c:pt idx="0">
                  <c:v>Agent</c:v>
                </c:pt>
              </c:strCache>
            </c:strRef>
          </c:tx>
          <c:spPr>
            <a:ln w="31750">
              <a:solidFill>
                <a:srgbClr val="DF4807"/>
              </a:solidFill>
            </a:ln>
          </c:spPr>
          <c:marker>
            <c:spPr>
              <a:solidFill>
                <a:srgbClr val="DF4807"/>
              </a:solidFill>
              <a:ln>
                <a:solidFill>
                  <a:srgbClr val="DF4807"/>
                </a:solidFill>
              </a:ln>
            </c:spPr>
          </c:marker>
          <c:dLbls>
            <c:numFmt formatCode="0%" sourceLinked="0"/>
            <c:txPr>
              <a:bodyPr/>
              <a:lstStyle/>
              <a:p>
                <a:pPr>
                  <a:defRPr sz="1100" b="1">
                    <a:solidFill>
                      <a:srgbClr val="DF4807"/>
                    </a:solidFill>
                  </a:defRPr>
                </a:pPr>
              </a:p>
            </c:txPr>
            <c:dLblPos val="t"/>
            <c:showLegendKey val="0"/>
            <c:showVal val="1"/>
            <c:showCatName val="0"/>
            <c:showSerName val="0"/>
            <c:showPercent val="0"/>
            <c:showBubbleSize val="0"/>
            <c:showLeaderLines val="1"/>
          </c:dLbls>
          <c:cat>
            <c:strRef>
              <c:f>Sheet1!$A$2:$A$5</c:f>
              <c:strCache>
                <c:ptCount val="4"/>
                <c:pt idx="0">
                  <c:v>0.3</c:v>
                </c:pt>
                <c:pt idx="1">
                  <c:v>0.5</c:v>
                </c:pt>
                <c:pt idx="2">
                  <c:v>0.7</c:v>
                </c:pt>
                <c:pt idx="3">
                  <c:v>0.9</c:v>
                </c:pt>
              </c:strCache>
            </c:strRef>
          </c:cat>
          <c:val>
            <c:numRef>
              <c:f>Sheet1!$C$2:$C$5</c:f>
              <c:numCache>
                <c:formatCode>General</c:formatCode>
                <c:ptCount val="4"/>
                <c:pt idx="0">
                  <c:v>0.71</c:v>
                </c:pt>
                <c:pt idx="1">
                  <c:v>0.548</c:v>
                </c:pt>
                <c:pt idx="2">
                  <c:v>0.226</c:v>
                </c:pt>
                <c:pt idx="3">
                  <c:v>0.032</c:v>
                </c:pt>
              </c:numCache>
            </c:numRef>
          </c:val>
          <c:smooth val="0"/>
        </c:ser>
        <c:marker val="1"/>
        <c:smooth val="0"/>
        <c:axId val="2118791784"/>
        <c:axId val="2140495176"/>
      </c:lineChart>
      <c:catAx>
        <c:axId val="2118791784"/>
        <c:scaling>
          <c:orientation val="minMax"/>
        </c:scaling>
        <c:delete val="0"/>
        <c:axPos val="b"/>
        <c:title>
          <c:tx>
            <c:rich>
              <a:bodyPr/>
              <a:lstStyle/>
              <a:p>
                <a:r>
                  <a:rPr sz="1100" b="0"/>
                  <a:t>Faithful cut (score counted as faithful at or above)</a:t>
                </a:r>
              </a:p>
            </c:rich>
          </c:tx>
          <c:layout/>
          <c:overlay val="0"/>
        </c:title>
        <c:majorTickMark val="out"/>
        <c:minorTickMark val="none"/>
        <c:tickLblPos val="nextTo"/>
        <c:spPr>
          <a:ln>
            <a:solidFill>
              <a:srgbClr val="AAA39D"/>
            </a:solidFill>
          </a:ln>
        </c:spPr>
        <c:txPr>
          <a:bodyPr/>
          <a:lstStyle/>
          <a:p>
            <a:pPr>
              <a:defRPr sz="1100"/>
            </a:pPr>
          </a:p>
        </c:txPr>
        <c:crossAx val="2140495176"/>
        <c:crosses val="autoZero"/>
        <c:auto val="1"/>
        <c:lblAlgn val="ctr"/>
        <c:lblOffset val="100"/>
        <c:noMultiLvlLbl val="0"/>
      </c:catAx>
      <c:valAx>
        <c:axId val="2140495176"/>
        <c:scaling>
          <c:max val="1.0"/>
          <c:min val="0.0"/>
        </c:scaling>
        <c:delete val="0"/>
        <c:axPos val="l"/>
        <c:majorGridlines>
          <c:spPr>
            <a:ln>
              <a:solidFill>
                <a:srgbClr val="E4E1DE"/>
              </a:solidFill>
            </a:ln>
          </c:spPr>
        </c:majorGridlines>
        <c:numFmt formatCode="0%" sourceLinked="0"/>
        <c:majorTickMark val="out"/>
        <c:minorTickMark val="none"/>
        <c:tickLblPos val="nextTo"/>
        <c:spPr>
          <a:ln>
            <a:noFill/>
          </a:ln>
        </c:spPr>
        <c:txPr>
          <a:bodyPr/>
          <a:lstStyle/>
          <a:p>
            <a:pPr>
              <a:defRPr sz="1000"/>
            </a:pPr>
          </a:p>
        </c:txPr>
        <c:crossAx val="2118791784"/>
        <c:crosses val="autoZero"/>
        <c:majorUnit val="0.2"/>
      </c:valAx>
    </c:plotArea>
    <c:legend>
      <c:legendPos val="b"/>
      <c:layout/>
      <c:overlay val="0"/>
      <c:txPr>
        <a:bodyPr/>
        <a:lstStyle/>
        <a:p>
          <a:pPr>
            <a:defRPr sz="1100"/>
          </a:pPr>
        </a:p>
      </c:txPr>
    </c:legend>
    <c:plotVisOnly val="1"/>
    <c:dispBlanksAs val="gap"/>
    <c:showDLblsOverMax val="0"/>
  </c:chart>
  <c:txPr>
    <a:bodyPr/>
    <a:lstStyle/>
    <a:p>
      <a:pPr>
        <a:defRPr sz="1100">
          <a:solidFill>
            <a:srgbClr val="575756"/>
          </a:solidFil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Answers</c:v>
                </c:pt>
              </c:strCache>
            </c:strRef>
          </c:tx>
          <c:spPr>
            <a:solidFill>
              <a:srgbClr val="DF4807"/>
            </a:solidFill>
          </c:spPr>
          <c:cat>
            <c:strRef>
              <c:f>Sheet1!$A$2:$A$6</c:f>
              <c:strCache>
                <c:ptCount val="5"/>
                <c:pt idx="0">
                  <c:v>A. Sector taken as the use case</c:v>
                </c:pt>
                <c:pt idx="1">
                  <c:v>B. 6(3) exception not applied</c:v>
                </c:pt>
                <c:pt idx="2">
                  <c:v>C. Profiling rule misused</c:v>
                </c:pt>
                <c:pt idx="3">
                  <c:v>D. Condition misread / fact invented</c:v>
                </c:pt>
                <c:pt idx="4">
                  <c:v>E. Too cautious on short input</c:v>
                </c:pt>
              </c:strCache>
            </c:strRef>
          </c:cat>
          <c:val>
            <c:numRef>
              <c:f>Sheet1!$B$2:$B$6</c:f>
              <c:numCache>
                <c:formatCode>General</c:formatCode>
                <c:ptCount val="5"/>
                <c:pt idx="0">
                  <c:v>6</c:v>
                </c:pt>
                <c:pt idx="1">
                  <c:v>4</c:v>
                </c:pt>
                <c:pt idx="2">
                  <c:v>3</c:v>
                </c:pt>
                <c:pt idx="3">
                  <c:v>2</c:v>
                </c:pt>
                <c:pt idx="4">
                  <c:v>2</c:v>
                </c:pt>
              </c:numCache>
            </c:numRef>
          </c:val>
        </c:ser>
        <c:dLbls>
          <c:numFmt formatCode="0" sourceLinked="0"/>
          <c:txPr>
            <a:bodyPr/>
            <a:lstStyle/>
            <a:p>
              <a:pPr>
                <a:defRPr sz="1000">
                  <a:solidFill>
                    <a:srgbClr val="575756"/>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axMin"/>
        </c:scaling>
        <c:delete val="0"/>
        <c:axPos val="l"/>
        <c:majorTickMark val="out"/>
        <c:minorTickMark val="none"/>
        <c:tickLblPos val="nextTo"/>
        <c:spPr>
          <a:ln>
            <a:solidFill>
              <a:srgbClr val="AAA39D"/>
            </a:solidFill>
          </a:ln>
        </c:spPr>
        <c:txPr>
          <a:bodyPr/>
          <a:lstStyle/>
          <a:p>
            <a:pPr>
              <a:defRPr sz="1100"/>
            </a:pPr>
          </a:p>
        </c:txPr>
        <c:crossAx val="-2113994440"/>
        <c:crosses val="autoZero"/>
        <c:auto val="1"/>
        <c:lblAlgn val="ctr"/>
        <c:lblOffset val="100"/>
        <c:noMultiLvlLbl val="0"/>
      </c:catAx>
      <c:valAx>
        <c:axId val="-2113994440"/>
        <c:scaling>
          <c:max val="7.0"/>
          <c:min val="0.0"/>
        </c:scaling>
        <c:delete/>
        <c:axPos val="b"/>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100">
          <a:solidFill>
            <a:srgbClr val="575756"/>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7A3E2A-35AE-479C-B172-30C9CAEEE094}" type="datetimeFigureOut">
              <a:rPr lang="de-DE" smtClean="0"/>
              <a:t>29.09.26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191045-FCBB-4EC9-AB5F-AA4CFDEA61CB}" type="slidenum">
              <a:rPr lang="de-DE" smtClean="0"/>
              <a:t>‹#›</a:t>
            </a:fld>
            <a:endParaRPr lang="de-D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the data and how I set up the evaluation.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the motivation and the task.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everyone. My name is Rahul Rawat, and this is my Case Study 2, supervised by Professor Chandna.</a:t>
            </a:r>
          </a:p>
          <a:p/>
          <a:p>
            <a:r>
              <a:t>The question behind it is simple. When an AI system gives a legal answer that looks well supported by its sources, can we trust that the answer is actually right?</a:t>
            </a:r>
          </a:p>
          <a:p/>
          <a:p>
            <a:r>
              <a:t>I looked at this for one concrete task: deciding whether an AI system counts as high-risk under the EU AI Act.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Tools like this are usually built with retrieval-augmented generation, or RAG. The model first retrieves passages from a source, and then writes its answer based on them.</a:t>
            </a:r>
          </a:p>
          <a:p/>
          <a:p>
            <a:r>
              <a:t>The standard way to evaluate these tools is faithfulness, for example with RAGAS. Faithfulness checks whether the claims in an answer can be traced back to the retrieved passages. It does not need an answer key, and that is exactly why it is so popular.</a:t>
            </a:r>
          </a:p>
          <a:p/>
          <a:p>
            <a:r>
              <a:t>Correctness is a different question. Does the answer match the official one? For that you need a ground truth, and legal tasks rarely have one.</a:t>
            </a:r>
          </a:p>
          <a:p/>
          <a:p>
            <a:r>
              <a:t>If we treat these as two separate axes, we get four combinations. The interesting ones are the two off the diagonal, and especially this one: faithful but wrong. An answer that looks well grounded, but reaches the wrong legal result.</a:t>
            </a:r>
          </a:p>
          <a:p/>
          <a:p>
            <a:r>
              <a:t>My study measures whether these cases actually happen, and how often.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task itself is Article 6 of the AI Act, through Annex III. There are four steps.</a:t>
            </a:r>
          </a:p>
          <a:p/>
          <a:p>
            <a:r>
              <a:t>First, what is the system used for. Second, does that use fall into one of the eight areas listed in Annex III, like employment or education. Third, the Article 6(3) filter: a system can still escape the high-risk label if it only does a narrow procedural or preparatory task. The exception is profiling, which always stays high-risk. And fourth, the final label.</a:t>
            </a:r>
          </a:p>
          <a:p/>
          <a:p>
            <a:r>
              <a:t>What makes this study possible is the ground truth. In May 2026 the European Commission published draft guidelines with many worked examples, and each one ends with an official verdict. That gives me an answer key. I froze that version for the whole project.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those worked examples I built a test set of 215 inputs, each with one official label. 66 are high-risk and 149 are not.</a:t>
            </a:r>
          </a:p>
          <a:p/>
          <a:p>
            <a:r>
              <a:t>41 of them are Article 6(3) filter cases. These are the tricky ones, because the system is in a listed area but is still not high-risk.</a:t>
            </a:r>
          </a:p>
          <a:p/>
          <a:p>
            <a:r>
              <a:t>You can also see that some areas, like law enforcement and migration, have no high-risk examples at all in the guidelines. So there, we can only test whether a system correctly says no.</a:t>
            </a:r>
          </a:p>
          <a:p/>
          <a:p>
            <a:r>
              <a:t>Because the classes are imbalanced, I report precision, recall and F1 next to plain accuracy.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full framework. I want to highlight four design choices.</a:t>
            </a:r>
          </a:p>
          <a:p/>
          <a:p>
            <a:r>
              <a:t>First, the source split. The worked examples became the test set, and only the rule text went into the retrieval corpus. So the model can never simply retrieve the answer.</a:t>
            </a:r>
          </a:p>
          <a:p/>
          <a:p>
            <a:r>
              <a:t>Second, I compared three systems that share everything except the prompt. They all use the same model, phi-4. The first one gets no retrieval at all. The second is standard RAG, with the top five passages and a general instruction. The third is the agent. It gets the same passages, but its prompt walks through the legal test step by step.</a:t>
            </a:r>
          </a:p>
          <a:p/>
          <a:p>
            <a:r>
              <a:t>Third, the two axes are measured separately. Faithfulness is scored by a different, larger model, Qwen 72B, so no model grades its own work. Correctness is simply a lookup against the official label.</a:t>
            </a:r>
          </a:p>
          <a:p/>
          <a:p>
            <a:r>
              <a:t>And fourth, everything runs locally with fixed model versions, so the results can be reproduced. All 645 answers came back without a single failure.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be open about one problem I found along the way.</a:t>
            </a:r>
          </a:p>
          <a:p/>
          <a:p>
            <a:r>
              <a:t>The first run gave accuracy that looked too good. When I checked, I saw that the extraction had kept the Commission's own verdict inside many of the inputs. Sentences like "it therefore falls outside point 4(a)". That affected 60 percent of the inputs.</a:t>
            </a:r>
          </a:p>
          <a:p/>
          <a:p>
            <a:r>
              <a:t>The plain model scored 94 percent on those inputs, but only 67 percent on the clean ones. It was basically reading the answer.</a:t>
            </a:r>
          </a:p>
          <a:p/>
          <a:p>
            <a:r>
              <a:t>So I removed every legal conclusion from the inputs, kept only the facts, checked the edited rows by hand, and ran everything again. All results from now on are on these cleaned inputs.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result is about accuracy. Retrieval clearly helps.</a:t>
            </a:r>
          </a:p>
          <a:p/>
          <a:p>
            <a:r>
              <a:t>Without retrieval, the model gets 69 percent right. With standard RAG, it gets 88 percent. That is 19 points, and the difference is statistically significant.</a:t>
            </a:r>
          </a:p>
          <a:p/>
          <a:p>
            <a:r>
              <a:t>Most of that gain comes from fewer false alarms. Without retrieval, the model wrongly called 60 systems high-risk. With retrieval, only 17.</a:t>
            </a:r>
          </a:p>
          <a:p/>
          <a:p>
            <a:r>
              <a:t>But the structured agent did not beat standard RAG. It scored 86 percent against 88, and that difference is not significant. So the step-by-step legal prompt did not help.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slide. Skip if you are short on time.)</a:t>
            </a:r>
          </a:p>
          <a:p/>
          <a:p>
            <a:r>
              <a:t>Briefly, where the systems struggle.</a:t>
            </a:r>
          </a:p>
          <a:p/>
          <a:p>
            <a:r>
              <a:t>Critical infrastructure was the hardest area for both RAG systems. The legal test there is whether the AI is a safety component, not just whether it is used in that sector, and the models often missed that.</a:t>
            </a:r>
          </a:p>
          <a:p/>
          <a:p>
            <a:r>
              <a:t>And the plain model almost completely failed in law enforcement. It called most police use cases high-risk. Retrieval fixed that.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main finding.</a:t>
            </a:r>
          </a:p>
          <a:p/>
          <a:p>
            <a:r>
              <a:t>Each dot is one answer, and its height is the faithfulness score. The answers are split into correct ones and wrong ones. If faithfulness told us anything about correctness, the correct answers would sit higher.</a:t>
            </a:r>
          </a:p>
          <a:p/>
          <a:p>
            <a:r>
              <a:t>For the agent, on the right, they don't. The wrong answers actually score slightly higher on average.</a:t>
            </a:r>
          </a:p>
          <a:p/>
          <a:p>
            <a:r>
              <a:t>To put a number on it, I used the AUC. It is the chance that a random correct answer scores higher than a random wrong one. 0.5 would be a coin flip. The agent gets 0.465, so no better than chance.</a:t>
            </a:r>
          </a:p>
          <a:p/>
          <a:p>
            <a:r>
              <a:t>In other words, for the agent, the faithfulness score cannot tell a right answer from a wrong one.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same answers sorted into the four buckets.</a:t>
            </a:r>
          </a:p>
          <a:p/>
          <a:p>
            <a:r>
              <a:t>For the agent, 17 of its 31 wrong answers still pass as faithful. So the faithful but wrong case is not rare. It is more than half of the errors.</a:t>
            </a:r>
          </a:p>
          <a:p/>
          <a:p>
            <a:r>
              <a:t>The other side is large too. About half of the correct answers are marked as unfaithful. Part of that is simply how RAGAS works: when an answer repeats facts from the input, those facts are not in the passages, so they count as unsupported.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slide. If you skip it, just say on the previous slide: "and this holds even with a stricter cut-off.")</a:t>
            </a:r>
          </a:p>
          <a:p/>
          <a:p>
            <a:r>
              <a:t>One fair question is whether this depends on where I set the cut-off. It does not.</a:t>
            </a:r>
          </a:p>
          <a:p/>
          <a:p>
            <a:r>
              <a:t>Even with a strict cut-off of 0.7, seven wrong answers still pass. One wrong answer even gets a perfect score of 1.0. And the AUC I showed before does not depend on any cut-off at all.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why do wrong answers look so well grounded? I read all 17 of them.</a:t>
            </a:r>
          </a:p>
          <a:p/>
          <a:p>
            <a:r>
              <a:t>The biggest group treats the sector as the use case. For example, the system is used in electricity, so the model calls it high-risk, without checking the safety component test. Another group refuses the Article 6(3) exception.</a:t>
            </a:r>
          </a:p>
          <a:p/>
          <a:p>
            <a:r>
              <a:t>Here is one example. A tool that sorts incoming court cases by type. The agent called it high-risk and said no exception applies. The Commission says it is a narrow procedural task, so not high-risk. And yet all six statements in the answer were judged as supported. A perfect faithfulness score, for a wrong answer.</a:t>
            </a:r>
          </a:p>
          <a:p/>
          <a:p>
            <a:r>
              <a:t>The important point is this. In 14 of these 17 cases, the right section of the guidelines was retrieved. So the model had the right rule. It just applied it wrongly. And faithfulness only checks whether the rule is in the passages. It never checks whether it was applied correctly.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takeaways.</a:t>
            </a:r>
          </a:p>
          <a:p/>
          <a:p>
            <a:r>
              <a:t>First, faithfulness is not correctness. For the agent, it was no better than chance at spotting wrong answers.</a:t>
            </a:r>
          </a:p>
          <a:p/>
          <a:p>
            <a:r>
              <a:t>Second, most errors are errors in applying the rule, not in finding it. And that is exactly what the metric cannot see.</a:t>
            </a:r>
          </a:p>
          <a:p/>
          <a:p>
            <a:r>
              <a:t>Third, retrieval made a big difference, but the more elaborate prompt did not.</a:t>
            </a:r>
          </a:p>
          <a:p/>
          <a:p>
            <a:r>
              <a:t>And fourth, test sets built from worked examples can leak the answer. Here, that inflated accuracy by up to 15 points and changed which system looked best.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course, this study has limits.</a:t>
            </a:r>
          </a:p>
          <a:p/>
          <a:p>
            <a:r>
              <a:t>I used one generator and one judge, so the results may depend on those models. I was the only annotator. The number of wrong answers is small, so the uncertainty is wide. And the Commission's examples are cleaner than real product descriptions.</a:t>
            </a:r>
          </a:p>
          <a:p/>
          <a:p>
            <a:r>
              <a:t>The next steps follow from that: a stronger second model, a second annotator, more realistic inputs, and a check that tests whether the conclusion really follows from the rule and the facts.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if there is one thing to take away, it is this.</a:t>
            </a:r>
          </a:p>
          <a:p/>
          <a:p>
            <a:r>
              <a:t>A high faithfulness score says almost nothing about whether a legal classification is right. Faithfulness is still useful, but it is not enough on its own. Wherever an answer key exists, it should be reported together with a correctness check.</a:t>
            </a:r>
          </a:p>
          <a:p/>
          <a:p>
            <a:r>
              <a:t>Thank you very much. I am happy to take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to the results. There are two main ones.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conclude.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sv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sv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sv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sv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sv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sv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sv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sv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sv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sv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sv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sv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sv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sv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sv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sv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sv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sv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sv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29.09.26</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29.09.26</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29.09.26</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29.09.26</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29.09.26</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29.09.26</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29.09.26</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29.09.26</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29.09.26</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29.09.26</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29.09.26</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29.09.26</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29.09.26</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29.09.26</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29.09.26</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29.09.26</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29.09.26</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29.09.26</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29.09.26</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29.09.26</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29.09.26</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Relationship Id="rId14" Type="http://schemas.openxmlformats.org/officeDocument/2006/relationships/slideLayout" Target="../slideLayouts/slideLayout37.xml"/><Relationship Id="rId15" Type="http://schemas.openxmlformats.org/officeDocument/2006/relationships/slideLayout" Target="../slideLayouts/slideLayout38.xml"/><Relationship Id="rId16" Type="http://schemas.openxmlformats.org/officeDocument/2006/relationships/slideLayout" Target="../slideLayouts/slideLayout39.xml"/><Relationship Id="rId17" Type="http://schemas.openxmlformats.org/officeDocument/2006/relationships/slideLayout" Target="../slideLayouts/slideLayout40.xml"/><Relationship Id="rId18" Type="http://schemas.openxmlformats.org/officeDocument/2006/relationships/slideLayout" Target="../slideLayouts/slideLayout41.xml"/><Relationship Id="rId19" Type="http://schemas.openxmlformats.org/officeDocument/2006/relationships/slideLayout" Target="../slideLayouts/slideLayout42.xml"/><Relationship Id="rId20" Type="http://schemas.openxmlformats.org/officeDocument/2006/relationships/slideLayout" Target="../slideLayouts/slideLayout43.xml"/><Relationship Id="rId21" Type="http://schemas.openxmlformats.org/officeDocument/2006/relationships/slideLayout" Target="../slideLayouts/slideLayout44.xml"/><Relationship Id="rId22" Type="http://schemas.openxmlformats.org/officeDocument/2006/relationships/slideLayout" Target="../slideLayouts/slideLayout45.xml"/><Relationship Id="rId23" Type="http://schemas.openxmlformats.org/officeDocument/2006/relationships/slideLayout" Target="../slideLayouts/slideLayout46.xml"/><Relationship Id="rId2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slideLayout" Target="../slideLayouts/slideLayout48.xml"/><Relationship Id="rId3" Type="http://schemas.openxmlformats.org/officeDocument/2006/relationships/slideLayout" Target="../slideLayouts/slideLayout49.xml"/><Relationship Id="rId4" Type="http://schemas.openxmlformats.org/officeDocument/2006/relationships/slideLayout" Target="../slideLayouts/slideLayout50.xml"/><Relationship Id="rId5" Type="http://schemas.openxmlformats.org/officeDocument/2006/relationships/slideLayout" Target="../slideLayouts/slideLayout51.xml"/><Relationship Id="rId6" Type="http://schemas.openxmlformats.org/officeDocument/2006/relationships/slideLayout" Target="../slideLayouts/slideLayout52.xml"/><Relationship Id="rId7" Type="http://schemas.openxmlformats.org/officeDocument/2006/relationships/slideLayout" Target="../slideLayouts/slideLayout53.xml"/><Relationship Id="rId8" Type="http://schemas.openxmlformats.org/officeDocument/2006/relationships/slideLayout" Target="../slideLayouts/slideLayout54.xml"/><Relationship Id="rId9" Type="http://schemas.openxmlformats.org/officeDocument/2006/relationships/slideLayout" Target="../slideLayouts/slideLayout55.xml"/><Relationship Id="rId10" Type="http://schemas.openxmlformats.org/officeDocument/2006/relationships/slideLayout" Target="../slideLayouts/slideLayout56.xml"/><Relationship Id="rId11" Type="http://schemas.openxmlformats.org/officeDocument/2006/relationships/slideLayout" Target="../slideLayouts/slideLayout57.xml"/><Relationship Id="rId12" Type="http://schemas.openxmlformats.org/officeDocument/2006/relationships/slideLayout" Target="../slideLayouts/slideLayout58.xml"/><Relationship Id="rId13" Type="http://schemas.openxmlformats.org/officeDocument/2006/relationships/slideLayout" Target="../slideLayouts/slideLayout59.xml"/><Relationship Id="rId14" Type="http://schemas.openxmlformats.org/officeDocument/2006/relationships/slideLayout" Target="../slideLayouts/slideLayout60.xml"/><Relationship Id="rId15" Type="http://schemas.openxmlformats.org/officeDocument/2006/relationships/slideLayout" Target="../slideLayouts/slideLayout61.xml"/><Relationship Id="rId16" Type="http://schemas.openxmlformats.org/officeDocument/2006/relationships/slideLayout" Target="../slideLayouts/slideLayout62.xml"/><Relationship Id="rId17" Type="http://schemas.openxmlformats.org/officeDocument/2006/relationships/slideLayout" Target="../slideLayouts/slideLayout63.xml"/><Relationship Id="rId18" Type="http://schemas.openxmlformats.org/officeDocument/2006/relationships/slideLayout" Target="../slideLayouts/slideLayout64.xml"/><Relationship Id="rId19" Type="http://schemas.openxmlformats.org/officeDocument/2006/relationships/slideLayout" Target="../slideLayouts/slideLayout65.xml"/><Relationship Id="rId20" Type="http://schemas.openxmlformats.org/officeDocument/2006/relationships/slideLayout" Target="../slideLayouts/slideLayout66.xml"/><Relationship Id="rId21" Type="http://schemas.openxmlformats.org/officeDocument/2006/relationships/slideLayout" Target="../slideLayouts/slideLayout67.xml"/><Relationship Id="rId22" Type="http://schemas.openxmlformats.org/officeDocument/2006/relationships/slideLayout" Target="../slideLayouts/slideLayout68.xml"/><Relationship Id="rId23" Type="http://schemas.openxmlformats.org/officeDocument/2006/relationships/slideLayout" Target="../slideLayouts/slideLayout69.xml"/><Relationship Id="rId2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slideLayout" Target="../slideLayouts/slideLayout71.xml"/><Relationship Id="rId3" Type="http://schemas.openxmlformats.org/officeDocument/2006/relationships/slideLayout" Target="../slideLayouts/slideLayout72.xml"/><Relationship Id="rId4" Type="http://schemas.openxmlformats.org/officeDocument/2006/relationships/slideLayout" Target="../slideLayouts/slideLayout73.xml"/><Relationship Id="rId5" Type="http://schemas.openxmlformats.org/officeDocument/2006/relationships/slideLayout" Target="../slideLayouts/slideLayout74.xml"/><Relationship Id="rId6" Type="http://schemas.openxmlformats.org/officeDocument/2006/relationships/slideLayout" Target="../slideLayouts/slideLayout75.xml"/><Relationship Id="rId7" Type="http://schemas.openxmlformats.org/officeDocument/2006/relationships/slideLayout" Target="../slideLayouts/slideLayout76.xml"/><Relationship Id="rId8" Type="http://schemas.openxmlformats.org/officeDocument/2006/relationships/slideLayout" Target="../slideLayouts/slideLayout77.xml"/><Relationship Id="rId9" Type="http://schemas.openxmlformats.org/officeDocument/2006/relationships/slideLayout" Target="../slideLayouts/slideLayout78.xml"/><Relationship Id="rId10" Type="http://schemas.openxmlformats.org/officeDocument/2006/relationships/slideLayout" Target="../slideLayouts/slideLayout79.xml"/><Relationship Id="rId11" Type="http://schemas.openxmlformats.org/officeDocument/2006/relationships/slideLayout" Target="../slideLayouts/slideLayout80.xml"/><Relationship Id="rId12" Type="http://schemas.openxmlformats.org/officeDocument/2006/relationships/slideLayout" Target="../slideLayouts/slideLayout81.xml"/><Relationship Id="rId13" Type="http://schemas.openxmlformats.org/officeDocument/2006/relationships/slideLayout" Target="../slideLayouts/slideLayout82.xml"/><Relationship Id="rId14" Type="http://schemas.openxmlformats.org/officeDocument/2006/relationships/slideLayout" Target="../slideLayouts/slideLayout83.xml"/><Relationship Id="rId15" Type="http://schemas.openxmlformats.org/officeDocument/2006/relationships/slideLayout" Target="../slideLayouts/slideLayout84.xml"/><Relationship Id="rId16" Type="http://schemas.openxmlformats.org/officeDocument/2006/relationships/slideLayout" Target="../slideLayouts/slideLayout85.xml"/><Relationship Id="rId17" Type="http://schemas.openxmlformats.org/officeDocument/2006/relationships/slideLayout" Target="../slideLayouts/slideLayout86.xml"/><Relationship Id="rId18" Type="http://schemas.openxmlformats.org/officeDocument/2006/relationships/slideLayout" Target="../slideLayouts/slideLayout87.xml"/><Relationship Id="rId19" Type="http://schemas.openxmlformats.org/officeDocument/2006/relationships/slideLayout" Target="../slideLayouts/slideLayout88.xml"/><Relationship Id="rId20" Type="http://schemas.openxmlformats.org/officeDocument/2006/relationships/slideLayout" Target="../slideLayouts/slideLayout89.xml"/><Relationship Id="rId21" Type="http://schemas.openxmlformats.org/officeDocument/2006/relationships/slideLayout" Target="../slideLayouts/slideLayout90.xml"/><Relationship Id="rId22" Type="http://schemas.openxmlformats.org/officeDocument/2006/relationships/slideLayout" Target="../slideLayouts/slideLayout91.xml"/><Relationship Id="rId23" Type="http://schemas.openxmlformats.org/officeDocument/2006/relationships/slideLayout" Target="../slideLayouts/slideLayout92.xml"/><Relationship Id="rId2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93.xml"/><Relationship Id="rId2" Type="http://schemas.openxmlformats.org/officeDocument/2006/relationships/slideLayout" Target="../slideLayouts/slideLayout94.xml"/><Relationship Id="rId3" Type="http://schemas.openxmlformats.org/officeDocument/2006/relationships/slideLayout" Target="../slideLayouts/slideLayout95.xml"/><Relationship Id="rId4" Type="http://schemas.openxmlformats.org/officeDocument/2006/relationships/slideLayout" Target="../slideLayouts/slideLayout96.xml"/><Relationship Id="rId5" Type="http://schemas.openxmlformats.org/officeDocument/2006/relationships/slideLayout" Target="../slideLayouts/slideLayout97.xml"/><Relationship Id="rId6" Type="http://schemas.openxmlformats.org/officeDocument/2006/relationships/slideLayout" Target="../slideLayouts/slideLayout98.xml"/><Relationship Id="rId7" Type="http://schemas.openxmlformats.org/officeDocument/2006/relationships/slideLayout" Target="../slideLayouts/slideLayout99.xml"/><Relationship Id="rId8" Type="http://schemas.openxmlformats.org/officeDocument/2006/relationships/slideLayout" Target="../slideLayouts/slideLayout100.xml"/><Relationship Id="rId9" Type="http://schemas.openxmlformats.org/officeDocument/2006/relationships/slideLayout" Target="../slideLayouts/slideLayout101.xml"/><Relationship Id="rId10" Type="http://schemas.openxmlformats.org/officeDocument/2006/relationships/slideLayout" Target="../slideLayouts/slideLayout102.xml"/><Relationship Id="rId11" Type="http://schemas.openxmlformats.org/officeDocument/2006/relationships/slideLayout" Target="../slideLayouts/slideLayout103.xml"/><Relationship Id="rId12" Type="http://schemas.openxmlformats.org/officeDocument/2006/relationships/slideLayout" Target="../slideLayouts/slideLayout104.xml"/><Relationship Id="rId13" Type="http://schemas.openxmlformats.org/officeDocument/2006/relationships/slideLayout" Target="../slideLayouts/slideLayout105.xml"/><Relationship Id="rId14" Type="http://schemas.openxmlformats.org/officeDocument/2006/relationships/slideLayout" Target="../slideLayouts/slideLayout106.xml"/><Relationship Id="rId15" Type="http://schemas.openxmlformats.org/officeDocument/2006/relationships/slideLayout" Target="../slideLayouts/slideLayout107.xml"/><Relationship Id="rId16" Type="http://schemas.openxmlformats.org/officeDocument/2006/relationships/slideLayout" Target="../slideLayouts/slideLayout108.xml"/><Relationship Id="rId17" Type="http://schemas.openxmlformats.org/officeDocument/2006/relationships/slideLayout" Target="../slideLayouts/slideLayout109.xml"/><Relationship Id="rId18" Type="http://schemas.openxmlformats.org/officeDocument/2006/relationships/slideLayout" Target="../slideLayouts/slideLayout110.xml"/><Relationship Id="rId19" Type="http://schemas.openxmlformats.org/officeDocument/2006/relationships/slideLayout" Target="../slideLayouts/slideLayout111.xml"/><Relationship Id="rId20" Type="http://schemas.openxmlformats.org/officeDocument/2006/relationships/slideLayout" Target="../slideLayouts/slideLayout112.xml"/><Relationship Id="rId21" Type="http://schemas.openxmlformats.org/officeDocument/2006/relationships/slideLayout" Target="../slideLayouts/slideLayout113.xml"/><Relationship Id="rId22" Type="http://schemas.openxmlformats.org/officeDocument/2006/relationships/slideLayout" Target="../slideLayouts/slideLayout114.xml"/><Relationship Id="rId23" Type="http://schemas.openxmlformats.org/officeDocument/2006/relationships/slideLayout" Target="../slideLayouts/slideLayout115.xml"/><Relationship Id="rId2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slideLayout" Target="../slideLayouts/slideLayout117.xml"/><Relationship Id="rId3" Type="http://schemas.openxmlformats.org/officeDocument/2006/relationships/slideLayout" Target="../slideLayouts/slideLayout118.xml"/><Relationship Id="rId4" Type="http://schemas.openxmlformats.org/officeDocument/2006/relationships/slideLayout" Target="../slideLayouts/slideLayout119.xml"/><Relationship Id="rId5" Type="http://schemas.openxmlformats.org/officeDocument/2006/relationships/slideLayout" Target="../slideLayouts/slideLayout120.xml"/><Relationship Id="rId6" Type="http://schemas.openxmlformats.org/officeDocument/2006/relationships/slideLayout" Target="../slideLayouts/slideLayout121.xml"/><Relationship Id="rId7" Type="http://schemas.openxmlformats.org/officeDocument/2006/relationships/slideLayout" Target="../slideLayouts/slideLayout122.xml"/><Relationship Id="rId8" Type="http://schemas.openxmlformats.org/officeDocument/2006/relationships/slideLayout" Target="../slideLayouts/slideLayout123.xml"/><Relationship Id="rId9" Type="http://schemas.openxmlformats.org/officeDocument/2006/relationships/slideLayout" Target="../slideLayouts/slideLayout124.xml"/><Relationship Id="rId10" Type="http://schemas.openxmlformats.org/officeDocument/2006/relationships/slideLayout" Target="../slideLayouts/slideLayout125.xml"/><Relationship Id="rId11" Type="http://schemas.openxmlformats.org/officeDocument/2006/relationships/slideLayout" Target="../slideLayouts/slideLayout126.xml"/><Relationship Id="rId12" Type="http://schemas.openxmlformats.org/officeDocument/2006/relationships/slideLayout" Target="../slideLayouts/slideLayout127.xml"/><Relationship Id="rId13" Type="http://schemas.openxmlformats.org/officeDocument/2006/relationships/slideLayout" Target="../slideLayouts/slideLayout128.xml"/><Relationship Id="rId14" Type="http://schemas.openxmlformats.org/officeDocument/2006/relationships/slideLayout" Target="../slideLayouts/slideLayout129.xml"/><Relationship Id="rId15" Type="http://schemas.openxmlformats.org/officeDocument/2006/relationships/slideLayout" Target="../slideLayouts/slideLayout130.xml"/><Relationship Id="rId16" Type="http://schemas.openxmlformats.org/officeDocument/2006/relationships/slideLayout" Target="../slideLayouts/slideLayout131.xml"/><Relationship Id="rId17" Type="http://schemas.openxmlformats.org/officeDocument/2006/relationships/slideLayout" Target="../slideLayouts/slideLayout132.xml"/><Relationship Id="rId18" Type="http://schemas.openxmlformats.org/officeDocument/2006/relationships/slideLayout" Target="../slideLayouts/slideLayout133.xml"/><Relationship Id="rId19" Type="http://schemas.openxmlformats.org/officeDocument/2006/relationships/slideLayout" Target="../slideLayouts/slideLayout134.xml"/><Relationship Id="rId20" Type="http://schemas.openxmlformats.org/officeDocument/2006/relationships/slideLayout" Target="../slideLayouts/slideLayout135.xml"/><Relationship Id="rId21" Type="http://schemas.openxmlformats.org/officeDocument/2006/relationships/slideLayout" Target="../slideLayouts/slideLayout136.xml"/><Relationship Id="rId22" Type="http://schemas.openxmlformats.org/officeDocument/2006/relationships/slideLayout" Target="../slideLayouts/slideLayout137.xml"/><Relationship Id="rId23" Type="http://schemas.openxmlformats.org/officeDocument/2006/relationships/slideLayout" Target="../slideLayouts/slideLayout138.xml"/><Relationship Id="rId2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139.xml"/><Relationship Id="rId2" Type="http://schemas.openxmlformats.org/officeDocument/2006/relationships/slideLayout" Target="../slideLayouts/slideLayout140.xml"/><Relationship Id="rId3" Type="http://schemas.openxmlformats.org/officeDocument/2006/relationships/slideLayout" Target="../slideLayouts/slideLayout141.xml"/><Relationship Id="rId4" Type="http://schemas.openxmlformats.org/officeDocument/2006/relationships/slideLayout" Target="../slideLayouts/slideLayout142.xml"/><Relationship Id="rId5" Type="http://schemas.openxmlformats.org/officeDocument/2006/relationships/slideLayout" Target="../slideLayouts/slideLayout143.xml"/><Relationship Id="rId6" Type="http://schemas.openxmlformats.org/officeDocument/2006/relationships/slideLayout" Target="../slideLayouts/slideLayout144.xml"/><Relationship Id="rId7" Type="http://schemas.openxmlformats.org/officeDocument/2006/relationships/slideLayout" Target="../slideLayouts/slideLayout145.xml"/><Relationship Id="rId8" Type="http://schemas.openxmlformats.org/officeDocument/2006/relationships/slideLayout" Target="../slideLayouts/slideLayout146.xml"/><Relationship Id="rId9" Type="http://schemas.openxmlformats.org/officeDocument/2006/relationships/slideLayout" Target="../slideLayouts/slideLayout147.xml"/><Relationship Id="rId10" Type="http://schemas.openxmlformats.org/officeDocument/2006/relationships/slideLayout" Target="../slideLayouts/slideLayout148.xml"/><Relationship Id="rId11" Type="http://schemas.openxmlformats.org/officeDocument/2006/relationships/slideLayout" Target="../slideLayouts/slideLayout149.xml"/><Relationship Id="rId12" Type="http://schemas.openxmlformats.org/officeDocument/2006/relationships/slideLayout" Target="../slideLayouts/slideLayout150.xml"/><Relationship Id="rId13" Type="http://schemas.openxmlformats.org/officeDocument/2006/relationships/slideLayout" Target="../slideLayouts/slideLayout151.xml"/><Relationship Id="rId14" Type="http://schemas.openxmlformats.org/officeDocument/2006/relationships/slideLayout" Target="../slideLayouts/slideLayout152.xml"/><Relationship Id="rId15" Type="http://schemas.openxmlformats.org/officeDocument/2006/relationships/slideLayout" Target="../slideLayouts/slideLayout153.xml"/><Relationship Id="rId16" Type="http://schemas.openxmlformats.org/officeDocument/2006/relationships/slideLayout" Target="../slideLayouts/slideLayout154.xml"/><Relationship Id="rId17" Type="http://schemas.openxmlformats.org/officeDocument/2006/relationships/slideLayout" Target="../slideLayouts/slideLayout155.xml"/><Relationship Id="rId18" Type="http://schemas.openxmlformats.org/officeDocument/2006/relationships/slideLayout" Target="../slideLayouts/slideLayout156.xml"/><Relationship Id="rId19" Type="http://schemas.openxmlformats.org/officeDocument/2006/relationships/slideLayout" Target="../slideLayouts/slideLayout157.xml"/><Relationship Id="rId20" Type="http://schemas.openxmlformats.org/officeDocument/2006/relationships/slideLayout" Target="../slideLayouts/slideLayout158.xml"/><Relationship Id="rId21" Type="http://schemas.openxmlformats.org/officeDocument/2006/relationships/slideLayout" Target="../slideLayouts/slideLayout159.xml"/><Relationship Id="rId22" Type="http://schemas.openxmlformats.org/officeDocument/2006/relationships/slideLayout" Target="../slideLayouts/slideLayout160.xml"/><Relationship Id="rId23" Type="http://schemas.openxmlformats.org/officeDocument/2006/relationships/slideLayout" Target="../slideLayouts/slideLayout161.xml"/><Relationship Id="rId24" Type="http://schemas.openxmlformats.org/officeDocument/2006/relationships/theme" Target="../theme/theme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29.09.26</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29.09.26</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29.09.26</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 id="2147483714" r:id="rId18"/>
    <p:sldLayoutId id="2147483715" r:id="rId19"/>
    <p:sldLayoutId id="2147483716" r:id="rId20"/>
    <p:sldLayoutId id="2147483717" r:id="rId21"/>
    <p:sldLayoutId id="2147483718" r:id="rId22"/>
    <p:sldLayoutId id="2147483719"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29.09.26</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 id="2147483738" r:id="rId18"/>
    <p:sldLayoutId id="2147483739" r:id="rId19"/>
    <p:sldLayoutId id="2147483740" r:id="rId20"/>
    <p:sldLayoutId id="2147483741" r:id="rId21"/>
    <p:sldLayoutId id="2147483742" r:id="rId22"/>
    <p:sldLayoutId id="2147483743"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29.09.26</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 id="2147483762" r:id="rId18"/>
    <p:sldLayoutId id="2147483763" r:id="rId19"/>
    <p:sldLayoutId id="2147483764" r:id="rId20"/>
    <p:sldLayoutId id="2147483765" r:id="rId21"/>
    <p:sldLayoutId id="2147483766" r:id="rId22"/>
    <p:sldLayoutId id="2147483767"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29.09.26</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 id="2147483785" r:id="rId17"/>
    <p:sldLayoutId id="2147483786" r:id="rId18"/>
    <p:sldLayoutId id="2147483787" r:id="rId19"/>
    <p:sldLayoutId id="2147483788" r:id="rId20"/>
    <p:sldLayoutId id="2147483789" r:id="rId21"/>
    <p:sldLayoutId id="2147483790" r:id="rId22"/>
    <p:sldLayoutId id="2147483791"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29.09.26</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4" r:id="rId12"/>
    <p:sldLayoutId id="2147483805" r:id="rId13"/>
    <p:sldLayoutId id="2147483806" r:id="rId14"/>
    <p:sldLayoutId id="2147483807" r:id="rId15"/>
    <p:sldLayoutId id="2147483808" r:id="rId16"/>
    <p:sldLayoutId id="2147483809" r:id="rId17"/>
    <p:sldLayoutId id="2147483810" r:id="rId18"/>
    <p:sldLayoutId id="2147483811" r:id="rId19"/>
    <p:sldLayoutId id="2147483812" r:id="rId20"/>
    <p:sldLayoutId id="2147483813" r:id="rId21"/>
    <p:sldLayoutId id="2147483814" r:id="rId22"/>
    <p:sldLayoutId id="2147483815"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chart" Target="../charts/char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chart" Target="../charts/char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chart" Target="../charts/char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F4807"/>
        </a:solidFill>
        <a:effectLst/>
      </p:bgPr>
    </p:bg>
    <p:spTree>
      <p:nvGrpSpPr>
        <p:cNvPr id="1" name=""/>
        <p:cNvGrpSpPr/>
        <p:nvPr/>
      </p:nvGrpSpPr>
      <p:grpSpPr>
        <a:xfrm>
          <a:off x="0" y="0"/>
          <a:ext cx="0" cy="0"/>
          <a:chOff x="0" y="0"/>
          <a:chExt cx="0" cy="0"/>
        </a:xfrm>
      </p:grpSpPr>
      <p:sp>
        <p:nvSpPr>
          <p:cNvPr id="15" name="Teil des Logos"/>
          <p:cNvSpPr/>
          <p:nvPr/>
        </p:nvSpPr>
        <p:spPr>
          <a:xfrm>
            <a:off x="0" y="1929487"/>
            <a:ext cx="6239665" cy="4928513"/>
          </a:xfrm>
          <a:custGeom>
            <a:avLst/>
            <a:gdLst>
              <a:gd name="connsiteX0" fmla="*/ 343733 w 6239665"/>
              <a:gd name="connsiteY0" fmla="*/ 1 h 4928513"/>
              <a:gd name="connsiteX1" fmla="*/ 363365 w 6239665"/>
              <a:gd name="connsiteY1" fmla="*/ 454 h 4928513"/>
              <a:gd name="connsiteX2" fmla="*/ 391501 w 6239665"/>
              <a:gd name="connsiteY2" fmla="*/ 1 h 4928513"/>
              <a:gd name="connsiteX3" fmla="*/ 913851 w 6239665"/>
              <a:gd name="connsiteY3" fmla="*/ 12035 h 4928513"/>
              <a:gd name="connsiteX4" fmla="*/ 6190318 w 6239665"/>
              <a:gd name="connsiteY4" fmla="*/ 4641670 h 4928513"/>
              <a:gd name="connsiteX5" fmla="*/ 6239665 w 6239665"/>
              <a:gd name="connsiteY5" fmla="*/ 4928513 h 4928513"/>
              <a:gd name="connsiteX6" fmla="*/ 2549806 w 6239665"/>
              <a:gd name="connsiteY6" fmla="*/ 4928513 h 4928513"/>
              <a:gd name="connsiteX7" fmla="*/ 2495430 w 6239665"/>
              <a:gd name="connsiteY7" fmla="*/ 4786236 h 4928513"/>
              <a:gd name="connsiteX8" fmla="*/ 45385 w 6239665"/>
              <a:gd name="connsiteY8" fmla="*/ 3413227 h 4928513"/>
              <a:gd name="connsiteX9" fmla="*/ 0 w 6239665"/>
              <a:gd name="connsiteY9" fmla="*/ 3409750 h 4928513"/>
              <a:gd name="connsiteX10" fmla="*/ 0 w 6239665"/>
              <a:gd name="connsiteY10" fmla="*/ 5528 h 4928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39665" h="4928513">
                <a:moveTo>
                  <a:pt x="343733" y="1"/>
                </a:moveTo>
                <a:lnTo>
                  <a:pt x="363365" y="454"/>
                </a:lnTo>
                <a:lnTo>
                  <a:pt x="391501" y="1"/>
                </a:lnTo>
                <a:cubicBezTo>
                  <a:pt x="574027" y="-6"/>
                  <a:pt x="748982" y="4008"/>
                  <a:pt x="913851" y="12035"/>
                </a:cubicBezTo>
                <a:cubicBezTo>
                  <a:pt x="3765486" y="120637"/>
                  <a:pt x="5666021" y="1924912"/>
                  <a:pt x="6190318" y="4641670"/>
                </a:cubicBezTo>
                <a:lnTo>
                  <a:pt x="6239665" y="4928513"/>
                </a:lnTo>
                <a:lnTo>
                  <a:pt x="2549806" y="4928513"/>
                </a:lnTo>
                <a:lnTo>
                  <a:pt x="2495430" y="4786236"/>
                </a:lnTo>
                <a:cubicBezTo>
                  <a:pt x="2118161" y="3890405"/>
                  <a:pt x="1345158" y="3534960"/>
                  <a:pt x="45385" y="3413227"/>
                </a:cubicBezTo>
                <a:lnTo>
                  <a:pt x="0" y="3409750"/>
                </a:lnTo>
                <a:lnTo>
                  <a:pt x="0" y="5528"/>
                </a:lnTo>
                <a:close/>
              </a:path>
            </a:pathLst>
          </a:custGeom>
          <a:solidFill>
            <a:srgbClr val="FFFFFF">
              <a:alpha val="18000"/>
            </a:srgbClr>
          </a:solidFill>
          <a:ln w="80179" cap="flat">
            <a:noFill/>
            <a:prstDash val="solid"/>
            <a:round/>
          </a:ln>
        </p:spPr>
        <p:txBody>
          <a:bodyPr lIns="90979" tIns="45489" rIns="90979" bIns="45489" rtlCol="0" anchor="ctr"/>
          <a:lstStyle/>
          <a:p>
            <a:endParaRPr lang="de-DE"/>
          </a:p>
        </p:txBody>
      </p:sp>
      <p:sp>
        <p:nvSpPr>
          <p:cNvPr id="6" name="Untertitel 5"/>
          <p:cNvSpPr>
            <a:spLocks noGrp="1"/>
          </p:cNvSpPr>
          <p:nvPr>
            <p:ph type="subTitle" idx="1"/>
          </p:nvPr>
        </p:nvSpPr>
        <p:spPr>
          <a:xfrm>
            <a:off x="630168" y="3513332"/>
            <a:ext cx="10058400" cy="1048109"/>
          </a:xfrm>
        </p:spPr>
        <p:txBody>
          <a:bodyPr/>
          <a:lstStyle/>
          <a:p>
            <a:r>
              <a:rPr b="1"/>
              <a:t>Evaluating RAG-based high-risk classification under the EU AI Act against an authoritative answer key</a:t>
            </a:r>
            <a:endParaRPr lang="en-US" altLang="en-GB" b="0" dirty="0"/>
          </a:p>
          <a:p>
            <a:r>
              <a:rPr b="0"/>
              <a:t>Master of Science Data Science and Analytics – Case Study 2 – September 2026</a:t>
            </a:r>
          </a:p>
          <a:p>
            <a:r>
              <a:rPr b="0"/>
              <a:t>Rahul Rawat  |  Supervisor: Prof. Dr. Swati Chandna</a:t>
            </a:r>
          </a:p>
        </p:txBody>
      </p:sp>
      <p:sp>
        <p:nvSpPr>
          <p:cNvPr id="5" name="Titel 4"/>
          <p:cNvSpPr>
            <a:spLocks noGrp="1"/>
          </p:cNvSpPr>
          <p:nvPr>
            <p:ph type="ctrTitle"/>
          </p:nvPr>
        </p:nvSpPr>
        <p:spPr>
          <a:xfrm>
            <a:off x="630168" y="536308"/>
            <a:ext cx="9071274" cy="3018316"/>
          </a:xfrm>
        </p:spPr>
        <p:txBody>
          <a:bodyPr/>
          <a:lstStyle/>
          <a:p>
            <a:r>
              <a:t>Faithful but wrong?</a:t>
            </a:r>
          </a:p>
        </p:txBody>
      </p:sp>
      <p:sp>
        <p:nvSpPr>
          <p:cNvPr id="7" name="Textplatzhalter 6"/>
          <p:cNvSpPr>
            <a:spLocks noGrp="1"/>
          </p:cNvSpPr>
          <p:nvPr>
            <p:ph type="body" sz="quarter" idx="10"/>
          </p:nvPr>
        </p:nvSpPr>
        <p:spPr/>
        <p:txBody>
          <a:bodyPr/>
          <a:lstStyle/>
          <a:p>
            <a:r>
              <a:rPr lang="de-DE" dirty="0" err="1"/>
              <a:t>Passionate</a:t>
            </a:r>
            <a:r>
              <a:rPr lang="de-DE" dirty="0"/>
              <a:t> </a:t>
            </a:r>
            <a:r>
              <a:rPr lang="de-DE" dirty="0" err="1"/>
              <a:t>about</a:t>
            </a:r>
            <a:r>
              <a:rPr lang="de-DE" dirty="0"/>
              <a:t> </a:t>
            </a:r>
            <a:br>
              <a:rPr lang="de-DE" dirty="0"/>
            </a:br>
            <a:r>
              <a:rPr lang="de-DE" dirty="0" err="1"/>
              <a:t>life</a:t>
            </a:r>
            <a:r>
              <a:rPr lang="de-DE" dirty="0"/>
              <a:t>.</a:t>
            </a:r>
          </a:p>
        </p:txBody>
      </p:sp>
      <p:sp>
        <p:nvSpPr>
          <p:cNvPr id="2" name="Holding/Dienstleistung" hidden="1"/>
          <p:cNvSpPr/>
          <p:nvPr/>
        </p:nvSpPr>
        <p:spPr>
          <a:xfrm>
            <a:off x="628506" y="457200"/>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rgbClr val="AAA39D"/>
          </a:solidFill>
          <a:ln w="6638" cap="flat">
            <a:noFill/>
            <a:prstDash val="solid"/>
            <a:round/>
          </a:ln>
        </p:spPr>
        <p:txBody>
          <a:bodyPr rtlCol="0" anchor="ctr"/>
          <a:lstStyle/>
          <a:p>
            <a:endParaRPr lang="de-DE"/>
          </a:p>
        </p:txBody>
      </p:sp>
      <p:sp>
        <p:nvSpPr>
          <p:cNvPr id="3" name="Gesundheit" hidden="1"/>
          <p:cNvSpPr/>
          <p:nvPr/>
        </p:nvSpPr>
        <p:spPr>
          <a:xfrm>
            <a:off x="628506" y="457200"/>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rgbClr val="0067A0"/>
          </a:solidFill>
          <a:ln w="6638" cap="flat">
            <a:noFill/>
            <a:prstDash val="solid"/>
            <a:round/>
          </a:ln>
        </p:spPr>
        <p:txBody>
          <a:bodyPr rtlCol="0" anchor="ctr"/>
          <a:lstStyle/>
          <a:p>
            <a:endParaRPr lang="de-DE"/>
          </a:p>
        </p:txBody>
      </p:sp>
      <p:sp>
        <p:nvSpPr>
          <p:cNvPr id="9" name="Bildung" hidden="1"/>
          <p:cNvSpPr/>
          <p:nvPr/>
        </p:nvSpPr>
        <p:spPr>
          <a:xfrm>
            <a:off x="628506" y="457200"/>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
        <p:nvSpPr>
          <p:cNvPr id="4" name="Logo flex."/>
          <p:cNvSpPr/>
          <p:nvPr/>
        </p:nvSpPr>
        <p:spPr>
          <a:xfrm>
            <a:off x="628506" y="457200"/>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rgbClr val="FFFFFF"/>
          </a:solidFill>
          <a:ln w="6638" cap="flat">
            <a:noFill/>
            <a:prstDash val="solid"/>
            <a:round/>
          </a:ln>
        </p:spPr>
        <p:txBody>
          <a:bodyPr rtlCol="0" anchor="ctr"/>
          <a:lstStyle/>
          <a:p>
            <a:endParaRPr lang="de-D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Motivation and task</a:t>
            </a:r>
          </a:p>
        </p:txBody>
      </p:sp>
      <p:sp>
        <p:nvSpPr>
          <p:cNvPr id="3" name="Text Placeholder 2"/>
          <p:cNvSpPr>
            <a:spLocks noGrp="1"/>
          </p:cNvSpPr>
          <p:nvPr>
            <p:ph type="body" idx="1"/>
          </p:nvPr>
        </p:nvSpPr>
        <p:spPr/>
        <p:txBody>
          <a:bodyPr/>
          <a:lstStyle/>
          <a:p>
            <a:r>
              <a:t>01</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Is grounded the same as right?</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1155680" cy="457200"/>
          </a:xfrm>
          <a:prstGeom prst="rect">
            <a:avLst/>
          </a:prstGeom>
          <a:noFill/>
        </p:spPr>
        <p:txBody>
          <a:bodyPr wrap="square" anchor="t" lIns="0" rIns="0" tIns="0" bIns="0">
            <a:spAutoFit/>
          </a:bodyPr>
          <a:lstStyle/>
          <a:p>
            <a:pPr algn="l">
              <a:spcAft>
                <a:spcPts val="400"/>
              </a:spcAft>
            </a:pPr>
            <a:r>
              <a:rPr sz="1600" b="0" i="0">
                <a:solidFill>
                  <a:srgbClr val="575756"/>
                </a:solidFill>
              </a:rPr>
              <a:t>RAG compliance tools are usually judged by how grounded their answers are.</a:t>
            </a:r>
          </a:p>
        </p:txBody>
      </p:sp>
      <p:sp>
        <p:nvSpPr>
          <p:cNvPr id="8" name="Rectangle 7"/>
          <p:cNvSpPr/>
          <p:nvPr/>
        </p:nvSpPr>
        <p:spPr>
          <a:xfrm>
            <a:off x="356616" y="1965960"/>
            <a:ext cx="5120640" cy="164592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2148840"/>
            <a:ext cx="4754880" cy="365760"/>
          </a:xfrm>
          <a:prstGeom prst="rect">
            <a:avLst/>
          </a:prstGeom>
          <a:noFill/>
        </p:spPr>
        <p:txBody>
          <a:bodyPr wrap="square" anchor="t" lIns="0" rIns="0" tIns="0" bIns="0">
            <a:spAutoFit/>
          </a:bodyPr>
          <a:lstStyle/>
          <a:p>
            <a:pPr algn="l">
              <a:spcAft>
                <a:spcPts val="400"/>
              </a:spcAft>
            </a:pPr>
            <a:r>
              <a:rPr sz="1800" b="1" i="0">
                <a:solidFill>
                  <a:srgbClr val="DF4807"/>
                </a:solidFill>
              </a:rPr>
              <a:t>Faithfulness (RAGAS)</a:t>
            </a:r>
          </a:p>
        </p:txBody>
      </p:sp>
      <p:sp>
        <p:nvSpPr>
          <p:cNvPr id="10" name="TextBox 9"/>
          <p:cNvSpPr txBox="1"/>
          <p:nvPr/>
        </p:nvSpPr>
        <p:spPr>
          <a:xfrm>
            <a:off x="548640" y="2606039"/>
            <a:ext cx="4754880" cy="914400"/>
          </a:xfrm>
          <a:prstGeom prst="rect">
            <a:avLst/>
          </a:prstGeom>
          <a:noFill/>
        </p:spPr>
        <p:txBody>
          <a:bodyPr wrap="square" anchor="t" lIns="0" rIns="0" tIns="0" bIns="0">
            <a:spAutoFit/>
          </a:bodyPr>
          <a:lstStyle/>
          <a:p>
            <a:pPr algn="l">
              <a:spcAft>
                <a:spcPts val="400"/>
              </a:spcAft>
            </a:pPr>
            <a:r>
              <a:rPr sz="1400" b="0" i="0">
                <a:solidFill>
                  <a:srgbClr val="575756"/>
                </a:solidFill>
              </a:rPr>
              <a:t>Share of the answer's claims that can be traced to the retrieved passages. Needs no answer key, which is why it is so widely used.</a:t>
            </a:r>
          </a:p>
        </p:txBody>
      </p:sp>
      <p:sp>
        <p:nvSpPr>
          <p:cNvPr id="11" name="Rectangle 10"/>
          <p:cNvSpPr/>
          <p:nvPr/>
        </p:nvSpPr>
        <p:spPr>
          <a:xfrm>
            <a:off x="356616" y="3840479"/>
            <a:ext cx="5120640" cy="164592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4023359"/>
            <a:ext cx="4754880" cy="365760"/>
          </a:xfrm>
          <a:prstGeom prst="rect">
            <a:avLst/>
          </a:prstGeom>
          <a:noFill/>
        </p:spPr>
        <p:txBody>
          <a:bodyPr wrap="square" anchor="t" lIns="0" rIns="0" tIns="0" bIns="0">
            <a:spAutoFit/>
          </a:bodyPr>
          <a:lstStyle/>
          <a:p>
            <a:pPr algn="l">
              <a:spcAft>
                <a:spcPts val="400"/>
              </a:spcAft>
            </a:pPr>
            <a:r>
              <a:rPr sz="1800" b="1" i="0">
                <a:solidFill>
                  <a:srgbClr val="DF4807"/>
                </a:solidFill>
              </a:rPr>
              <a:t>Correctness</a:t>
            </a:r>
          </a:p>
        </p:txBody>
      </p:sp>
      <p:sp>
        <p:nvSpPr>
          <p:cNvPr id="13" name="TextBox 12"/>
          <p:cNvSpPr txBox="1"/>
          <p:nvPr/>
        </p:nvSpPr>
        <p:spPr>
          <a:xfrm>
            <a:off x="548640" y="4480559"/>
            <a:ext cx="4754880" cy="914400"/>
          </a:xfrm>
          <a:prstGeom prst="rect">
            <a:avLst/>
          </a:prstGeom>
          <a:noFill/>
        </p:spPr>
        <p:txBody>
          <a:bodyPr wrap="square" anchor="t" lIns="0" rIns="0" tIns="0" bIns="0">
            <a:spAutoFit/>
          </a:bodyPr>
          <a:lstStyle/>
          <a:p>
            <a:pPr algn="l">
              <a:spcAft>
                <a:spcPts val="400"/>
              </a:spcAft>
            </a:pPr>
            <a:r>
              <a:rPr sz="1400" b="0" i="0">
                <a:solidFill>
                  <a:srgbClr val="575756"/>
                </a:solidFill>
              </a:rPr>
              <a:t>Does the predicted label match the official answer? Needs a ground truth, which legal tasks rarely have.</a:t>
            </a:r>
          </a:p>
        </p:txBody>
      </p:sp>
      <p:sp>
        <p:nvSpPr>
          <p:cNvPr id="14" name="TextBox 13"/>
          <p:cNvSpPr txBox="1"/>
          <p:nvPr/>
        </p:nvSpPr>
        <p:spPr>
          <a:xfrm>
            <a:off x="6035040" y="1965960"/>
            <a:ext cx="5486400" cy="365760"/>
          </a:xfrm>
          <a:prstGeom prst="rect">
            <a:avLst/>
          </a:prstGeom>
          <a:noFill/>
        </p:spPr>
        <p:txBody>
          <a:bodyPr wrap="square" anchor="t" lIns="0" rIns="0" tIns="0" bIns="0">
            <a:spAutoFit/>
          </a:bodyPr>
          <a:lstStyle/>
          <a:p>
            <a:pPr algn="l">
              <a:spcAft>
                <a:spcPts val="400"/>
              </a:spcAft>
            </a:pPr>
            <a:r>
              <a:rPr sz="1600" b="1" i="0">
                <a:solidFill>
                  <a:srgbClr val="575756"/>
                </a:solidFill>
              </a:rPr>
              <a:t>Two independent axes, four buckets</a:t>
            </a:r>
          </a:p>
        </p:txBody>
      </p:sp>
      <p:sp>
        <p:nvSpPr>
          <p:cNvPr id="15" name="Rectangle 14"/>
          <p:cNvSpPr/>
          <p:nvPr/>
        </p:nvSpPr>
        <p:spPr>
          <a:xfrm>
            <a:off x="6035040" y="2468880"/>
            <a:ext cx="2651760" cy="1344168"/>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172200" y="2743200"/>
            <a:ext cx="2377440" cy="822960"/>
          </a:xfrm>
          <a:prstGeom prst="rect">
            <a:avLst/>
          </a:prstGeom>
          <a:noFill/>
        </p:spPr>
        <p:txBody>
          <a:bodyPr wrap="square" anchor="t" lIns="0" rIns="0" tIns="0" bIns="0">
            <a:spAutoFit/>
          </a:bodyPr>
          <a:lstStyle/>
          <a:p>
            <a:pPr algn="ctr">
              <a:spcAft>
                <a:spcPts val="400"/>
              </a:spcAft>
            </a:pPr>
            <a:r>
              <a:rPr sz="1500" b="1" i="0">
                <a:solidFill>
                  <a:srgbClr val="575756"/>
                </a:solidFill>
              </a:rPr>
              <a:t>Right and faithful</a:t>
            </a:r>
          </a:p>
          <a:p>
            <a:pPr algn="ctr">
              <a:spcAft>
                <a:spcPts val="400"/>
              </a:spcAft>
            </a:pPr>
            <a:r>
              <a:rPr sz="1200" b="0" i="1">
                <a:solidFill>
                  <a:srgbClr val="575756"/>
                </a:solidFill>
              </a:rPr>
              <a:t>expected</a:t>
            </a:r>
          </a:p>
        </p:txBody>
      </p:sp>
      <p:sp>
        <p:nvSpPr>
          <p:cNvPr id="17" name="Rectangle 16"/>
          <p:cNvSpPr/>
          <p:nvPr/>
        </p:nvSpPr>
        <p:spPr>
          <a:xfrm>
            <a:off x="8823959" y="2468880"/>
            <a:ext cx="2651760" cy="1344168"/>
          </a:xfrm>
          <a:prstGeom prst="rect">
            <a:avLst/>
          </a:prstGeom>
          <a:solidFill>
            <a:srgbClr val="FBE4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961119" y="2743200"/>
            <a:ext cx="2377440" cy="822960"/>
          </a:xfrm>
          <a:prstGeom prst="rect">
            <a:avLst/>
          </a:prstGeom>
          <a:noFill/>
        </p:spPr>
        <p:txBody>
          <a:bodyPr wrap="square" anchor="t" lIns="0" rIns="0" tIns="0" bIns="0">
            <a:spAutoFit/>
          </a:bodyPr>
          <a:lstStyle/>
          <a:p>
            <a:pPr algn="ctr">
              <a:spcAft>
                <a:spcPts val="400"/>
              </a:spcAft>
            </a:pPr>
            <a:r>
              <a:rPr sz="1500" b="1" i="0">
                <a:solidFill>
                  <a:srgbClr val="DF4807"/>
                </a:solidFill>
              </a:rPr>
              <a:t>Right but unfaithful</a:t>
            </a:r>
          </a:p>
          <a:p>
            <a:pPr algn="ctr">
              <a:spcAft>
                <a:spcPts val="400"/>
              </a:spcAft>
            </a:pPr>
            <a:r>
              <a:rPr sz="1200" b="0" i="1">
                <a:solidFill>
                  <a:srgbClr val="DF4807"/>
                </a:solidFill>
              </a:rPr>
              <a:t>finding</a:t>
            </a:r>
          </a:p>
        </p:txBody>
      </p:sp>
      <p:sp>
        <p:nvSpPr>
          <p:cNvPr id="19" name="Rectangle 18"/>
          <p:cNvSpPr/>
          <p:nvPr/>
        </p:nvSpPr>
        <p:spPr>
          <a:xfrm>
            <a:off x="6035040" y="3950208"/>
            <a:ext cx="2651760" cy="1344168"/>
          </a:xfrm>
          <a:prstGeom prst="rect">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172200" y="4224528"/>
            <a:ext cx="2377440" cy="822960"/>
          </a:xfrm>
          <a:prstGeom prst="rect">
            <a:avLst/>
          </a:prstGeom>
          <a:noFill/>
        </p:spPr>
        <p:txBody>
          <a:bodyPr wrap="square" anchor="t" lIns="0" rIns="0" tIns="0" bIns="0">
            <a:spAutoFit/>
          </a:bodyPr>
          <a:lstStyle/>
          <a:p>
            <a:pPr algn="ctr">
              <a:spcAft>
                <a:spcPts val="400"/>
              </a:spcAft>
            </a:pPr>
            <a:r>
              <a:rPr sz="1500" b="1" i="0">
                <a:solidFill>
                  <a:srgbClr val="FFFFFF"/>
                </a:solidFill>
              </a:rPr>
              <a:t>Faithful but wrong</a:t>
            </a:r>
          </a:p>
          <a:p>
            <a:pPr algn="ctr">
              <a:spcAft>
                <a:spcPts val="400"/>
              </a:spcAft>
            </a:pPr>
            <a:r>
              <a:rPr sz="1200" b="0" i="1">
                <a:solidFill>
                  <a:srgbClr val="FFFFFF"/>
                </a:solidFill>
              </a:rPr>
              <a:t>headline finding</a:t>
            </a:r>
          </a:p>
        </p:txBody>
      </p:sp>
      <p:sp>
        <p:nvSpPr>
          <p:cNvPr id="21" name="Rectangle 20"/>
          <p:cNvSpPr/>
          <p:nvPr/>
        </p:nvSpPr>
        <p:spPr>
          <a:xfrm>
            <a:off x="8823959" y="3950208"/>
            <a:ext cx="2651760" cy="1344168"/>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961119" y="4224528"/>
            <a:ext cx="2377440" cy="822960"/>
          </a:xfrm>
          <a:prstGeom prst="rect">
            <a:avLst/>
          </a:prstGeom>
          <a:noFill/>
        </p:spPr>
        <p:txBody>
          <a:bodyPr wrap="square" anchor="t" lIns="0" rIns="0" tIns="0" bIns="0">
            <a:spAutoFit/>
          </a:bodyPr>
          <a:lstStyle/>
          <a:p>
            <a:pPr algn="ctr">
              <a:spcAft>
                <a:spcPts val="400"/>
              </a:spcAft>
            </a:pPr>
            <a:r>
              <a:rPr sz="1500" b="1" i="0">
                <a:solidFill>
                  <a:srgbClr val="575756"/>
                </a:solidFill>
              </a:rPr>
              <a:t>Wrong and unfaithful</a:t>
            </a:r>
          </a:p>
          <a:p>
            <a:pPr algn="ctr">
              <a:spcAft>
                <a:spcPts val="400"/>
              </a:spcAft>
            </a:pPr>
            <a:r>
              <a:rPr sz="1200" b="0" i="1">
                <a:solidFill>
                  <a:srgbClr val="575756"/>
                </a:solidFill>
              </a:rPr>
              <a:t>expected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task: Article 6 high-risk classification</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1155680" cy="365760"/>
          </a:xfrm>
          <a:prstGeom prst="rect">
            <a:avLst/>
          </a:prstGeom>
          <a:noFill/>
        </p:spPr>
        <p:txBody>
          <a:bodyPr wrap="square" anchor="t" lIns="0" rIns="0" tIns="0" bIns="0">
            <a:spAutoFit/>
          </a:bodyPr>
          <a:lstStyle/>
          <a:p>
            <a:pPr algn="l">
              <a:spcAft>
                <a:spcPts val="400"/>
              </a:spcAft>
            </a:pPr>
            <a:r>
              <a:rPr sz="1600" b="0" i="0">
                <a:solidFill>
                  <a:srgbClr val="575756"/>
                </a:solidFill>
              </a:rPr>
              <a:t>Annex III route of the EU AI Act, including the Article 6(3) filter</a:t>
            </a:r>
          </a:p>
        </p:txBody>
      </p:sp>
      <p:sp>
        <p:nvSpPr>
          <p:cNvPr id="8" name="Rectangle 7"/>
          <p:cNvSpPr/>
          <p:nvPr/>
        </p:nvSpPr>
        <p:spPr>
          <a:xfrm>
            <a:off x="356616" y="1920240"/>
            <a:ext cx="2606040" cy="251460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39496" y="210312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1</a:t>
            </a:r>
          </a:p>
        </p:txBody>
      </p:sp>
      <p:sp>
        <p:nvSpPr>
          <p:cNvPr id="10" name="TextBox 9"/>
          <p:cNvSpPr txBox="1"/>
          <p:nvPr/>
        </p:nvSpPr>
        <p:spPr>
          <a:xfrm>
            <a:off x="539496" y="2651760"/>
            <a:ext cx="2240280" cy="411480"/>
          </a:xfrm>
          <a:prstGeom prst="rect">
            <a:avLst/>
          </a:prstGeom>
          <a:noFill/>
        </p:spPr>
        <p:txBody>
          <a:bodyPr wrap="square" anchor="t" lIns="0" rIns="0" tIns="0" bIns="0">
            <a:spAutoFit/>
          </a:bodyPr>
          <a:lstStyle/>
          <a:p>
            <a:pPr algn="l">
              <a:spcAft>
                <a:spcPts val="400"/>
              </a:spcAft>
            </a:pPr>
            <a:r>
              <a:rPr sz="1600" b="1" i="0">
                <a:solidFill>
                  <a:srgbClr val="DF4807"/>
                </a:solidFill>
              </a:rPr>
              <a:t>Intended purpose</a:t>
            </a:r>
          </a:p>
        </p:txBody>
      </p:sp>
      <p:sp>
        <p:nvSpPr>
          <p:cNvPr id="11" name="TextBox 10"/>
          <p:cNvSpPr txBox="1"/>
          <p:nvPr/>
        </p:nvSpPr>
        <p:spPr>
          <a:xfrm>
            <a:off x="539496" y="3108960"/>
            <a:ext cx="2240280" cy="1280160"/>
          </a:xfrm>
          <a:prstGeom prst="rect">
            <a:avLst/>
          </a:prstGeom>
          <a:noFill/>
        </p:spPr>
        <p:txBody>
          <a:bodyPr wrap="square" anchor="t" lIns="0" rIns="0" tIns="0" bIns="0">
            <a:spAutoFit/>
          </a:bodyPr>
          <a:lstStyle/>
          <a:p>
            <a:pPr algn="l">
              <a:spcAft>
                <a:spcPts val="400"/>
              </a:spcAft>
            </a:pPr>
            <a:r>
              <a:rPr sz="1250" b="0" i="0">
                <a:solidFill>
                  <a:srgbClr val="575756"/>
                </a:solidFill>
              </a:rPr>
              <a:t>What does the system do, for whom, with which data?</a:t>
            </a:r>
          </a:p>
        </p:txBody>
      </p:sp>
      <p:sp>
        <p:nvSpPr>
          <p:cNvPr id="12" name="Rectangle 11"/>
          <p:cNvSpPr/>
          <p:nvPr/>
        </p:nvSpPr>
        <p:spPr>
          <a:xfrm>
            <a:off x="3209544" y="1920240"/>
            <a:ext cx="2606040" cy="251460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3392424" y="210312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2</a:t>
            </a:r>
          </a:p>
        </p:txBody>
      </p:sp>
      <p:sp>
        <p:nvSpPr>
          <p:cNvPr id="14" name="TextBox 13"/>
          <p:cNvSpPr txBox="1"/>
          <p:nvPr/>
        </p:nvSpPr>
        <p:spPr>
          <a:xfrm>
            <a:off x="3392424" y="2651760"/>
            <a:ext cx="2240280" cy="411480"/>
          </a:xfrm>
          <a:prstGeom prst="rect">
            <a:avLst/>
          </a:prstGeom>
          <a:noFill/>
        </p:spPr>
        <p:txBody>
          <a:bodyPr wrap="square" anchor="t" lIns="0" rIns="0" tIns="0" bIns="0">
            <a:spAutoFit/>
          </a:bodyPr>
          <a:lstStyle/>
          <a:p>
            <a:pPr algn="l">
              <a:spcAft>
                <a:spcPts val="400"/>
              </a:spcAft>
            </a:pPr>
            <a:r>
              <a:rPr sz="1600" b="1" i="0">
                <a:solidFill>
                  <a:srgbClr val="DF4807"/>
                </a:solidFill>
              </a:rPr>
              <a:t>Annex III use case?</a:t>
            </a:r>
          </a:p>
        </p:txBody>
      </p:sp>
      <p:sp>
        <p:nvSpPr>
          <p:cNvPr id="15" name="TextBox 14"/>
          <p:cNvSpPr txBox="1"/>
          <p:nvPr/>
        </p:nvSpPr>
        <p:spPr>
          <a:xfrm>
            <a:off x="3392424" y="3108960"/>
            <a:ext cx="2240280" cy="1280160"/>
          </a:xfrm>
          <a:prstGeom prst="rect">
            <a:avLst/>
          </a:prstGeom>
          <a:noFill/>
        </p:spPr>
        <p:txBody>
          <a:bodyPr wrap="square" anchor="t" lIns="0" rIns="0" tIns="0" bIns="0">
            <a:spAutoFit/>
          </a:bodyPr>
          <a:lstStyle/>
          <a:p>
            <a:pPr algn="l">
              <a:spcAft>
                <a:spcPts val="400"/>
              </a:spcAft>
            </a:pPr>
            <a:r>
              <a:rPr sz="1250" b="0" i="0">
                <a:solidFill>
                  <a:srgbClr val="575756"/>
                </a:solidFill>
              </a:rPr>
              <a:t>Eight areas: biometrics, critical infrastructure, education, employment, essential services, law enforcement, migration, justice and democracy</a:t>
            </a:r>
          </a:p>
        </p:txBody>
      </p:sp>
      <p:sp>
        <p:nvSpPr>
          <p:cNvPr id="16" name="Rectangle 15"/>
          <p:cNvSpPr/>
          <p:nvPr/>
        </p:nvSpPr>
        <p:spPr>
          <a:xfrm>
            <a:off x="6062472" y="1920240"/>
            <a:ext cx="2606040" cy="251460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245352" y="210312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3</a:t>
            </a:r>
          </a:p>
        </p:txBody>
      </p:sp>
      <p:sp>
        <p:nvSpPr>
          <p:cNvPr id="18" name="TextBox 17"/>
          <p:cNvSpPr txBox="1"/>
          <p:nvPr/>
        </p:nvSpPr>
        <p:spPr>
          <a:xfrm>
            <a:off x="6245352" y="2651760"/>
            <a:ext cx="2240280" cy="411480"/>
          </a:xfrm>
          <a:prstGeom prst="rect">
            <a:avLst/>
          </a:prstGeom>
          <a:noFill/>
        </p:spPr>
        <p:txBody>
          <a:bodyPr wrap="square" anchor="t" lIns="0" rIns="0" tIns="0" bIns="0">
            <a:spAutoFit/>
          </a:bodyPr>
          <a:lstStyle/>
          <a:p>
            <a:pPr algn="l">
              <a:spcAft>
                <a:spcPts val="400"/>
              </a:spcAft>
            </a:pPr>
            <a:r>
              <a:rPr sz="1600" b="1" i="0">
                <a:solidFill>
                  <a:srgbClr val="DF4807"/>
                </a:solidFill>
              </a:rPr>
              <a:t>Article 6(3) filter</a:t>
            </a:r>
          </a:p>
        </p:txBody>
      </p:sp>
      <p:sp>
        <p:nvSpPr>
          <p:cNvPr id="19" name="TextBox 18"/>
          <p:cNvSpPr txBox="1"/>
          <p:nvPr/>
        </p:nvSpPr>
        <p:spPr>
          <a:xfrm>
            <a:off x="6245352" y="3108960"/>
            <a:ext cx="2240280" cy="1280160"/>
          </a:xfrm>
          <a:prstGeom prst="rect">
            <a:avLst/>
          </a:prstGeom>
          <a:noFill/>
        </p:spPr>
        <p:txBody>
          <a:bodyPr wrap="square" anchor="t" lIns="0" rIns="0" tIns="0" bIns="0">
            <a:spAutoFit/>
          </a:bodyPr>
          <a:lstStyle/>
          <a:p>
            <a:pPr algn="l">
              <a:spcAft>
                <a:spcPts val="400"/>
              </a:spcAft>
            </a:pPr>
            <a:r>
              <a:rPr sz="1250" b="0" i="0">
                <a:solidFill>
                  <a:srgbClr val="575756"/>
                </a:solidFill>
              </a:rPr>
              <a:t>Out again if only a narrow procedural or preparatory task, or improving completed human work. Profiling always stays high-risk.</a:t>
            </a:r>
          </a:p>
        </p:txBody>
      </p:sp>
      <p:sp>
        <p:nvSpPr>
          <p:cNvPr id="20" name="Rectangle 19"/>
          <p:cNvSpPr/>
          <p:nvPr/>
        </p:nvSpPr>
        <p:spPr>
          <a:xfrm>
            <a:off x="8915400" y="1920240"/>
            <a:ext cx="2606040" cy="251460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098280" y="210312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4</a:t>
            </a:r>
          </a:p>
        </p:txBody>
      </p:sp>
      <p:sp>
        <p:nvSpPr>
          <p:cNvPr id="22" name="TextBox 21"/>
          <p:cNvSpPr txBox="1"/>
          <p:nvPr/>
        </p:nvSpPr>
        <p:spPr>
          <a:xfrm>
            <a:off x="9098280" y="2651760"/>
            <a:ext cx="2240280" cy="411480"/>
          </a:xfrm>
          <a:prstGeom prst="rect">
            <a:avLst/>
          </a:prstGeom>
          <a:noFill/>
        </p:spPr>
        <p:txBody>
          <a:bodyPr wrap="square" anchor="t" lIns="0" rIns="0" tIns="0" bIns="0">
            <a:spAutoFit/>
          </a:bodyPr>
          <a:lstStyle/>
          <a:p>
            <a:pPr algn="l">
              <a:spcAft>
                <a:spcPts val="400"/>
              </a:spcAft>
            </a:pPr>
            <a:r>
              <a:rPr sz="1600" b="1" i="0">
                <a:solidFill>
                  <a:srgbClr val="DF4807"/>
                </a:solidFill>
              </a:rPr>
              <a:t>Label</a:t>
            </a:r>
          </a:p>
        </p:txBody>
      </p:sp>
      <p:sp>
        <p:nvSpPr>
          <p:cNvPr id="23" name="TextBox 22"/>
          <p:cNvSpPr txBox="1"/>
          <p:nvPr/>
        </p:nvSpPr>
        <p:spPr>
          <a:xfrm>
            <a:off x="9098280" y="3108960"/>
            <a:ext cx="2240280" cy="1280160"/>
          </a:xfrm>
          <a:prstGeom prst="rect">
            <a:avLst/>
          </a:prstGeom>
          <a:noFill/>
        </p:spPr>
        <p:txBody>
          <a:bodyPr wrap="square" anchor="t" lIns="0" rIns="0" tIns="0" bIns="0">
            <a:spAutoFit/>
          </a:bodyPr>
          <a:lstStyle/>
          <a:p>
            <a:pPr algn="l">
              <a:spcAft>
                <a:spcPts val="400"/>
              </a:spcAft>
            </a:pPr>
            <a:r>
              <a:rPr sz="1250" b="0" i="0">
                <a:solidFill>
                  <a:srgbClr val="575756"/>
                </a:solidFill>
              </a:rPr>
              <a:t>high-risk or not-high-risk, with an explanation</a:t>
            </a:r>
          </a:p>
        </p:txBody>
      </p:sp>
      <p:sp>
        <p:nvSpPr>
          <p:cNvPr id="24" name="Rectangle 23"/>
          <p:cNvSpPr/>
          <p:nvPr/>
        </p:nvSpPr>
        <p:spPr>
          <a:xfrm>
            <a:off x="356616" y="4709160"/>
            <a:ext cx="11155680" cy="1234440"/>
          </a:xfrm>
          <a:prstGeom prst="rect">
            <a:avLst/>
          </a:prstGeom>
          <a:solidFill>
            <a:srgbClr val="FBE4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48640" y="4846320"/>
            <a:ext cx="10789920" cy="1005840"/>
          </a:xfrm>
          <a:prstGeom prst="rect">
            <a:avLst/>
          </a:prstGeom>
          <a:noFill/>
        </p:spPr>
        <p:txBody>
          <a:bodyPr wrap="square" anchor="t" lIns="0" rIns="0" tIns="0" bIns="0">
            <a:spAutoFit/>
          </a:bodyPr>
          <a:lstStyle/>
          <a:p>
            <a:pPr algn="l">
              <a:spcAft>
                <a:spcPts val="0"/>
              </a:spcAft>
            </a:pPr>
            <a:r>
              <a:rPr sz="1400" b="1" i="0">
                <a:solidFill>
                  <a:srgbClr val="DF4807"/>
                </a:solidFill>
              </a:rPr>
              <a:t>Ground truth: </a:t>
            </a:r>
          </a:p>
          <a:p>
            <a:pPr algn="l">
              <a:spcAft>
                <a:spcPts val="0"/>
              </a:spcAft>
            </a:pPr>
            <a:r>
              <a:rPr sz="1400" b="0" i="0">
                <a:solidFill>
                  <a:srgbClr val="575756"/>
                </a:solidFill>
              </a:rPr>
              <a:t>the European Commission's draft guidelines on Annex III (19 May 2026, frozen). Every worked example ends in an authoritative verdict, so each test input has one known correct answer. Article 6(1) product safety is out of scope.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and method</a:t>
            </a:r>
          </a:p>
        </p:txBody>
      </p:sp>
      <p:sp>
        <p:nvSpPr>
          <p:cNvPr id="3" name="Text Placeholder 2"/>
          <p:cNvSpPr>
            <a:spLocks noGrp="1"/>
          </p:cNvSpPr>
          <p:nvPr>
            <p:ph type="body" idx="1"/>
          </p:nvPr>
        </p:nvSpPr>
        <p:spPr/>
        <p:txBody>
          <a:bodyPr/>
          <a:lstStyle/>
          <a:p>
            <a:r>
              <a:t>02</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 set: 215 inputs with official labels</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7315200" cy="365760"/>
          </a:xfrm>
          <a:prstGeom prst="rect">
            <a:avLst/>
          </a:prstGeom>
          <a:noFill/>
        </p:spPr>
        <p:txBody>
          <a:bodyPr wrap="square" anchor="t" lIns="0" rIns="0" tIns="0" bIns="0">
            <a:spAutoFit/>
          </a:bodyPr>
          <a:lstStyle/>
          <a:p>
            <a:pPr algn="l">
              <a:spcAft>
                <a:spcPts val="400"/>
              </a:spcAft>
            </a:pPr>
            <a:r>
              <a:rPr sz="1600" b="0" i="0">
                <a:solidFill>
                  <a:srgbClr val="575756"/>
                </a:solidFill>
              </a:rPr>
              <a:t>Extracted from the worked examples; all eight Annex III areas covered</a:t>
            </a:r>
          </a:p>
        </p:txBody>
      </p:sp>
      <p:graphicFrame>
        <p:nvGraphicFramePr>
          <p:cNvPr id="8" name="Chart 7"/>
          <p:cNvGraphicFramePr>
            <a:graphicFrameLocks noGrp="1"/>
          </p:cNvGraphicFramePr>
          <p:nvPr/>
        </p:nvGraphicFramePr>
        <p:xfrm>
          <a:off x="356616" y="1828800"/>
          <a:ext cx="7498079" cy="4297680"/>
        </p:xfrm>
        <a:graphic>
          <a:graphicData uri="http://schemas.openxmlformats.org/drawingml/2006/chart">
            <c:chart xmlns:c="http://schemas.openxmlformats.org/drawingml/2006/chart" r:id="rId3"/>
          </a:graphicData>
        </a:graphic>
      </p:graphicFrame>
      <p:sp>
        <p:nvSpPr>
          <p:cNvPr id="9" name="TextBox 8"/>
          <p:cNvSpPr txBox="1"/>
          <p:nvPr/>
        </p:nvSpPr>
        <p:spPr>
          <a:xfrm>
            <a:off x="8412480" y="1920240"/>
            <a:ext cx="3108960" cy="594360"/>
          </a:xfrm>
          <a:prstGeom prst="rect">
            <a:avLst/>
          </a:prstGeom>
          <a:noFill/>
        </p:spPr>
        <p:txBody>
          <a:bodyPr wrap="square" anchor="t" lIns="0" rIns="0" tIns="0" bIns="0">
            <a:spAutoFit/>
          </a:bodyPr>
          <a:lstStyle/>
          <a:p>
            <a:pPr algn="l">
              <a:spcAft>
                <a:spcPts val="400"/>
              </a:spcAft>
            </a:pPr>
            <a:r>
              <a:rPr sz="3400" b="1" i="0">
                <a:solidFill>
                  <a:srgbClr val="DF4807"/>
                </a:solidFill>
              </a:rPr>
              <a:t>215</a:t>
            </a:r>
          </a:p>
        </p:txBody>
      </p:sp>
      <p:sp>
        <p:nvSpPr>
          <p:cNvPr id="10" name="TextBox 9"/>
          <p:cNvSpPr txBox="1"/>
          <p:nvPr/>
        </p:nvSpPr>
        <p:spPr>
          <a:xfrm>
            <a:off x="8412480" y="2542032"/>
            <a:ext cx="3108960" cy="685800"/>
          </a:xfrm>
          <a:prstGeom prst="rect">
            <a:avLst/>
          </a:prstGeom>
          <a:noFill/>
        </p:spPr>
        <p:txBody>
          <a:bodyPr wrap="square" anchor="t" lIns="0" rIns="0" tIns="0" bIns="0">
            <a:spAutoFit/>
          </a:bodyPr>
          <a:lstStyle/>
          <a:p>
            <a:pPr algn="l">
              <a:spcAft>
                <a:spcPts val="400"/>
              </a:spcAft>
            </a:pPr>
            <a:r>
              <a:rPr sz="1200" b="0" i="0">
                <a:solidFill>
                  <a:srgbClr val="575756"/>
                </a:solidFill>
              </a:rPr>
              <a:t>test inputs, one gold label each</a:t>
            </a:r>
          </a:p>
        </p:txBody>
      </p:sp>
      <p:sp>
        <p:nvSpPr>
          <p:cNvPr id="11" name="TextBox 10"/>
          <p:cNvSpPr txBox="1"/>
          <p:nvPr/>
        </p:nvSpPr>
        <p:spPr>
          <a:xfrm>
            <a:off x="8412480" y="3291840"/>
            <a:ext cx="3108960" cy="594360"/>
          </a:xfrm>
          <a:prstGeom prst="rect">
            <a:avLst/>
          </a:prstGeom>
          <a:noFill/>
        </p:spPr>
        <p:txBody>
          <a:bodyPr wrap="square" anchor="t" lIns="0" rIns="0" tIns="0" bIns="0">
            <a:spAutoFit/>
          </a:bodyPr>
          <a:lstStyle/>
          <a:p>
            <a:pPr algn="l">
              <a:spcAft>
                <a:spcPts val="400"/>
              </a:spcAft>
            </a:pPr>
            <a:r>
              <a:rPr sz="3400" b="1" i="0">
                <a:solidFill>
                  <a:srgbClr val="DF4807"/>
                </a:solidFill>
              </a:rPr>
              <a:t>66 / 149</a:t>
            </a:r>
          </a:p>
        </p:txBody>
      </p:sp>
      <p:sp>
        <p:nvSpPr>
          <p:cNvPr id="12" name="TextBox 11"/>
          <p:cNvSpPr txBox="1"/>
          <p:nvPr/>
        </p:nvSpPr>
        <p:spPr>
          <a:xfrm>
            <a:off x="8412480" y="3913632"/>
            <a:ext cx="3108960" cy="685800"/>
          </a:xfrm>
          <a:prstGeom prst="rect">
            <a:avLst/>
          </a:prstGeom>
          <a:noFill/>
        </p:spPr>
        <p:txBody>
          <a:bodyPr wrap="square" anchor="t" lIns="0" rIns="0" tIns="0" bIns="0">
            <a:spAutoFit/>
          </a:bodyPr>
          <a:lstStyle/>
          <a:p>
            <a:pPr algn="l">
              <a:spcAft>
                <a:spcPts val="400"/>
              </a:spcAft>
            </a:pPr>
            <a:r>
              <a:rPr sz="1200" b="0" i="0">
                <a:solidFill>
                  <a:srgbClr val="575756"/>
                </a:solidFill>
              </a:rPr>
              <a:t>high-risk / not high-risk (31% / 69%)</a:t>
            </a:r>
          </a:p>
        </p:txBody>
      </p:sp>
      <p:sp>
        <p:nvSpPr>
          <p:cNvPr id="13" name="TextBox 12"/>
          <p:cNvSpPr txBox="1"/>
          <p:nvPr/>
        </p:nvSpPr>
        <p:spPr>
          <a:xfrm>
            <a:off x="8412480" y="4663440"/>
            <a:ext cx="3108960" cy="594360"/>
          </a:xfrm>
          <a:prstGeom prst="rect">
            <a:avLst/>
          </a:prstGeom>
          <a:noFill/>
        </p:spPr>
        <p:txBody>
          <a:bodyPr wrap="square" anchor="t" lIns="0" rIns="0" tIns="0" bIns="0">
            <a:spAutoFit/>
          </a:bodyPr>
          <a:lstStyle/>
          <a:p>
            <a:pPr algn="l">
              <a:spcAft>
                <a:spcPts val="400"/>
              </a:spcAft>
            </a:pPr>
            <a:r>
              <a:rPr sz="3400" b="1" i="0">
                <a:solidFill>
                  <a:srgbClr val="DF4807"/>
                </a:solidFill>
              </a:rPr>
              <a:t>41</a:t>
            </a:r>
          </a:p>
        </p:txBody>
      </p:sp>
      <p:sp>
        <p:nvSpPr>
          <p:cNvPr id="14" name="TextBox 13"/>
          <p:cNvSpPr txBox="1"/>
          <p:nvPr/>
        </p:nvSpPr>
        <p:spPr>
          <a:xfrm>
            <a:off x="8412480" y="5285231"/>
            <a:ext cx="3108960" cy="685800"/>
          </a:xfrm>
          <a:prstGeom prst="rect">
            <a:avLst/>
          </a:prstGeom>
          <a:noFill/>
        </p:spPr>
        <p:txBody>
          <a:bodyPr wrap="square" anchor="t" lIns="0" rIns="0" tIns="0" bIns="0">
            <a:spAutoFit/>
          </a:bodyPr>
          <a:lstStyle/>
          <a:p>
            <a:pPr algn="l">
              <a:spcAft>
                <a:spcPts val="400"/>
              </a:spcAft>
            </a:pPr>
            <a:r>
              <a:rPr sz="1200" b="0" i="0">
                <a:solidFill>
                  <a:srgbClr val="575756"/>
                </a:solidFill>
              </a:rPr>
              <a:t>Article 6(3) filter cases, all not high-risk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Evaluation framework</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pic>
        <p:nvPicPr>
          <p:cNvPr id="7" name="Picture 6" descr="arch_detailed.png"/>
          <p:cNvPicPr>
            <a:picLocks noChangeAspect="1"/>
          </p:cNvPicPr>
          <p:nvPr/>
        </p:nvPicPr>
        <p:blipFill>
          <a:blip r:embed="rId3"/>
          <a:stretch>
            <a:fillRect/>
          </a:stretch>
        </p:blipFill>
        <p:spPr>
          <a:xfrm>
            <a:off x="356616" y="1280160"/>
            <a:ext cx="3872923" cy="4892040"/>
          </a:xfrm>
          <a:prstGeom prst="rect">
            <a:avLst/>
          </a:prstGeom>
        </p:spPr>
      </p:pic>
      <p:sp>
        <p:nvSpPr>
          <p:cNvPr id="8" name="Oval 7"/>
          <p:cNvSpPr/>
          <p:nvPr/>
        </p:nvSpPr>
        <p:spPr>
          <a:xfrm>
            <a:off x="4572000" y="137160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1</a:t>
            </a:r>
          </a:p>
        </p:txBody>
      </p:sp>
      <p:sp>
        <p:nvSpPr>
          <p:cNvPr id="9" name="TextBox 8"/>
          <p:cNvSpPr txBox="1"/>
          <p:nvPr/>
        </p:nvSpPr>
        <p:spPr>
          <a:xfrm>
            <a:off x="5120640" y="1353312"/>
            <a:ext cx="6400800" cy="365760"/>
          </a:xfrm>
          <a:prstGeom prst="rect">
            <a:avLst/>
          </a:prstGeom>
          <a:noFill/>
        </p:spPr>
        <p:txBody>
          <a:bodyPr wrap="square" anchor="t" lIns="0" rIns="0" tIns="0" bIns="0">
            <a:spAutoFit/>
          </a:bodyPr>
          <a:lstStyle/>
          <a:p>
            <a:pPr algn="l">
              <a:spcAft>
                <a:spcPts val="400"/>
              </a:spcAft>
            </a:pPr>
            <a:r>
              <a:rPr sz="1600" b="1" i="0">
                <a:solidFill>
                  <a:srgbClr val="DF4807"/>
                </a:solidFill>
              </a:rPr>
              <a:t>Source split</a:t>
            </a:r>
          </a:p>
        </p:txBody>
      </p:sp>
      <p:sp>
        <p:nvSpPr>
          <p:cNvPr id="10" name="TextBox 9"/>
          <p:cNvSpPr txBox="1"/>
          <p:nvPr/>
        </p:nvSpPr>
        <p:spPr>
          <a:xfrm>
            <a:off x="5120640" y="1737360"/>
            <a:ext cx="6400800" cy="777240"/>
          </a:xfrm>
          <a:prstGeom prst="rect">
            <a:avLst/>
          </a:prstGeom>
          <a:noFill/>
        </p:spPr>
        <p:txBody>
          <a:bodyPr wrap="square" anchor="t" lIns="0" rIns="0" tIns="0" bIns="0">
            <a:spAutoFit/>
          </a:bodyPr>
          <a:lstStyle/>
          <a:p>
            <a:pPr algn="l">
              <a:spcAft>
                <a:spcPts val="400"/>
              </a:spcAft>
            </a:pPr>
            <a:r>
              <a:rPr sz="1300" b="0" i="0">
                <a:solidFill>
                  <a:srgbClr val="575756"/>
                </a:solidFill>
              </a:rPr>
              <a:t>Worked examples become the test set; only normative text (400 chunks) goes into the retrieval corpus, so labels cannot leak through retrieval.</a:t>
            </a:r>
          </a:p>
        </p:txBody>
      </p:sp>
      <p:sp>
        <p:nvSpPr>
          <p:cNvPr id="11" name="Oval 10"/>
          <p:cNvSpPr/>
          <p:nvPr/>
        </p:nvSpPr>
        <p:spPr>
          <a:xfrm>
            <a:off x="4572000" y="256032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2</a:t>
            </a:r>
          </a:p>
        </p:txBody>
      </p:sp>
      <p:sp>
        <p:nvSpPr>
          <p:cNvPr id="12" name="TextBox 11"/>
          <p:cNvSpPr txBox="1"/>
          <p:nvPr/>
        </p:nvSpPr>
        <p:spPr>
          <a:xfrm>
            <a:off x="5120640" y="2542032"/>
            <a:ext cx="6400800" cy="365760"/>
          </a:xfrm>
          <a:prstGeom prst="rect">
            <a:avLst/>
          </a:prstGeom>
          <a:noFill/>
        </p:spPr>
        <p:txBody>
          <a:bodyPr wrap="square" anchor="t" lIns="0" rIns="0" tIns="0" bIns="0">
            <a:spAutoFit/>
          </a:bodyPr>
          <a:lstStyle/>
          <a:p>
            <a:pPr algn="l">
              <a:spcAft>
                <a:spcPts val="400"/>
              </a:spcAft>
            </a:pPr>
            <a:r>
              <a:rPr sz="1600" b="1" i="0">
                <a:solidFill>
                  <a:srgbClr val="DF4807"/>
                </a:solidFill>
              </a:rPr>
              <a:t>Three systems, one generator</a:t>
            </a:r>
          </a:p>
        </p:txBody>
      </p:sp>
      <p:sp>
        <p:nvSpPr>
          <p:cNvPr id="13" name="TextBox 12"/>
          <p:cNvSpPr txBox="1"/>
          <p:nvPr/>
        </p:nvSpPr>
        <p:spPr>
          <a:xfrm>
            <a:off x="5120640" y="2926079"/>
            <a:ext cx="6400800" cy="777240"/>
          </a:xfrm>
          <a:prstGeom prst="rect">
            <a:avLst/>
          </a:prstGeom>
          <a:noFill/>
        </p:spPr>
        <p:txBody>
          <a:bodyPr wrap="square" anchor="t" lIns="0" rIns="0" tIns="0" bIns="0">
            <a:spAutoFit/>
          </a:bodyPr>
          <a:lstStyle/>
          <a:p>
            <a:pPr algn="l">
              <a:spcAft>
                <a:spcPts val="400"/>
              </a:spcAft>
            </a:pPr>
            <a:r>
              <a:rPr sz="1300" b="0" i="0">
                <a:solidFill>
                  <a:srgbClr val="575756"/>
                </a:solidFill>
              </a:rPr>
              <a:t>phi-4 (14B) for all: plain LLM with no retrieval; standard RAG with top 5 passages (hybrid BM25 + dense) and a generic prompt; agent with the same passages and a prompt that walks the legal test step by step.</a:t>
            </a:r>
          </a:p>
        </p:txBody>
      </p:sp>
      <p:sp>
        <p:nvSpPr>
          <p:cNvPr id="14" name="Oval 13"/>
          <p:cNvSpPr/>
          <p:nvPr/>
        </p:nvSpPr>
        <p:spPr>
          <a:xfrm>
            <a:off x="4572000" y="3749039"/>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3</a:t>
            </a:r>
          </a:p>
        </p:txBody>
      </p:sp>
      <p:sp>
        <p:nvSpPr>
          <p:cNvPr id="15" name="TextBox 14"/>
          <p:cNvSpPr txBox="1"/>
          <p:nvPr/>
        </p:nvSpPr>
        <p:spPr>
          <a:xfrm>
            <a:off x="5120640" y="3730752"/>
            <a:ext cx="6400800" cy="365760"/>
          </a:xfrm>
          <a:prstGeom prst="rect">
            <a:avLst/>
          </a:prstGeom>
          <a:noFill/>
        </p:spPr>
        <p:txBody>
          <a:bodyPr wrap="square" anchor="t" lIns="0" rIns="0" tIns="0" bIns="0">
            <a:spAutoFit/>
          </a:bodyPr>
          <a:lstStyle/>
          <a:p>
            <a:pPr algn="l">
              <a:spcAft>
                <a:spcPts val="400"/>
              </a:spcAft>
            </a:pPr>
            <a:r>
              <a:rPr sz="1600" b="1" i="0">
                <a:solidFill>
                  <a:srgbClr val="DF4807"/>
                </a:solidFill>
              </a:rPr>
              <a:t>Two independent axes</a:t>
            </a:r>
          </a:p>
        </p:txBody>
      </p:sp>
      <p:sp>
        <p:nvSpPr>
          <p:cNvPr id="16" name="TextBox 15"/>
          <p:cNvSpPr txBox="1"/>
          <p:nvPr/>
        </p:nvSpPr>
        <p:spPr>
          <a:xfrm>
            <a:off x="5120640" y="4114800"/>
            <a:ext cx="6400800" cy="777240"/>
          </a:xfrm>
          <a:prstGeom prst="rect">
            <a:avLst/>
          </a:prstGeom>
          <a:noFill/>
        </p:spPr>
        <p:txBody>
          <a:bodyPr wrap="square" anchor="t" lIns="0" rIns="0" tIns="0" bIns="0">
            <a:spAutoFit/>
          </a:bodyPr>
          <a:lstStyle/>
          <a:p>
            <a:pPr algn="l">
              <a:spcAft>
                <a:spcPts val="400"/>
              </a:spcAft>
            </a:pPr>
            <a:r>
              <a:rPr sz="1300" b="0" i="0">
                <a:solidFill>
                  <a:srgbClr val="575756"/>
                </a:solidFill>
              </a:rPr>
              <a:t>Judge (Qwen2.5-72B, separate model family) scores RAGAS faithfulness; correctness is a plain lookup against the Commission label.</a:t>
            </a:r>
          </a:p>
        </p:txBody>
      </p:sp>
      <p:sp>
        <p:nvSpPr>
          <p:cNvPr id="17" name="Oval 16"/>
          <p:cNvSpPr/>
          <p:nvPr/>
        </p:nvSpPr>
        <p:spPr>
          <a:xfrm>
            <a:off x="4572000" y="493776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4</a:t>
            </a:r>
          </a:p>
        </p:txBody>
      </p:sp>
      <p:sp>
        <p:nvSpPr>
          <p:cNvPr id="18" name="TextBox 17"/>
          <p:cNvSpPr txBox="1"/>
          <p:nvPr/>
        </p:nvSpPr>
        <p:spPr>
          <a:xfrm>
            <a:off x="5120640" y="4919472"/>
            <a:ext cx="6400800" cy="365760"/>
          </a:xfrm>
          <a:prstGeom prst="rect">
            <a:avLst/>
          </a:prstGeom>
          <a:noFill/>
        </p:spPr>
        <p:txBody>
          <a:bodyPr wrap="square" anchor="t" lIns="0" rIns="0" tIns="0" bIns="0">
            <a:spAutoFit/>
          </a:bodyPr>
          <a:lstStyle/>
          <a:p>
            <a:pPr algn="l">
              <a:spcAft>
                <a:spcPts val="400"/>
              </a:spcAft>
            </a:pPr>
            <a:r>
              <a:rPr sz="1600" b="1" i="0">
                <a:solidFill>
                  <a:srgbClr val="DF4807"/>
                </a:solidFill>
              </a:rPr>
              <a:t>Reproducible</a:t>
            </a:r>
          </a:p>
        </p:txBody>
      </p:sp>
      <p:sp>
        <p:nvSpPr>
          <p:cNvPr id="19" name="TextBox 18"/>
          <p:cNvSpPr txBox="1"/>
          <p:nvPr/>
        </p:nvSpPr>
        <p:spPr>
          <a:xfrm>
            <a:off x="5120640" y="5303520"/>
            <a:ext cx="6400800" cy="777240"/>
          </a:xfrm>
          <a:prstGeom prst="rect">
            <a:avLst/>
          </a:prstGeom>
          <a:noFill/>
        </p:spPr>
        <p:txBody>
          <a:bodyPr wrap="square" anchor="t" lIns="0" rIns="0" tIns="0" bIns="0">
            <a:spAutoFit/>
          </a:bodyPr>
          <a:lstStyle/>
          <a:p>
            <a:pPr algn="l">
              <a:spcAft>
                <a:spcPts val="400"/>
              </a:spcAft>
            </a:pPr>
            <a:r>
              <a:rPr sz="1300" b="0" i="0">
                <a:solidFill>
                  <a:srgbClr val="575756"/>
                </a:solidFill>
              </a:rPr>
              <a:t>Local models on the university GPU, pinned revisions, greedy decoding. 645 generations, 0 parse failures, 0 errors.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label leak found and fixed</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0972800" cy="365760"/>
          </a:xfrm>
          <a:prstGeom prst="rect">
            <a:avLst/>
          </a:prstGeom>
          <a:noFill/>
        </p:spPr>
        <p:txBody>
          <a:bodyPr wrap="square" anchor="t" lIns="0" rIns="0" tIns="0" bIns="0">
            <a:spAutoFit/>
          </a:bodyPr>
          <a:lstStyle/>
          <a:p>
            <a:pPr algn="l">
              <a:spcAft>
                <a:spcPts val="400"/>
              </a:spcAft>
            </a:pPr>
            <a:r>
              <a:rPr sz="1600" b="0" i="0">
                <a:solidFill>
                  <a:srgbClr val="575756"/>
                </a:solidFill>
              </a:rPr>
              <a:t>60% of inputs contained the Commission's own verdict (first run, before redaction)</a:t>
            </a:r>
          </a:p>
        </p:txBody>
      </p:sp>
      <p:graphicFrame>
        <p:nvGraphicFramePr>
          <p:cNvPr id="8" name="Chart 7"/>
          <p:cNvGraphicFramePr>
            <a:graphicFrameLocks noGrp="1"/>
          </p:cNvGraphicFramePr>
          <p:nvPr/>
        </p:nvGraphicFramePr>
        <p:xfrm>
          <a:off x="356616" y="1828800"/>
          <a:ext cx="6035040" cy="4297680"/>
        </p:xfrm>
        <a:graphic>
          <a:graphicData uri="http://schemas.openxmlformats.org/drawingml/2006/chart">
            <c:chart xmlns:c="http://schemas.openxmlformats.org/drawingml/2006/chart" r:id="rId3"/>
          </a:graphicData>
        </a:graphic>
      </p:graphicFrame>
      <p:sp>
        <p:nvSpPr>
          <p:cNvPr id="9" name="TextBox 8"/>
          <p:cNvSpPr txBox="1"/>
          <p:nvPr/>
        </p:nvSpPr>
        <p:spPr>
          <a:xfrm>
            <a:off x="6766560" y="1920240"/>
            <a:ext cx="4754880" cy="365760"/>
          </a:xfrm>
          <a:prstGeom prst="rect">
            <a:avLst/>
          </a:prstGeom>
          <a:noFill/>
        </p:spPr>
        <p:txBody>
          <a:bodyPr wrap="square" anchor="t" lIns="0" rIns="0" tIns="0" bIns="0">
            <a:spAutoFit/>
          </a:bodyPr>
          <a:lstStyle/>
          <a:p>
            <a:pPr algn="l">
              <a:spcAft>
                <a:spcPts val="400"/>
              </a:spcAft>
            </a:pPr>
            <a:r>
              <a:rPr sz="1600" b="1" i="0">
                <a:solidFill>
                  <a:srgbClr val="DF4807"/>
                </a:solidFill>
              </a:rPr>
              <a:t>What happened</a:t>
            </a:r>
          </a:p>
        </p:txBody>
      </p:sp>
      <p:sp>
        <p:nvSpPr>
          <p:cNvPr id="10" name="TextBox 9"/>
          <p:cNvSpPr txBox="1"/>
          <p:nvPr/>
        </p:nvSpPr>
        <p:spPr>
          <a:xfrm>
            <a:off x="6766560" y="2331720"/>
            <a:ext cx="4754880" cy="1188720"/>
          </a:xfrm>
          <a:prstGeom prst="rect">
            <a:avLst/>
          </a:prstGeom>
          <a:noFill/>
        </p:spPr>
        <p:txBody>
          <a:bodyPr wrap="square" anchor="t" lIns="0" rIns="0" tIns="0" bIns="0">
            <a:spAutoFit/>
          </a:bodyPr>
          <a:lstStyle/>
          <a:p>
            <a:pPr algn="l">
              <a:spcAft>
                <a:spcPts val="400"/>
              </a:spcAft>
            </a:pPr>
            <a:r>
              <a:rPr sz="1300" b="0" i="0">
                <a:solidFill>
                  <a:srgbClr val="575756"/>
                </a:solidFill>
              </a:rPr>
              <a:t>The extractor kept each example's closing verdict, e.g. "It therefore falls outside the use case of point 4(a)". The plain model was reading the answer.</a:t>
            </a:r>
          </a:p>
        </p:txBody>
      </p:sp>
      <p:sp>
        <p:nvSpPr>
          <p:cNvPr id="11" name="TextBox 10"/>
          <p:cNvSpPr txBox="1"/>
          <p:nvPr/>
        </p:nvSpPr>
        <p:spPr>
          <a:xfrm>
            <a:off x="6766560" y="3520440"/>
            <a:ext cx="4754880" cy="365760"/>
          </a:xfrm>
          <a:prstGeom prst="rect">
            <a:avLst/>
          </a:prstGeom>
          <a:noFill/>
        </p:spPr>
        <p:txBody>
          <a:bodyPr wrap="square" anchor="t" lIns="0" rIns="0" tIns="0" bIns="0">
            <a:spAutoFit/>
          </a:bodyPr>
          <a:lstStyle/>
          <a:p>
            <a:pPr algn="l">
              <a:spcAft>
                <a:spcPts val="400"/>
              </a:spcAft>
            </a:pPr>
            <a:r>
              <a:rPr sz="1600" b="1" i="0">
                <a:solidFill>
                  <a:srgbClr val="DF4807"/>
                </a:solidFill>
              </a:rPr>
              <a:t>How it was fixed</a:t>
            </a:r>
          </a:p>
        </p:txBody>
      </p:sp>
      <p:sp>
        <p:nvSpPr>
          <p:cNvPr id="12" name="TextBox 11"/>
          <p:cNvSpPr txBox="1"/>
          <p:nvPr/>
        </p:nvSpPr>
        <p:spPr>
          <a:xfrm>
            <a:off x="6766560" y="3931920"/>
            <a:ext cx="4754880" cy="2194560"/>
          </a:xfrm>
          <a:prstGeom prst="rect">
            <a:avLst/>
          </a:prstGeom>
          <a:noFill/>
        </p:spPr>
        <p:txBody>
          <a:bodyPr wrap="square" anchor="t" lIns="0" rIns="0" tIns="0" bIns="0">
            <a:spAutoFit/>
          </a:bodyPr>
          <a:lstStyle/>
          <a:p>
            <a:pPr algn="l" marL="228600" indent="-228600">
              <a:spcAft>
                <a:spcPts val="400"/>
              </a:spcAft>
              <a:buChar char="–"/>
            </a:pPr>
            <a:r>
              <a:rPr sz="1300" b="0" i="0">
                <a:solidFill>
                  <a:srgbClr val="575756"/>
                </a:solidFill>
              </a:rPr>
              <a:t>Kept what the system does; removed every legal conclusion and citation</a:t>
            </a:r>
          </a:p>
          <a:p>
            <a:pPr algn="l" marL="228600" indent="-228600">
              <a:spcAft>
                <a:spcPts val="400"/>
              </a:spcAft>
              <a:buChar char="–"/>
            </a:pPr>
            <a:r>
              <a:rPr sz="1300" b="0" i="0">
                <a:solidFill>
                  <a:srgbClr val="575756"/>
                </a:solidFill>
              </a:rPr>
              <a:t>96 rows automatic, 31 hand-edited, 46 reviewed by the author</a:t>
            </a:r>
          </a:p>
          <a:p>
            <a:pPr algn="l" marL="228600" indent="-228600">
              <a:spcAft>
                <a:spcPts val="400"/>
              </a:spcAft>
              <a:buChar char="–"/>
            </a:pPr>
            <a:r>
              <a:rPr sz="1300" b="0" i="0">
                <a:solidFill>
                  <a:srgbClr val="575756"/>
                </a:solidFill>
              </a:rPr>
              <a:t>IDs and gold labels unchanged; all systems rerun</a:t>
            </a:r>
          </a:p>
          <a:p>
            <a:pPr algn="l" marL="228600" indent="-228600">
              <a:spcAft>
                <a:spcPts val="400"/>
              </a:spcAft>
              <a:buChar char="–"/>
            </a:pPr>
            <a:r>
              <a:rPr sz="1300" b="0" i="0">
                <a:solidFill>
                  <a:srgbClr val="575756"/>
                </a:solidFill>
              </a:rPr>
              <a:t>Mean input length 557 to 392 characters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a:t>
            </a:r>
          </a:p>
        </p:txBody>
      </p:sp>
      <p:sp>
        <p:nvSpPr>
          <p:cNvPr id="3" name="Text Placeholder 2"/>
          <p:cNvSpPr>
            <a:spLocks noGrp="1"/>
          </p:cNvSpPr>
          <p:nvPr>
            <p:ph type="body" idx="1"/>
          </p:nvPr>
        </p:nvSpPr>
        <p:spPr/>
        <p:txBody>
          <a:bodyPr/>
          <a:lstStyle/>
          <a:p>
            <a:r>
              <a:t>03</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 1: retrieval helps</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0972800" cy="365760"/>
          </a:xfrm>
          <a:prstGeom prst="rect">
            <a:avLst/>
          </a:prstGeom>
          <a:noFill/>
        </p:spPr>
        <p:txBody>
          <a:bodyPr wrap="square" anchor="t" lIns="0" rIns="0" tIns="0" bIns="0">
            <a:spAutoFit/>
          </a:bodyPr>
          <a:lstStyle/>
          <a:p>
            <a:pPr algn="l">
              <a:spcAft>
                <a:spcPts val="400"/>
              </a:spcAft>
            </a:pPr>
            <a:r>
              <a:rPr sz="1600" b="0" i="0">
                <a:solidFill>
                  <a:srgbClr val="575756"/>
                </a:solidFill>
              </a:rPr>
              <a:t>…but the structured prompt does not. Accuracy on 215 inputs, before and after redaction</a:t>
            </a:r>
          </a:p>
        </p:txBody>
      </p:sp>
      <p:graphicFrame>
        <p:nvGraphicFramePr>
          <p:cNvPr id="8" name="Chart 7"/>
          <p:cNvGraphicFramePr>
            <a:graphicFrameLocks noGrp="1"/>
          </p:cNvGraphicFramePr>
          <p:nvPr/>
        </p:nvGraphicFramePr>
        <p:xfrm>
          <a:off x="356616" y="1828800"/>
          <a:ext cx="6583680" cy="4297680"/>
        </p:xfrm>
        <a:graphic>
          <a:graphicData uri="http://schemas.openxmlformats.org/drawingml/2006/chart">
            <c:chart xmlns:c="http://schemas.openxmlformats.org/drawingml/2006/chart" r:id="rId3"/>
          </a:graphicData>
        </a:graphic>
      </p:graphicFrame>
      <p:sp>
        <p:nvSpPr>
          <p:cNvPr id="9" name="TextBox 8"/>
          <p:cNvSpPr txBox="1"/>
          <p:nvPr/>
        </p:nvSpPr>
        <p:spPr>
          <a:xfrm>
            <a:off x="7406640" y="1920240"/>
            <a:ext cx="4114800" cy="594360"/>
          </a:xfrm>
          <a:prstGeom prst="rect">
            <a:avLst/>
          </a:prstGeom>
          <a:noFill/>
        </p:spPr>
        <p:txBody>
          <a:bodyPr wrap="square" anchor="t" lIns="0" rIns="0" tIns="0" bIns="0">
            <a:spAutoFit/>
          </a:bodyPr>
          <a:lstStyle/>
          <a:p>
            <a:pPr algn="l">
              <a:spcAft>
                <a:spcPts val="400"/>
              </a:spcAft>
            </a:pPr>
            <a:r>
              <a:rPr sz="3400" b="1" i="0">
                <a:solidFill>
                  <a:srgbClr val="DF4807"/>
                </a:solidFill>
              </a:rPr>
              <a:t>+19 pts</a:t>
            </a:r>
          </a:p>
        </p:txBody>
      </p:sp>
      <p:sp>
        <p:nvSpPr>
          <p:cNvPr id="10" name="TextBox 9"/>
          <p:cNvSpPr txBox="1"/>
          <p:nvPr/>
        </p:nvSpPr>
        <p:spPr>
          <a:xfrm>
            <a:off x="7406640" y="2542032"/>
            <a:ext cx="4114800" cy="685800"/>
          </a:xfrm>
          <a:prstGeom prst="rect">
            <a:avLst/>
          </a:prstGeom>
          <a:noFill/>
        </p:spPr>
        <p:txBody>
          <a:bodyPr wrap="square" anchor="t" lIns="0" rIns="0" tIns="0" bIns="0">
            <a:spAutoFit/>
          </a:bodyPr>
          <a:lstStyle/>
          <a:p>
            <a:pPr algn="l">
              <a:spcAft>
                <a:spcPts val="400"/>
              </a:spcAft>
            </a:pPr>
            <a:r>
              <a:rPr sz="1200" b="0" i="0">
                <a:solidFill>
                  <a:srgbClr val="575756"/>
                </a:solidFill>
              </a:rPr>
              <a:t>standard RAG vs plain LLM on redacted inputs (McNemar p &lt; 0.001)</a:t>
            </a:r>
          </a:p>
        </p:txBody>
      </p:sp>
      <p:sp>
        <p:nvSpPr>
          <p:cNvPr id="11" name="TextBox 10"/>
          <p:cNvSpPr txBox="1"/>
          <p:nvPr/>
        </p:nvSpPr>
        <p:spPr>
          <a:xfrm>
            <a:off x="7406640" y="3291840"/>
            <a:ext cx="4114800" cy="594360"/>
          </a:xfrm>
          <a:prstGeom prst="rect">
            <a:avLst/>
          </a:prstGeom>
          <a:noFill/>
        </p:spPr>
        <p:txBody>
          <a:bodyPr wrap="square" anchor="t" lIns="0" rIns="0" tIns="0" bIns="0">
            <a:spAutoFit/>
          </a:bodyPr>
          <a:lstStyle/>
          <a:p>
            <a:pPr algn="l">
              <a:spcAft>
                <a:spcPts val="400"/>
              </a:spcAft>
            </a:pPr>
            <a:r>
              <a:rPr sz="3400" b="1" i="0">
                <a:solidFill>
                  <a:srgbClr val="DF4807"/>
                </a:solidFill>
              </a:rPr>
              <a:t>60 vs 17</a:t>
            </a:r>
          </a:p>
        </p:txBody>
      </p:sp>
      <p:sp>
        <p:nvSpPr>
          <p:cNvPr id="12" name="TextBox 11"/>
          <p:cNvSpPr txBox="1"/>
          <p:nvPr/>
        </p:nvSpPr>
        <p:spPr>
          <a:xfrm>
            <a:off x="7406640" y="3913632"/>
            <a:ext cx="4114800" cy="685800"/>
          </a:xfrm>
          <a:prstGeom prst="rect">
            <a:avLst/>
          </a:prstGeom>
          <a:noFill/>
        </p:spPr>
        <p:txBody>
          <a:bodyPr wrap="square" anchor="t" lIns="0" rIns="0" tIns="0" bIns="0">
            <a:spAutoFit/>
          </a:bodyPr>
          <a:lstStyle/>
          <a:p>
            <a:pPr algn="l">
              <a:spcAft>
                <a:spcPts val="400"/>
              </a:spcAft>
            </a:pPr>
            <a:r>
              <a:rPr sz="1200" b="0" i="0">
                <a:solidFill>
                  <a:srgbClr val="575756"/>
                </a:solidFill>
              </a:rPr>
              <a:t>false high-risk calls: plain LLM vs standard RAG</a:t>
            </a:r>
          </a:p>
        </p:txBody>
      </p:sp>
      <p:sp>
        <p:nvSpPr>
          <p:cNvPr id="13" name="TextBox 12"/>
          <p:cNvSpPr txBox="1"/>
          <p:nvPr/>
        </p:nvSpPr>
        <p:spPr>
          <a:xfrm>
            <a:off x="7406640" y="4663440"/>
            <a:ext cx="4114800" cy="594360"/>
          </a:xfrm>
          <a:prstGeom prst="rect">
            <a:avLst/>
          </a:prstGeom>
          <a:noFill/>
        </p:spPr>
        <p:txBody>
          <a:bodyPr wrap="square" anchor="t" lIns="0" rIns="0" tIns="0" bIns="0">
            <a:spAutoFit/>
          </a:bodyPr>
          <a:lstStyle/>
          <a:p>
            <a:pPr algn="l">
              <a:spcAft>
                <a:spcPts val="400"/>
              </a:spcAft>
            </a:pPr>
            <a:r>
              <a:rPr sz="3400" b="1" i="0">
                <a:solidFill>
                  <a:srgbClr val="DF4807"/>
                </a:solidFill>
              </a:rPr>
              <a:t>p = 0.30</a:t>
            </a:r>
          </a:p>
        </p:txBody>
      </p:sp>
      <p:sp>
        <p:nvSpPr>
          <p:cNvPr id="14" name="TextBox 13"/>
          <p:cNvSpPr txBox="1"/>
          <p:nvPr/>
        </p:nvSpPr>
        <p:spPr>
          <a:xfrm>
            <a:off x="7406640" y="5285231"/>
            <a:ext cx="4114800" cy="685800"/>
          </a:xfrm>
          <a:prstGeom prst="rect">
            <a:avLst/>
          </a:prstGeom>
          <a:noFill/>
        </p:spPr>
        <p:txBody>
          <a:bodyPr wrap="square" anchor="t" lIns="0" rIns="0" tIns="0" bIns="0">
            <a:spAutoFit/>
          </a:bodyPr>
          <a:lstStyle/>
          <a:p>
            <a:pPr algn="l">
              <a:spcAft>
                <a:spcPts val="400"/>
              </a:spcAft>
            </a:pPr>
            <a:r>
              <a:rPr sz="1200" b="0" i="0">
                <a:solidFill>
                  <a:srgbClr val="575756"/>
                </a:solidFill>
              </a:rPr>
              <a:t>agent vs standard RAG: no significant difference (0.856 vs 0.879)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the systems struggle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0972800" cy="365760"/>
          </a:xfrm>
          <a:prstGeom prst="rect">
            <a:avLst/>
          </a:prstGeom>
          <a:noFill/>
        </p:spPr>
        <p:txBody>
          <a:bodyPr wrap="square" anchor="t" lIns="0" rIns="0" tIns="0" bIns="0">
            <a:spAutoFit/>
          </a:bodyPr>
          <a:lstStyle/>
          <a:p>
            <a:pPr algn="l">
              <a:spcAft>
                <a:spcPts val="400"/>
              </a:spcAft>
            </a:pPr>
            <a:r>
              <a:rPr sz="1600" b="0" i="0">
                <a:solidFill>
                  <a:srgbClr val="575756"/>
                </a:solidFill>
              </a:rPr>
              <a:t>Accuracy by Annex III area and error types (redacted inputs)</a:t>
            </a:r>
          </a:p>
        </p:txBody>
      </p:sp>
      <p:pic>
        <p:nvPicPr>
          <p:cNvPr id="8" name="Picture 7" descr="fig_area_heatmap.png"/>
          <p:cNvPicPr>
            <a:picLocks noChangeAspect="1"/>
          </p:cNvPicPr>
          <p:nvPr/>
        </p:nvPicPr>
        <p:blipFill>
          <a:blip r:embed="rId3"/>
          <a:stretch>
            <a:fillRect/>
          </a:stretch>
        </p:blipFill>
        <p:spPr>
          <a:xfrm>
            <a:off x="356616" y="1828800"/>
            <a:ext cx="7315200" cy="2679312"/>
          </a:xfrm>
          <a:prstGeom prst="rect">
            <a:avLst/>
          </a:prstGeom>
        </p:spPr>
      </p:pic>
      <p:pic>
        <p:nvPicPr>
          <p:cNvPr id="9" name="Picture 8" descr="fig_confusion.png"/>
          <p:cNvPicPr>
            <a:picLocks noChangeAspect="1"/>
          </p:cNvPicPr>
          <p:nvPr/>
        </p:nvPicPr>
        <p:blipFill>
          <a:blip r:embed="rId4"/>
          <a:stretch>
            <a:fillRect/>
          </a:stretch>
        </p:blipFill>
        <p:spPr>
          <a:xfrm>
            <a:off x="356616" y="4572000"/>
            <a:ext cx="4572000" cy="1603424"/>
          </a:xfrm>
          <a:prstGeom prst="rect">
            <a:avLst/>
          </a:prstGeom>
        </p:spPr>
      </p:pic>
      <p:sp>
        <p:nvSpPr>
          <p:cNvPr id="10" name="Rectangle 9"/>
          <p:cNvSpPr/>
          <p:nvPr/>
        </p:nvSpPr>
        <p:spPr>
          <a:xfrm>
            <a:off x="8046720" y="1828800"/>
            <a:ext cx="3474720" cy="192024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600" y="1965960"/>
            <a:ext cx="3108960" cy="365760"/>
          </a:xfrm>
          <a:prstGeom prst="rect">
            <a:avLst/>
          </a:prstGeom>
          <a:noFill/>
        </p:spPr>
        <p:txBody>
          <a:bodyPr wrap="square" anchor="t" lIns="0" rIns="0" tIns="0" bIns="0">
            <a:spAutoFit/>
          </a:bodyPr>
          <a:lstStyle/>
          <a:p>
            <a:pPr algn="l">
              <a:spcAft>
                <a:spcPts val="400"/>
              </a:spcAft>
            </a:pPr>
            <a:r>
              <a:rPr sz="1500" b="1" i="0">
                <a:solidFill>
                  <a:srgbClr val="DF4807"/>
                </a:solidFill>
              </a:rPr>
              <a:t>Critical infrastructure</a:t>
            </a:r>
          </a:p>
        </p:txBody>
      </p:sp>
      <p:sp>
        <p:nvSpPr>
          <p:cNvPr id="12" name="TextBox 11"/>
          <p:cNvSpPr txBox="1"/>
          <p:nvPr/>
        </p:nvSpPr>
        <p:spPr>
          <a:xfrm>
            <a:off x="8229600" y="2377440"/>
            <a:ext cx="3108960" cy="1280160"/>
          </a:xfrm>
          <a:prstGeom prst="rect">
            <a:avLst/>
          </a:prstGeom>
          <a:noFill/>
        </p:spPr>
        <p:txBody>
          <a:bodyPr wrap="square" anchor="t" lIns="0" rIns="0" tIns="0" bIns="0">
            <a:spAutoFit/>
          </a:bodyPr>
          <a:lstStyle/>
          <a:p>
            <a:pPr algn="l">
              <a:spcAft>
                <a:spcPts val="400"/>
              </a:spcAft>
            </a:pPr>
            <a:r>
              <a:rPr sz="1300" b="0" i="0">
                <a:solidFill>
                  <a:srgbClr val="575756"/>
                </a:solidFill>
              </a:rPr>
              <a:t>Hardest for both RAG systems (0.61, 0.56). The test is safety component, not sector.</a:t>
            </a:r>
          </a:p>
        </p:txBody>
      </p:sp>
      <p:sp>
        <p:nvSpPr>
          <p:cNvPr id="13" name="Rectangle 12"/>
          <p:cNvSpPr/>
          <p:nvPr/>
        </p:nvSpPr>
        <p:spPr>
          <a:xfrm>
            <a:off x="8046720" y="3977639"/>
            <a:ext cx="3474720" cy="192024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229600" y="4114800"/>
            <a:ext cx="3108960" cy="365760"/>
          </a:xfrm>
          <a:prstGeom prst="rect">
            <a:avLst/>
          </a:prstGeom>
          <a:noFill/>
        </p:spPr>
        <p:txBody>
          <a:bodyPr wrap="square" anchor="t" lIns="0" rIns="0" tIns="0" bIns="0">
            <a:spAutoFit/>
          </a:bodyPr>
          <a:lstStyle/>
          <a:p>
            <a:pPr algn="l">
              <a:spcAft>
                <a:spcPts val="400"/>
              </a:spcAft>
            </a:pPr>
            <a:r>
              <a:rPr sz="1500" b="1" i="0">
                <a:solidFill>
                  <a:srgbClr val="DF4807"/>
                </a:solidFill>
              </a:rPr>
              <a:t>Law enforcement</a:t>
            </a:r>
          </a:p>
        </p:txBody>
      </p:sp>
      <p:sp>
        <p:nvSpPr>
          <p:cNvPr id="15" name="TextBox 14"/>
          <p:cNvSpPr txBox="1"/>
          <p:nvPr/>
        </p:nvSpPr>
        <p:spPr>
          <a:xfrm>
            <a:off x="8229600" y="4526280"/>
            <a:ext cx="3108960" cy="1280160"/>
          </a:xfrm>
          <a:prstGeom prst="rect">
            <a:avLst/>
          </a:prstGeom>
          <a:noFill/>
        </p:spPr>
        <p:txBody>
          <a:bodyPr wrap="square" anchor="t" lIns="0" rIns="0" tIns="0" bIns="0">
            <a:spAutoFit/>
          </a:bodyPr>
          <a:lstStyle/>
          <a:p>
            <a:pPr algn="l">
              <a:spcAft>
                <a:spcPts val="400"/>
              </a:spcAft>
            </a:pPr>
            <a:r>
              <a:rPr sz="1300" b="0" i="0">
                <a:solidFill>
                  <a:srgbClr val="575756"/>
                </a:solidFill>
              </a:rPr>
              <a:t>Plain LLM collapses to 0.26: it calls most police uses high-risk. RAG fixes this (0.87+).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 2: faithfulness misses wrong labels</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0972800" cy="365760"/>
          </a:xfrm>
          <a:prstGeom prst="rect">
            <a:avLst/>
          </a:prstGeom>
          <a:noFill/>
        </p:spPr>
        <p:txBody>
          <a:bodyPr wrap="square" anchor="t" lIns="0" rIns="0" tIns="0" bIns="0">
            <a:spAutoFit/>
          </a:bodyPr>
          <a:lstStyle/>
          <a:p>
            <a:pPr algn="l">
              <a:spcAft>
                <a:spcPts val="400"/>
              </a:spcAft>
            </a:pPr>
            <a:r>
              <a:rPr sz="1600" b="0" i="0">
                <a:solidFill>
                  <a:srgbClr val="575756"/>
                </a:solidFill>
              </a:rPr>
              <a:t>RAGAS faithfulness of every answer, split by whether the label was correct</a:t>
            </a:r>
          </a:p>
        </p:txBody>
      </p:sp>
      <p:pic>
        <p:nvPicPr>
          <p:cNvPr id="8" name="Picture 7" descr="fig3_faithfulness.png"/>
          <p:cNvPicPr>
            <a:picLocks noChangeAspect="1"/>
          </p:cNvPicPr>
          <p:nvPr/>
        </p:nvPicPr>
        <p:blipFill>
          <a:blip r:embed="rId3"/>
          <a:stretch>
            <a:fillRect/>
          </a:stretch>
        </p:blipFill>
        <p:spPr>
          <a:xfrm>
            <a:off x="356616" y="1828800"/>
            <a:ext cx="7863840" cy="4045852"/>
          </a:xfrm>
          <a:prstGeom prst="rect">
            <a:avLst/>
          </a:prstGeom>
        </p:spPr>
      </p:pic>
      <p:sp>
        <p:nvSpPr>
          <p:cNvPr id="9" name="TextBox 8"/>
          <p:cNvSpPr txBox="1"/>
          <p:nvPr/>
        </p:nvSpPr>
        <p:spPr>
          <a:xfrm>
            <a:off x="8595360" y="1920240"/>
            <a:ext cx="3017520" cy="594360"/>
          </a:xfrm>
          <a:prstGeom prst="rect">
            <a:avLst/>
          </a:prstGeom>
          <a:noFill/>
        </p:spPr>
        <p:txBody>
          <a:bodyPr wrap="square" anchor="t" lIns="0" rIns="0" tIns="0" bIns="0">
            <a:spAutoFit/>
          </a:bodyPr>
          <a:lstStyle/>
          <a:p>
            <a:pPr algn="l">
              <a:spcAft>
                <a:spcPts val="400"/>
              </a:spcAft>
            </a:pPr>
            <a:r>
              <a:rPr sz="3400" b="1" i="0">
                <a:solidFill>
                  <a:srgbClr val="DF4807"/>
                </a:solidFill>
              </a:rPr>
              <a:t>0.465</a:t>
            </a:r>
          </a:p>
        </p:txBody>
      </p:sp>
      <p:sp>
        <p:nvSpPr>
          <p:cNvPr id="10" name="TextBox 9"/>
          <p:cNvSpPr txBox="1"/>
          <p:nvPr/>
        </p:nvSpPr>
        <p:spPr>
          <a:xfrm>
            <a:off x="8595360" y="2542032"/>
            <a:ext cx="3017520" cy="685800"/>
          </a:xfrm>
          <a:prstGeom prst="rect">
            <a:avLst/>
          </a:prstGeom>
          <a:noFill/>
        </p:spPr>
        <p:txBody>
          <a:bodyPr wrap="square" anchor="t" lIns="0" rIns="0" tIns="0" bIns="0">
            <a:spAutoFit/>
          </a:bodyPr>
          <a:lstStyle/>
          <a:p>
            <a:pPr algn="l">
              <a:spcAft>
                <a:spcPts val="400"/>
              </a:spcAft>
            </a:pPr>
            <a:r>
              <a:rPr sz="1200" b="0" i="0">
                <a:solidFill>
                  <a:srgbClr val="575756"/>
                </a:solidFill>
              </a:rPr>
              <a:t>agent AUC (95% CI 0.36 to 0.57): chance level</a:t>
            </a:r>
          </a:p>
        </p:txBody>
      </p:sp>
      <p:sp>
        <p:nvSpPr>
          <p:cNvPr id="11" name="TextBox 10"/>
          <p:cNvSpPr txBox="1"/>
          <p:nvPr/>
        </p:nvSpPr>
        <p:spPr>
          <a:xfrm>
            <a:off x="8595360" y="3291840"/>
            <a:ext cx="3017520" cy="594360"/>
          </a:xfrm>
          <a:prstGeom prst="rect">
            <a:avLst/>
          </a:prstGeom>
          <a:noFill/>
        </p:spPr>
        <p:txBody>
          <a:bodyPr wrap="square" anchor="t" lIns="0" rIns="0" tIns="0" bIns="0">
            <a:spAutoFit/>
          </a:bodyPr>
          <a:lstStyle/>
          <a:p>
            <a:pPr algn="l">
              <a:spcAft>
                <a:spcPts val="400"/>
              </a:spcAft>
            </a:pPr>
            <a:r>
              <a:rPr sz="3000" b="1" i="0">
                <a:solidFill>
                  <a:srgbClr val="DF4807"/>
                </a:solidFill>
              </a:rPr>
              <a:t>0.49 vs 0.45</a:t>
            </a:r>
          </a:p>
        </p:txBody>
      </p:sp>
      <p:sp>
        <p:nvSpPr>
          <p:cNvPr id="12" name="TextBox 11"/>
          <p:cNvSpPr txBox="1"/>
          <p:nvPr/>
        </p:nvSpPr>
        <p:spPr>
          <a:xfrm>
            <a:off x="8595360" y="3913632"/>
            <a:ext cx="3017520" cy="685800"/>
          </a:xfrm>
          <a:prstGeom prst="rect">
            <a:avLst/>
          </a:prstGeom>
          <a:noFill/>
        </p:spPr>
        <p:txBody>
          <a:bodyPr wrap="square" anchor="t" lIns="0" rIns="0" tIns="0" bIns="0">
            <a:spAutoFit/>
          </a:bodyPr>
          <a:lstStyle/>
          <a:p>
            <a:pPr algn="l">
              <a:spcAft>
                <a:spcPts val="400"/>
              </a:spcAft>
            </a:pPr>
            <a:r>
              <a:rPr sz="1200" b="0" i="0">
                <a:solidFill>
                  <a:srgbClr val="575756"/>
                </a:solidFill>
              </a:rPr>
              <a:t>agent: wrong answers score slightly higher than right ones</a:t>
            </a:r>
          </a:p>
        </p:txBody>
      </p:sp>
      <p:sp>
        <p:nvSpPr>
          <p:cNvPr id="13" name="TextBox 12"/>
          <p:cNvSpPr txBox="1"/>
          <p:nvPr/>
        </p:nvSpPr>
        <p:spPr>
          <a:xfrm>
            <a:off x="8595360" y="4663440"/>
            <a:ext cx="3017520" cy="594360"/>
          </a:xfrm>
          <a:prstGeom prst="rect">
            <a:avLst/>
          </a:prstGeom>
          <a:noFill/>
        </p:spPr>
        <p:txBody>
          <a:bodyPr wrap="square" anchor="t" lIns="0" rIns="0" tIns="0" bIns="0">
            <a:spAutoFit/>
          </a:bodyPr>
          <a:lstStyle/>
          <a:p>
            <a:pPr algn="l">
              <a:spcAft>
                <a:spcPts val="400"/>
              </a:spcAft>
            </a:pPr>
            <a:r>
              <a:rPr sz="3400" b="1" i="0">
                <a:solidFill>
                  <a:srgbClr val="575756"/>
                </a:solidFill>
              </a:rPr>
              <a:t>0.615</a:t>
            </a:r>
          </a:p>
        </p:txBody>
      </p:sp>
      <p:sp>
        <p:nvSpPr>
          <p:cNvPr id="14" name="TextBox 13"/>
          <p:cNvSpPr txBox="1"/>
          <p:nvPr/>
        </p:nvSpPr>
        <p:spPr>
          <a:xfrm>
            <a:off x="8595360" y="5285231"/>
            <a:ext cx="3017520" cy="685800"/>
          </a:xfrm>
          <a:prstGeom prst="rect">
            <a:avLst/>
          </a:prstGeom>
          <a:noFill/>
        </p:spPr>
        <p:txBody>
          <a:bodyPr wrap="square" anchor="t" lIns="0" rIns="0" tIns="0" bIns="0">
            <a:spAutoFit/>
          </a:bodyPr>
          <a:lstStyle/>
          <a:p>
            <a:pPr algn="l">
              <a:spcAft>
                <a:spcPts val="400"/>
              </a:spcAft>
            </a:pPr>
            <a:r>
              <a:rPr sz="1200" b="0" i="0">
                <a:solidFill>
                  <a:srgbClr val="575756"/>
                </a:solidFill>
              </a:rPr>
              <a:t>standard RAG AUC: weak signal only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Both off-diagonal buckets are populated</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0972800" cy="365760"/>
          </a:xfrm>
          <a:prstGeom prst="rect">
            <a:avLst/>
          </a:prstGeom>
          <a:noFill/>
        </p:spPr>
        <p:txBody>
          <a:bodyPr wrap="square" anchor="t" lIns="0" rIns="0" tIns="0" bIns="0">
            <a:spAutoFit/>
          </a:bodyPr>
          <a:lstStyle/>
          <a:p>
            <a:pPr algn="l">
              <a:spcAft>
                <a:spcPts val="400"/>
              </a:spcAft>
            </a:pPr>
            <a:r>
              <a:rPr sz="1600" b="0" i="0">
                <a:solidFill>
                  <a:srgbClr val="575756"/>
                </a:solidFill>
              </a:rPr>
              <a:t>Four-bucket matrix at a faithful cut of 0.5</a:t>
            </a:r>
          </a:p>
        </p:txBody>
      </p:sp>
      <p:pic>
        <p:nvPicPr>
          <p:cNvPr id="8" name="Picture 7" descr="fig_buckets.png"/>
          <p:cNvPicPr>
            <a:picLocks noChangeAspect="1"/>
          </p:cNvPicPr>
          <p:nvPr/>
        </p:nvPicPr>
        <p:blipFill>
          <a:blip r:embed="rId3"/>
          <a:stretch>
            <a:fillRect/>
          </a:stretch>
        </p:blipFill>
        <p:spPr>
          <a:xfrm>
            <a:off x="356616" y="1828800"/>
            <a:ext cx="7863840" cy="3471085"/>
          </a:xfrm>
          <a:prstGeom prst="rect">
            <a:avLst/>
          </a:prstGeom>
        </p:spPr>
      </p:pic>
      <p:sp>
        <p:nvSpPr>
          <p:cNvPr id="9" name="TextBox 8"/>
          <p:cNvSpPr txBox="1"/>
          <p:nvPr/>
        </p:nvSpPr>
        <p:spPr>
          <a:xfrm>
            <a:off x="8595360" y="1920240"/>
            <a:ext cx="3017520" cy="594360"/>
          </a:xfrm>
          <a:prstGeom prst="rect">
            <a:avLst/>
          </a:prstGeom>
          <a:noFill/>
        </p:spPr>
        <p:txBody>
          <a:bodyPr wrap="square" anchor="t" lIns="0" rIns="0" tIns="0" bIns="0">
            <a:spAutoFit/>
          </a:bodyPr>
          <a:lstStyle/>
          <a:p>
            <a:pPr algn="l">
              <a:spcAft>
                <a:spcPts val="400"/>
              </a:spcAft>
            </a:pPr>
            <a:r>
              <a:rPr sz="3400" b="1" i="0">
                <a:solidFill>
                  <a:srgbClr val="DF4807"/>
                </a:solidFill>
              </a:rPr>
              <a:t>17 of 31</a:t>
            </a:r>
          </a:p>
        </p:txBody>
      </p:sp>
      <p:sp>
        <p:nvSpPr>
          <p:cNvPr id="10" name="TextBox 9"/>
          <p:cNvSpPr txBox="1"/>
          <p:nvPr/>
        </p:nvSpPr>
        <p:spPr>
          <a:xfrm>
            <a:off x="8595360" y="2542032"/>
            <a:ext cx="3017520" cy="685800"/>
          </a:xfrm>
          <a:prstGeom prst="rect">
            <a:avLst/>
          </a:prstGeom>
          <a:noFill/>
        </p:spPr>
        <p:txBody>
          <a:bodyPr wrap="square" anchor="t" lIns="0" rIns="0" tIns="0" bIns="0">
            <a:spAutoFit/>
          </a:bodyPr>
          <a:lstStyle/>
          <a:p>
            <a:pPr algn="l">
              <a:spcAft>
                <a:spcPts val="400"/>
              </a:spcAft>
            </a:pPr>
            <a:r>
              <a:rPr sz="1200" b="0" i="0">
                <a:solidFill>
                  <a:srgbClr val="575756"/>
                </a:solidFill>
              </a:rPr>
              <a:t>agent errors that pass as faithful (55%)</a:t>
            </a:r>
          </a:p>
        </p:txBody>
      </p:sp>
      <p:sp>
        <p:nvSpPr>
          <p:cNvPr id="11" name="TextBox 10"/>
          <p:cNvSpPr txBox="1"/>
          <p:nvPr/>
        </p:nvSpPr>
        <p:spPr>
          <a:xfrm>
            <a:off x="8595360" y="3291840"/>
            <a:ext cx="3017520" cy="594360"/>
          </a:xfrm>
          <a:prstGeom prst="rect">
            <a:avLst/>
          </a:prstGeom>
          <a:noFill/>
        </p:spPr>
        <p:txBody>
          <a:bodyPr wrap="square" anchor="t" lIns="0" rIns="0" tIns="0" bIns="0">
            <a:spAutoFit/>
          </a:bodyPr>
          <a:lstStyle/>
          <a:p>
            <a:pPr algn="l">
              <a:spcAft>
                <a:spcPts val="400"/>
              </a:spcAft>
            </a:pPr>
            <a:r>
              <a:rPr sz="3400" b="1" i="0">
                <a:solidFill>
                  <a:srgbClr val="575756"/>
                </a:solidFill>
              </a:rPr>
              <a:t>93 of 184</a:t>
            </a:r>
          </a:p>
        </p:txBody>
      </p:sp>
      <p:sp>
        <p:nvSpPr>
          <p:cNvPr id="12" name="TextBox 11"/>
          <p:cNvSpPr txBox="1"/>
          <p:nvPr/>
        </p:nvSpPr>
        <p:spPr>
          <a:xfrm>
            <a:off x="8595360" y="3913632"/>
            <a:ext cx="3017520" cy="685800"/>
          </a:xfrm>
          <a:prstGeom prst="rect">
            <a:avLst/>
          </a:prstGeom>
          <a:noFill/>
        </p:spPr>
        <p:txBody>
          <a:bodyPr wrap="square" anchor="t" lIns="0" rIns="0" tIns="0" bIns="0">
            <a:spAutoFit/>
          </a:bodyPr>
          <a:lstStyle/>
          <a:p>
            <a:pPr algn="l">
              <a:spcAft>
                <a:spcPts val="400"/>
              </a:spcAft>
            </a:pPr>
            <a:r>
              <a:rPr sz="1200" b="0" i="0">
                <a:solidFill>
                  <a:srgbClr val="575756"/>
                </a:solidFill>
              </a:rPr>
              <a:t>correct agent answers scored as unfaithful</a:t>
            </a:r>
          </a:p>
        </p:txBody>
      </p:sp>
      <p:sp>
        <p:nvSpPr>
          <p:cNvPr id="13" name="TextBox 12"/>
          <p:cNvSpPr txBox="1"/>
          <p:nvPr/>
        </p:nvSpPr>
        <p:spPr>
          <a:xfrm>
            <a:off x="356616" y="5440680"/>
            <a:ext cx="7863840" cy="731520"/>
          </a:xfrm>
          <a:prstGeom prst="rect">
            <a:avLst/>
          </a:prstGeom>
          <a:noFill/>
        </p:spPr>
        <p:txBody>
          <a:bodyPr wrap="square" anchor="t" lIns="0" rIns="0" tIns="0" bIns="0">
            <a:spAutoFit/>
          </a:bodyPr>
          <a:lstStyle/>
          <a:p>
            <a:pPr algn="l">
              <a:spcAft>
                <a:spcPts val="400"/>
              </a:spcAft>
            </a:pPr>
            <a:r>
              <a:rPr sz="1200" b="0" i="0">
                <a:solidFill>
                  <a:srgbClr val="575756"/>
                </a:solidFill>
              </a:rPr>
              <a:t>Part of the right-but-unfaithful effect is mechanical: sentences that restate the input are not in the passages, so the judge marks them unsupported. That is how RAGAS is defined.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Not an artefact of the cut-off</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0972800" cy="365760"/>
          </a:xfrm>
          <a:prstGeom prst="rect">
            <a:avLst/>
          </a:prstGeom>
          <a:noFill/>
        </p:spPr>
        <p:txBody>
          <a:bodyPr wrap="square" anchor="t" lIns="0" rIns="0" tIns="0" bIns="0">
            <a:spAutoFit/>
          </a:bodyPr>
          <a:lstStyle/>
          <a:p>
            <a:pPr algn="l">
              <a:spcAft>
                <a:spcPts val="400"/>
              </a:spcAft>
            </a:pPr>
            <a:r>
              <a:rPr sz="1600" b="0" i="0">
                <a:solidFill>
                  <a:srgbClr val="575756"/>
                </a:solidFill>
              </a:rPr>
              <a:t>Share of wrong answers that still pass as faithful as the threshold rises</a:t>
            </a:r>
          </a:p>
        </p:txBody>
      </p:sp>
      <p:graphicFrame>
        <p:nvGraphicFramePr>
          <p:cNvPr id="8" name="Chart 7"/>
          <p:cNvGraphicFramePr>
            <a:graphicFrameLocks noGrp="1"/>
          </p:cNvGraphicFramePr>
          <p:nvPr/>
        </p:nvGraphicFramePr>
        <p:xfrm>
          <a:off x="356616" y="1828800"/>
          <a:ext cx="6949440" cy="4297680"/>
        </p:xfrm>
        <a:graphic>
          <a:graphicData uri="http://schemas.openxmlformats.org/drawingml/2006/chart">
            <c:chart xmlns:c="http://schemas.openxmlformats.org/drawingml/2006/chart" r:id="rId3"/>
          </a:graphicData>
        </a:graphic>
      </p:graphicFrame>
      <p:sp>
        <p:nvSpPr>
          <p:cNvPr id="9" name="TextBox 8"/>
          <p:cNvSpPr txBox="1"/>
          <p:nvPr/>
        </p:nvSpPr>
        <p:spPr>
          <a:xfrm>
            <a:off x="7772400" y="1920240"/>
            <a:ext cx="3749039" cy="594360"/>
          </a:xfrm>
          <a:prstGeom prst="rect">
            <a:avLst/>
          </a:prstGeom>
          <a:noFill/>
        </p:spPr>
        <p:txBody>
          <a:bodyPr wrap="square" anchor="t" lIns="0" rIns="0" tIns="0" bIns="0">
            <a:spAutoFit/>
          </a:bodyPr>
          <a:lstStyle/>
          <a:p>
            <a:pPr algn="l">
              <a:spcAft>
                <a:spcPts val="400"/>
              </a:spcAft>
            </a:pPr>
            <a:r>
              <a:rPr sz="3400" b="1" i="0">
                <a:solidFill>
                  <a:srgbClr val="DF4807"/>
                </a:solidFill>
              </a:rPr>
              <a:t>7</a:t>
            </a:r>
          </a:p>
        </p:txBody>
      </p:sp>
      <p:sp>
        <p:nvSpPr>
          <p:cNvPr id="10" name="TextBox 9"/>
          <p:cNvSpPr txBox="1"/>
          <p:nvPr/>
        </p:nvSpPr>
        <p:spPr>
          <a:xfrm>
            <a:off x="7772400" y="2542032"/>
            <a:ext cx="3749039" cy="685800"/>
          </a:xfrm>
          <a:prstGeom prst="rect">
            <a:avLst/>
          </a:prstGeom>
          <a:noFill/>
        </p:spPr>
        <p:txBody>
          <a:bodyPr wrap="square" anchor="t" lIns="0" rIns="0" tIns="0" bIns="0">
            <a:spAutoFit/>
          </a:bodyPr>
          <a:lstStyle/>
          <a:p>
            <a:pPr algn="l">
              <a:spcAft>
                <a:spcPts val="400"/>
              </a:spcAft>
            </a:pPr>
            <a:r>
              <a:rPr sz="1200" b="0" i="0">
                <a:solidFill>
                  <a:srgbClr val="575756"/>
                </a:solidFill>
              </a:rPr>
              <a:t>agent errors still count as faithful at a strict cut of 0.7</a:t>
            </a:r>
          </a:p>
        </p:txBody>
      </p:sp>
      <p:sp>
        <p:nvSpPr>
          <p:cNvPr id="11" name="TextBox 10"/>
          <p:cNvSpPr txBox="1"/>
          <p:nvPr/>
        </p:nvSpPr>
        <p:spPr>
          <a:xfrm>
            <a:off x="7772400" y="3291840"/>
            <a:ext cx="3749039" cy="594360"/>
          </a:xfrm>
          <a:prstGeom prst="rect">
            <a:avLst/>
          </a:prstGeom>
          <a:noFill/>
        </p:spPr>
        <p:txBody>
          <a:bodyPr wrap="square" anchor="t" lIns="0" rIns="0" tIns="0" bIns="0">
            <a:spAutoFit/>
          </a:bodyPr>
          <a:lstStyle/>
          <a:p>
            <a:pPr algn="l">
              <a:spcAft>
                <a:spcPts val="400"/>
              </a:spcAft>
            </a:pPr>
            <a:r>
              <a:rPr sz="3400" b="1" i="0">
                <a:solidFill>
                  <a:srgbClr val="DF4807"/>
                </a:solidFill>
              </a:rPr>
              <a:t>1.00</a:t>
            </a:r>
          </a:p>
        </p:txBody>
      </p:sp>
      <p:sp>
        <p:nvSpPr>
          <p:cNvPr id="12" name="TextBox 11"/>
          <p:cNvSpPr txBox="1"/>
          <p:nvPr/>
        </p:nvSpPr>
        <p:spPr>
          <a:xfrm>
            <a:off x="7772400" y="3913632"/>
            <a:ext cx="3749039" cy="685800"/>
          </a:xfrm>
          <a:prstGeom prst="rect">
            <a:avLst/>
          </a:prstGeom>
          <a:noFill/>
        </p:spPr>
        <p:txBody>
          <a:bodyPr wrap="square" anchor="t" lIns="0" rIns="0" tIns="0" bIns="0">
            <a:spAutoFit/>
          </a:bodyPr>
          <a:lstStyle/>
          <a:p>
            <a:pPr algn="l">
              <a:spcAft>
                <a:spcPts val="400"/>
              </a:spcAft>
            </a:pPr>
            <a:r>
              <a:rPr sz="1200" b="0" i="0">
                <a:solidFill>
                  <a:srgbClr val="575756"/>
                </a:solidFill>
              </a:rPr>
              <a:t>perfect faithfulness score on a wrong answer (input 207)</a:t>
            </a:r>
          </a:p>
        </p:txBody>
      </p:sp>
      <p:sp>
        <p:nvSpPr>
          <p:cNvPr id="13" name="TextBox 12"/>
          <p:cNvSpPr txBox="1"/>
          <p:nvPr/>
        </p:nvSpPr>
        <p:spPr>
          <a:xfrm>
            <a:off x="7772400" y="4709160"/>
            <a:ext cx="3749039" cy="1188720"/>
          </a:xfrm>
          <a:prstGeom prst="rect">
            <a:avLst/>
          </a:prstGeom>
          <a:noFill/>
        </p:spPr>
        <p:txBody>
          <a:bodyPr wrap="square" anchor="t" lIns="0" rIns="0" tIns="0" bIns="0">
            <a:spAutoFit/>
          </a:bodyPr>
          <a:lstStyle/>
          <a:p>
            <a:pPr algn="l">
              <a:spcAft>
                <a:spcPts val="400"/>
              </a:spcAft>
            </a:pPr>
            <a:r>
              <a:rPr sz="1200" b="0" i="0">
                <a:solidFill>
                  <a:srgbClr val="575756"/>
                </a:solidFill>
              </a:rPr>
              <a:t>Threshold-free measures (AUC, correlation) are reported alongside, so the finding does not rest on one cut.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the wrong answers look grounded</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0972800" cy="365760"/>
          </a:xfrm>
          <a:prstGeom prst="rect">
            <a:avLst/>
          </a:prstGeom>
          <a:noFill/>
        </p:spPr>
        <p:txBody>
          <a:bodyPr wrap="square" anchor="t" lIns="0" rIns="0" tIns="0" bIns="0">
            <a:spAutoFit/>
          </a:bodyPr>
          <a:lstStyle/>
          <a:p>
            <a:pPr algn="l">
              <a:spcAft>
                <a:spcPts val="400"/>
              </a:spcAft>
            </a:pPr>
            <a:r>
              <a:rPr sz="1600" b="0" i="0">
                <a:solidFill>
                  <a:srgbClr val="575756"/>
                </a:solidFill>
              </a:rPr>
              <a:t>All 17 faithful-but-wrong agent answers read and categorised</a:t>
            </a:r>
          </a:p>
        </p:txBody>
      </p:sp>
      <p:graphicFrame>
        <p:nvGraphicFramePr>
          <p:cNvPr id="8" name="Chart 7"/>
          <p:cNvGraphicFramePr>
            <a:graphicFrameLocks noGrp="1"/>
          </p:cNvGraphicFramePr>
          <p:nvPr/>
        </p:nvGraphicFramePr>
        <p:xfrm>
          <a:off x="356616" y="1783080"/>
          <a:ext cx="5852160" cy="3017520"/>
        </p:xfrm>
        <a:graphic>
          <a:graphicData uri="http://schemas.openxmlformats.org/drawingml/2006/chart">
            <c:chart xmlns:c="http://schemas.openxmlformats.org/drawingml/2006/chart" r:id="rId3"/>
          </a:graphicData>
        </a:graphic>
      </p:graphicFrame>
      <p:sp>
        <p:nvSpPr>
          <p:cNvPr id="9" name="TextBox 8"/>
          <p:cNvSpPr txBox="1"/>
          <p:nvPr/>
        </p:nvSpPr>
        <p:spPr>
          <a:xfrm>
            <a:off x="356616" y="4892040"/>
            <a:ext cx="2743200" cy="594360"/>
          </a:xfrm>
          <a:prstGeom prst="rect">
            <a:avLst/>
          </a:prstGeom>
          <a:noFill/>
        </p:spPr>
        <p:txBody>
          <a:bodyPr wrap="square" anchor="t" lIns="0" rIns="0" tIns="0" bIns="0">
            <a:spAutoFit/>
          </a:bodyPr>
          <a:lstStyle/>
          <a:p>
            <a:pPr algn="l">
              <a:spcAft>
                <a:spcPts val="400"/>
              </a:spcAft>
            </a:pPr>
            <a:r>
              <a:rPr sz="3400" b="1" i="0">
                <a:solidFill>
                  <a:srgbClr val="DF4807"/>
                </a:solidFill>
              </a:rPr>
              <a:t>14 / 17</a:t>
            </a:r>
          </a:p>
        </p:txBody>
      </p:sp>
      <p:sp>
        <p:nvSpPr>
          <p:cNvPr id="10" name="TextBox 9"/>
          <p:cNvSpPr txBox="1"/>
          <p:nvPr/>
        </p:nvSpPr>
        <p:spPr>
          <a:xfrm>
            <a:off x="356616" y="5513831"/>
            <a:ext cx="2743200" cy="685800"/>
          </a:xfrm>
          <a:prstGeom prst="rect">
            <a:avLst/>
          </a:prstGeom>
          <a:noFill/>
        </p:spPr>
        <p:txBody>
          <a:bodyPr wrap="square" anchor="t" lIns="0" rIns="0" tIns="0" bIns="0">
            <a:spAutoFit/>
          </a:bodyPr>
          <a:lstStyle/>
          <a:p>
            <a:pPr algn="l">
              <a:spcAft>
                <a:spcPts val="400"/>
              </a:spcAft>
            </a:pPr>
            <a:r>
              <a:rPr sz="1200" b="0" i="0">
                <a:solidFill>
                  <a:srgbClr val="575756"/>
                </a:solidFill>
              </a:rPr>
              <a:t>had the correct guideline section retrieved</a:t>
            </a:r>
          </a:p>
        </p:txBody>
      </p:sp>
      <p:sp>
        <p:nvSpPr>
          <p:cNvPr id="11" name="TextBox 10"/>
          <p:cNvSpPr txBox="1"/>
          <p:nvPr/>
        </p:nvSpPr>
        <p:spPr>
          <a:xfrm>
            <a:off x="3291840" y="4892040"/>
            <a:ext cx="2926080" cy="594360"/>
          </a:xfrm>
          <a:prstGeom prst="rect">
            <a:avLst/>
          </a:prstGeom>
          <a:noFill/>
        </p:spPr>
        <p:txBody>
          <a:bodyPr wrap="square" anchor="t" lIns="0" rIns="0" tIns="0" bIns="0">
            <a:spAutoFit/>
          </a:bodyPr>
          <a:lstStyle/>
          <a:p>
            <a:pPr algn="l">
              <a:spcAft>
                <a:spcPts val="400"/>
              </a:spcAft>
            </a:pPr>
            <a:r>
              <a:rPr sz="3400" b="1" i="0">
                <a:solidFill>
                  <a:srgbClr val="DF4807"/>
                </a:solidFill>
              </a:rPr>
              <a:t>21 / 31</a:t>
            </a:r>
          </a:p>
        </p:txBody>
      </p:sp>
      <p:sp>
        <p:nvSpPr>
          <p:cNvPr id="12" name="TextBox 11"/>
          <p:cNvSpPr txBox="1"/>
          <p:nvPr/>
        </p:nvSpPr>
        <p:spPr>
          <a:xfrm>
            <a:off x="3291840" y="5513831"/>
            <a:ext cx="2926080" cy="685800"/>
          </a:xfrm>
          <a:prstGeom prst="rect">
            <a:avLst/>
          </a:prstGeom>
          <a:noFill/>
        </p:spPr>
        <p:txBody>
          <a:bodyPr wrap="square" anchor="t" lIns="0" rIns="0" tIns="0" bIns="0">
            <a:spAutoFit/>
          </a:bodyPr>
          <a:lstStyle/>
          <a:p>
            <a:pPr algn="l">
              <a:spcAft>
                <a:spcPts val="400"/>
              </a:spcAft>
            </a:pPr>
            <a:r>
              <a:rPr sz="1200" b="0" i="0">
                <a:solidFill>
                  <a:srgbClr val="575756"/>
                </a:solidFill>
              </a:rPr>
              <a:t>verdict statements judged 'supported'</a:t>
            </a:r>
          </a:p>
        </p:txBody>
      </p:sp>
      <p:sp>
        <p:nvSpPr>
          <p:cNvPr id="13" name="Rectangle 12"/>
          <p:cNvSpPr/>
          <p:nvPr/>
        </p:nvSpPr>
        <p:spPr>
          <a:xfrm>
            <a:off x="6583680" y="1783080"/>
            <a:ext cx="4937760" cy="4343400"/>
          </a:xfrm>
          <a:prstGeom prst="rect">
            <a:avLst/>
          </a:prstGeom>
          <a:solidFill>
            <a:srgbClr val="FBE4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812280" y="1920240"/>
            <a:ext cx="4480560" cy="4114800"/>
          </a:xfrm>
          <a:prstGeom prst="rect">
            <a:avLst/>
          </a:prstGeom>
          <a:noFill/>
        </p:spPr>
        <p:txBody>
          <a:bodyPr wrap="square" anchor="t" lIns="0" rIns="0" tIns="0" bIns="0">
            <a:spAutoFit/>
          </a:bodyPr>
          <a:lstStyle/>
          <a:p>
            <a:pPr algn="l">
              <a:spcAft>
                <a:spcPts val="800"/>
              </a:spcAft>
            </a:pPr>
            <a:r>
              <a:rPr sz="1600" b="1" i="0">
                <a:solidFill>
                  <a:srgbClr val="DF4807"/>
                </a:solidFill>
              </a:rPr>
              <a:t>Case: input 207</a:t>
            </a:r>
          </a:p>
          <a:p>
            <a:pPr algn="l">
              <a:spcAft>
                <a:spcPts val="1000"/>
              </a:spcAft>
            </a:pPr>
            <a:r>
              <a:rPr sz="1300" b="0" i="0">
                <a:solidFill>
                  <a:srgbClr val="575756"/>
                </a:solidFill>
              </a:rPr>
              <a:t>A tool that pre-classifies incoming court cases by type.</a:t>
            </a:r>
          </a:p>
          <a:p>
            <a:pPr algn="l">
              <a:spcAft>
                <a:spcPts val="0"/>
              </a:spcAft>
            </a:pPr>
            <a:r>
              <a:rPr sz="1300" b="1" i="0">
                <a:solidFill>
                  <a:srgbClr val="575756"/>
                </a:solidFill>
              </a:rPr>
              <a:t>Agent: </a:t>
            </a:r>
          </a:p>
          <a:p>
            <a:pPr algn="l">
              <a:spcAft>
                <a:spcPts val="1000"/>
              </a:spcAft>
            </a:pPr>
            <a:r>
              <a:rPr sz="1300" b="0" i="0">
                <a:solidFill>
                  <a:srgbClr val="575756"/>
                </a:solidFill>
              </a:rPr>
              <a:t>places it under point 8(a), then asserts no Article 6(3) condition applies. Label: high-risk.</a:t>
            </a:r>
          </a:p>
          <a:p>
            <a:pPr algn="l">
              <a:spcAft>
                <a:spcPts val="0"/>
              </a:spcAft>
            </a:pPr>
            <a:r>
              <a:rPr sz="1300" b="1" i="0">
                <a:solidFill>
                  <a:srgbClr val="575756"/>
                </a:solidFill>
              </a:rPr>
              <a:t>Commission: </a:t>
            </a:r>
          </a:p>
          <a:p>
            <a:pPr algn="l">
              <a:spcAft>
                <a:spcPts val="1000"/>
              </a:spcAft>
            </a:pPr>
            <a:r>
              <a:rPr sz="1300" b="0" i="0">
                <a:solidFill>
                  <a:srgbClr val="575756"/>
                </a:solidFill>
              </a:rPr>
              <a:t>narrow procedural / preparatory task. Not high-risk.</a:t>
            </a:r>
          </a:p>
          <a:p>
            <a:pPr algn="l">
              <a:spcAft>
                <a:spcPts val="400"/>
              </a:spcAft>
            </a:pPr>
            <a:r>
              <a:rPr sz="1400" b="1" i="0">
                <a:solidFill>
                  <a:srgbClr val="DF4807"/>
                </a:solidFill>
              </a:rPr>
              <a:t>Faithfulness: 6 of 6 statements supported = 1.00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Text Placeholder 2"/>
          <p:cNvSpPr>
            <a:spLocks noGrp="1"/>
          </p:cNvSpPr>
          <p:nvPr>
            <p:ph type="body" idx="1"/>
          </p:nvPr>
        </p:nvSpPr>
        <p:spPr/>
        <p:txBody>
          <a:bodyPr/>
          <a:lstStyle/>
          <a:p>
            <a:r>
              <a:t>04</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findings</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Rectangle 6"/>
          <p:cNvSpPr/>
          <p:nvPr/>
        </p:nvSpPr>
        <p:spPr>
          <a:xfrm>
            <a:off x="356616" y="1463040"/>
            <a:ext cx="5440680" cy="2103120"/>
          </a:xfrm>
          <a:prstGeom prst="rect">
            <a:avLst/>
          </a:prstGeom>
          <a:solidFill>
            <a:srgbClr val="FBE4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585216" y="169164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1</a:t>
            </a:r>
          </a:p>
        </p:txBody>
      </p:sp>
      <p:sp>
        <p:nvSpPr>
          <p:cNvPr id="9" name="TextBox 8"/>
          <p:cNvSpPr txBox="1"/>
          <p:nvPr/>
        </p:nvSpPr>
        <p:spPr>
          <a:xfrm>
            <a:off x="1133856" y="1691640"/>
            <a:ext cx="4480560" cy="457200"/>
          </a:xfrm>
          <a:prstGeom prst="rect">
            <a:avLst/>
          </a:prstGeom>
          <a:noFill/>
        </p:spPr>
        <p:txBody>
          <a:bodyPr wrap="square" anchor="t" lIns="0" rIns="0" tIns="0" bIns="0">
            <a:spAutoFit/>
          </a:bodyPr>
          <a:lstStyle/>
          <a:p>
            <a:pPr algn="l">
              <a:spcAft>
                <a:spcPts val="400"/>
              </a:spcAft>
            </a:pPr>
            <a:r>
              <a:rPr sz="1600" b="1" i="0">
                <a:solidFill>
                  <a:srgbClr val="DF4807"/>
                </a:solidFill>
              </a:rPr>
              <a:t>Faithfulness is not correctness</a:t>
            </a:r>
          </a:p>
        </p:txBody>
      </p:sp>
      <p:sp>
        <p:nvSpPr>
          <p:cNvPr id="10" name="TextBox 9"/>
          <p:cNvSpPr txBox="1"/>
          <p:nvPr/>
        </p:nvSpPr>
        <p:spPr>
          <a:xfrm>
            <a:off x="1133856" y="2240280"/>
            <a:ext cx="4480560" cy="1234440"/>
          </a:xfrm>
          <a:prstGeom prst="rect">
            <a:avLst/>
          </a:prstGeom>
          <a:noFill/>
        </p:spPr>
        <p:txBody>
          <a:bodyPr wrap="square" anchor="t" lIns="0" rIns="0" tIns="0" bIns="0">
            <a:spAutoFit/>
          </a:bodyPr>
          <a:lstStyle/>
          <a:p>
            <a:pPr algn="l">
              <a:spcAft>
                <a:spcPts val="400"/>
              </a:spcAft>
            </a:pPr>
            <a:r>
              <a:rPr sz="1300" b="0" i="0">
                <a:solidFill>
                  <a:srgbClr val="575756"/>
                </a:solidFill>
              </a:rPr>
              <a:t>For the agent, faithfulness is at chance level for spotting wrong labels (AUC 0.465). 17 of 31 errors pass as faithful.</a:t>
            </a:r>
          </a:p>
        </p:txBody>
      </p:sp>
      <p:sp>
        <p:nvSpPr>
          <p:cNvPr id="11" name="Rectangle 10"/>
          <p:cNvSpPr/>
          <p:nvPr/>
        </p:nvSpPr>
        <p:spPr>
          <a:xfrm>
            <a:off x="6025896" y="1463040"/>
            <a:ext cx="5440680" cy="210312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6254496" y="169164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2</a:t>
            </a:r>
          </a:p>
        </p:txBody>
      </p:sp>
      <p:sp>
        <p:nvSpPr>
          <p:cNvPr id="13" name="TextBox 12"/>
          <p:cNvSpPr txBox="1"/>
          <p:nvPr/>
        </p:nvSpPr>
        <p:spPr>
          <a:xfrm>
            <a:off x="6803136" y="1691640"/>
            <a:ext cx="4480560" cy="457200"/>
          </a:xfrm>
          <a:prstGeom prst="rect">
            <a:avLst/>
          </a:prstGeom>
          <a:noFill/>
        </p:spPr>
        <p:txBody>
          <a:bodyPr wrap="square" anchor="t" lIns="0" rIns="0" tIns="0" bIns="0">
            <a:spAutoFit/>
          </a:bodyPr>
          <a:lstStyle/>
          <a:p>
            <a:pPr algn="l">
              <a:spcAft>
                <a:spcPts val="400"/>
              </a:spcAft>
            </a:pPr>
            <a:r>
              <a:rPr sz="1600" b="1" i="0">
                <a:solidFill>
                  <a:srgbClr val="DF4807"/>
                </a:solidFill>
              </a:rPr>
              <a:t>Errors are application errors</a:t>
            </a:r>
          </a:p>
        </p:txBody>
      </p:sp>
      <p:sp>
        <p:nvSpPr>
          <p:cNvPr id="14" name="TextBox 13"/>
          <p:cNvSpPr txBox="1"/>
          <p:nvPr/>
        </p:nvSpPr>
        <p:spPr>
          <a:xfrm>
            <a:off x="6803136" y="2240280"/>
            <a:ext cx="4480560" cy="1234440"/>
          </a:xfrm>
          <a:prstGeom prst="rect">
            <a:avLst/>
          </a:prstGeom>
          <a:noFill/>
        </p:spPr>
        <p:txBody>
          <a:bodyPr wrap="square" anchor="t" lIns="0" rIns="0" tIns="0" bIns="0">
            <a:spAutoFit/>
          </a:bodyPr>
          <a:lstStyle/>
          <a:p>
            <a:pPr algn="l">
              <a:spcAft>
                <a:spcPts val="400"/>
              </a:spcAft>
            </a:pPr>
            <a:r>
              <a:rPr sz="1300" b="0" i="0">
                <a:solidFill>
                  <a:srgbClr val="575756"/>
                </a:solidFill>
              </a:rPr>
              <a:t>The right passage was retrieved in 14 of 17 cases; the model misapplied the rule, which RAGAS cannot see.</a:t>
            </a:r>
          </a:p>
        </p:txBody>
      </p:sp>
      <p:sp>
        <p:nvSpPr>
          <p:cNvPr id="15" name="Rectangle 14"/>
          <p:cNvSpPr/>
          <p:nvPr/>
        </p:nvSpPr>
        <p:spPr>
          <a:xfrm>
            <a:off x="356616" y="3794760"/>
            <a:ext cx="5440680" cy="210312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85216" y="402336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3</a:t>
            </a:r>
          </a:p>
        </p:txBody>
      </p:sp>
      <p:sp>
        <p:nvSpPr>
          <p:cNvPr id="17" name="TextBox 16"/>
          <p:cNvSpPr txBox="1"/>
          <p:nvPr/>
        </p:nvSpPr>
        <p:spPr>
          <a:xfrm>
            <a:off x="1133856" y="4023360"/>
            <a:ext cx="4480560" cy="457200"/>
          </a:xfrm>
          <a:prstGeom prst="rect">
            <a:avLst/>
          </a:prstGeom>
          <a:noFill/>
        </p:spPr>
        <p:txBody>
          <a:bodyPr wrap="square" anchor="t" lIns="0" rIns="0" tIns="0" bIns="0">
            <a:spAutoFit/>
          </a:bodyPr>
          <a:lstStyle/>
          <a:p>
            <a:pPr algn="l">
              <a:spcAft>
                <a:spcPts val="400"/>
              </a:spcAft>
            </a:pPr>
            <a:r>
              <a:rPr sz="1600" b="1" i="0">
                <a:solidFill>
                  <a:srgbClr val="DF4807"/>
                </a:solidFill>
              </a:rPr>
              <a:t>Retrieval matters, prompt engineering did not</a:t>
            </a:r>
          </a:p>
        </p:txBody>
      </p:sp>
      <p:sp>
        <p:nvSpPr>
          <p:cNvPr id="18" name="TextBox 17"/>
          <p:cNvSpPr txBox="1"/>
          <p:nvPr/>
        </p:nvSpPr>
        <p:spPr>
          <a:xfrm>
            <a:off x="1133856" y="4572000"/>
            <a:ext cx="4480560" cy="1234440"/>
          </a:xfrm>
          <a:prstGeom prst="rect">
            <a:avLst/>
          </a:prstGeom>
          <a:noFill/>
        </p:spPr>
        <p:txBody>
          <a:bodyPr wrap="square" anchor="t" lIns="0" rIns="0" tIns="0" bIns="0">
            <a:spAutoFit/>
          </a:bodyPr>
          <a:lstStyle/>
          <a:p>
            <a:pPr algn="l">
              <a:spcAft>
                <a:spcPts val="400"/>
              </a:spcAft>
            </a:pPr>
            <a:r>
              <a:rPr sz="1300" b="0" i="0">
                <a:solidFill>
                  <a:srgbClr val="575756"/>
                </a:solidFill>
              </a:rPr>
              <a:t>RAG adds about 19 points over the plain model; the step-by-step agent is not better than a generic RAG prompt.</a:t>
            </a:r>
          </a:p>
        </p:txBody>
      </p:sp>
      <p:sp>
        <p:nvSpPr>
          <p:cNvPr id="19" name="Rectangle 18"/>
          <p:cNvSpPr/>
          <p:nvPr/>
        </p:nvSpPr>
        <p:spPr>
          <a:xfrm>
            <a:off x="6025896" y="3794760"/>
            <a:ext cx="5440680" cy="210312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6254496" y="402336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4</a:t>
            </a:r>
          </a:p>
        </p:txBody>
      </p:sp>
      <p:sp>
        <p:nvSpPr>
          <p:cNvPr id="21" name="TextBox 20"/>
          <p:cNvSpPr txBox="1"/>
          <p:nvPr/>
        </p:nvSpPr>
        <p:spPr>
          <a:xfrm>
            <a:off x="6803136" y="4023360"/>
            <a:ext cx="4480560" cy="457200"/>
          </a:xfrm>
          <a:prstGeom prst="rect">
            <a:avLst/>
          </a:prstGeom>
          <a:noFill/>
        </p:spPr>
        <p:txBody>
          <a:bodyPr wrap="square" anchor="t" lIns="0" rIns="0" tIns="0" bIns="0">
            <a:spAutoFit/>
          </a:bodyPr>
          <a:lstStyle/>
          <a:p>
            <a:pPr algn="l">
              <a:spcAft>
                <a:spcPts val="400"/>
              </a:spcAft>
            </a:pPr>
            <a:r>
              <a:rPr sz="1600" b="1" i="0">
                <a:solidFill>
                  <a:srgbClr val="DF4807"/>
                </a:solidFill>
              </a:rPr>
              <a:t>Benchmarks from worked examples can leak</a:t>
            </a:r>
          </a:p>
        </p:txBody>
      </p:sp>
      <p:sp>
        <p:nvSpPr>
          <p:cNvPr id="22" name="TextBox 21"/>
          <p:cNvSpPr txBox="1"/>
          <p:nvPr/>
        </p:nvSpPr>
        <p:spPr>
          <a:xfrm>
            <a:off x="6803136" y="4572000"/>
            <a:ext cx="4480560" cy="1234440"/>
          </a:xfrm>
          <a:prstGeom prst="rect">
            <a:avLst/>
          </a:prstGeom>
          <a:noFill/>
        </p:spPr>
        <p:txBody>
          <a:bodyPr wrap="square" anchor="t" lIns="0" rIns="0" tIns="0" bIns="0">
            <a:spAutoFit/>
          </a:bodyPr>
          <a:lstStyle/>
          <a:p>
            <a:pPr algn="l">
              <a:spcAft>
                <a:spcPts val="400"/>
              </a:spcAft>
            </a:pPr>
            <a:r>
              <a:rPr sz="1300" b="0" i="0">
                <a:solidFill>
                  <a:srgbClr val="575756"/>
                </a:solidFill>
              </a:rPr>
              <a:t>The verdict text inflated accuracy by up to 15 points and flipped the ranking of the two best systems.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Limitations and future work</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Rectangle 6"/>
          <p:cNvSpPr/>
          <p:nvPr/>
        </p:nvSpPr>
        <p:spPr>
          <a:xfrm>
            <a:off x="356616" y="1463040"/>
            <a:ext cx="5440680" cy="384048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025896" y="1463040"/>
            <a:ext cx="5440680" cy="3840480"/>
          </a:xfrm>
          <a:prstGeom prst="rect">
            <a:avLst/>
          </a:prstGeom>
          <a:solidFill>
            <a:srgbClr val="FBE4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85216" y="1645920"/>
            <a:ext cx="5029200" cy="411480"/>
          </a:xfrm>
          <a:prstGeom prst="rect">
            <a:avLst/>
          </a:prstGeom>
          <a:noFill/>
        </p:spPr>
        <p:txBody>
          <a:bodyPr wrap="square" anchor="t" lIns="0" rIns="0" tIns="0" bIns="0">
            <a:spAutoFit/>
          </a:bodyPr>
          <a:lstStyle/>
          <a:p>
            <a:pPr algn="l">
              <a:spcAft>
                <a:spcPts val="400"/>
              </a:spcAft>
            </a:pPr>
            <a:r>
              <a:rPr sz="1800" b="1" i="0">
                <a:solidFill>
                  <a:srgbClr val="575756"/>
                </a:solidFill>
              </a:rPr>
              <a:t>Limitations</a:t>
            </a:r>
          </a:p>
        </p:txBody>
      </p:sp>
      <p:sp>
        <p:nvSpPr>
          <p:cNvPr id="10" name="TextBox 9"/>
          <p:cNvSpPr txBox="1"/>
          <p:nvPr/>
        </p:nvSpPr>
        <p:spPr>
          <a:xfrm>
            <a:off x="585216" y="2194560"/>
            <a:ext cx="5029200" cy="3749039"/>
          </a:xfrm>
          <a:prstGeom prst="rect">
            <a:avLst/>
          </a:prstGeom>
          <a:noFill/>
        </p:spPr>
        <p:txBody>
          <a:bodyPr wrap="square" anchor="t" lIns="0" rIns="0" tIns="0" bIns="0">
            <a:spAutoFit/>
          </a:bodyPr>
          <a:lstStyle/>
          <a:p>
            <a:pPr algn="l" marL="228600" indent="-228600">
              <a:spcAft>
                <a:spcPts val="800"/>
              </a:spcAft>
              <a:buChar char="–"/>
            </a:pPr>
            <a:r>
              <a:rPr sz="1350" b="0" i="0">
                <a:solidFill>
                  <a:srgbClr val="575756"/>
                </a:solidFill>
              </a:rPr>
              <a:t>One generator and one judge; results may depend on these models</a:t>
            </a:r>
          </a:p>
          <a:p>
            <a:pPr algn="l" marL="228600" indent="-228600">
              <a:spcAft>
                <a:spcPts val="800"/>
              </a:spcAft>
              <a:buChar char="–"/>
            </a:pPr>
            <a:r>
              <a:rPr sz="1350" b="0" i="0">
                <a:solidFill>
                  <a:srgbClr val="575756"/>
                </a:solidFill>
              </a:rPr>
              <a:t>Single annotator for redaction review and error categories</a:t>
            </a:r>
          </a:p>
          <a:p>
            <a:pPr algn="l" marL="228600" indent="-228600">
              <a:spcAft>
                <a:spcPts val="800"/>
              </a:spcAft>
              <a:buChar char="–"/>
            </a:pPr>
            <a:r>
              <a:rPr sz="1350" b="0" i="0">
                <a:solidFill>
                  <a:srgbClr val="575756"/>
                </a:solidFill>
              </a:rPr>
              <a:t>About 20 inputs still describe the legal test without stating the label</a:t>
            </a:r>
          </a:p>
          <a:p>
            <a:pPr algn="l" marL="228600" indent="-228600">
              <a:spcAft>
                <a:spcPts val="800"/>
              </a:spcAft>
              <a:buChar char="–"/>
            </a:pPr>
            <a:r>
              <a:rPr sz="1350" b="0" i="0">
                <a:solidFill>
                  <a:srgbClr val="575756"/>
                </a:solidFill>
              </a:rPr>
              <a:t>26 and 31 wrong answers: wide confidence intervals</a:t>
            </a:r>
          </a:p>
          <a:p>
            <a:pPr algn="l" marL="228600" indent="-228600">
              <a:spcAft>
                <a:spcPts val="800"/>
              </a:spcAft>
              <a:buChar char="–"/>
            </a:pPr>
            <a:r>
              <a:rPr sz="1350" b="0" i="0">
                <a:solidFill>
                  <a:srgbClr val="575756"/>
                </a:solidFill>
              </a:rPr>
              <a:t>Commission examples are cleaner than real product descriptions</a:t>
            </a:r>
          </a:p>
        </p:txBody>
      </p:sp>
      <p:sp>
        <p:nvSpPr>
          <p:cNvPr id="11" name="TextBox 10"/>
          <p:cNvSpPr txBox="1"/>
          <p:nvPr/>
        </p:nvSpPr>
        <p:spPr>
          <a:xfrm>
            <a:off x="6254496" y="1645920"/>
            <a:ext cx="5029200" cy="411480"/>
          </a:xfrm>
          <a:prstGeom prst="rect">
            <a:avLst/>
          </a:prstGeom>
          <a:noFill/>
        </p:spPr>
        <p:txBody>
          <a:bodyPr wrap="square" anchor="t" lIns="0" rIns="0" tIns="0" bIns="0">
            <a:spAutoFit/>
          </a:bodyPr>
          <a:lstStyle/>
          <a:p>
            <a:pPr algn="l">
              <a:spcAft>
                <a:spcPts val="400"/>
              </a:spcAft>
            </a:pPr>
            <a:r>
              <a:rPr sz="1800" b="1" i="0">
                <a:solidFill>
                  <a:srgbClr val="DF4807"/>
                </a:solidFill>
              </a:rPr>
              <a:t>Future work</a:t>
            </a:r>
          </a:p>
        </p:txBody>
      </p:sp>
      <p:sp>
        <p:nvSpPr>
          <p:cNvPr id="12" name="TextBox 11"/>
          <p:cNvSpPr txBox="1"/>
          <p:nvPr/>
        </p:nvSpPr>
        <p:spPr>
          <a:xfrm>
            <a:off x="6254496" y="2194560"/>
            <a:ext cx="5029200" cy="3749039"/>
          </a:xfrm>
          <a:prstGeom prst="rect">
            <a:avLst/>
          </a:prstGeom>
          <a:noFill/>
        </p:spPr>
        <p:txBody>
          <a:bodyPr wrap="square" anchor="t" lIns="0" rIns="0" tIns="0" bIns="0">
            <a:spAutoFit/>
          </a:bodyPr>
          <a:lstStyle/>
          <a:p>
            <a:pPr algn="l" marL="228600" indent="-228600">
              <a:spcAft>
                <a:spcPts val="800"/>
              </a:spcAft>
              <a:buChar char="–"/>
            </a:pPr>
            <a:r>
              <a:rPr sz="1350" b="0" i="0">
                <a:solidFill>
                  <a:srgbClr val="575756"/>
                </a:solidFill>
              </a:rPr>
              <a:t>A second, stronger generator, including a closed commercial model, on the same redacted inputs</a:t>
            </a:r>
          </a:p>
          <a:p>
            <a:pPr algn="l" marL="228600" indent="-228600">
              <a:spcAft>
                <a:spcPts val="800"/>
              </a:spcAft>
              <a:buChar char="–"/>
            </a:pPr>
            <a:r>
              <a:rPr sz="1350" b="0" i="0">
                <a:solidFill>
                  <a:srgbClr val="575756"/>
                </a:solidFill>
              </a:rPr>
              <a:t>A second annotator and inter-annotator agreement</a:t>
            </a:r>
          </a:p>
          <a:p>
            <a:pPr algn="l" marL="228600" indent="-228600">
              <a:spcAft>
                <a:spcPts val="800"/>
              </a:spcAft>
              <a:buChar char="–"/>
            </a:pPr>
            <a:r>
              <a:rPr sz="1350" b="0" i="0">
                <a:solidFill>
                  <a:srgbClr val="575756"/>
                </a:solidFill>
              </a:rPr>
              <a:t>Realistic product descriptions labelled against the guidelines</a:t>
            </a:r>
          </a:p>
          <a:p>
            <a:pPr algn="l" marL="228600" indent="-228600">
              <a:spcAft>
                <a:spcPts val="800"/>
              </a:spcAft>
              <a:buChar char="–"/>
            </a:pPr>
            <a:r>
              <a:rPr sz="1350" b="0" i="0">
                <a:solidFill>
                  <a:srgbClr val="575756"/>
                </a:solidFill>
              </a:rPr>
              <a:t>A correctness-aware check: does the conclusion follow from the retrieved rule and the stated facts?</a:t>
            </a:r>
          </a:p>
          <a:p>
            <a:pPr algn="l" marL="228600" indent="-228600">
              <a:spcAft>
                <a:spcPts val="800"/>
              </a:spcAft>
              <a:buChar char="–"/>
            </a:pPr>
            <a:r>
              <a:rPr sz="1350" b="0" i="0">
                <a:solidFill>
                  <a:srgbClr val="575756"/>
                </a:solidFill>
              </a:rPr>
              <a:t>Extension towards a thesis or paper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a:t>A high faithfulness score says almost nothing about whether a legal classification is right.</a:t>
            </a:r>
          </a:p>
          <a:p>
            <a:r>
              <a:t/>
            </a:r>
          </a:p>
          <a:p>
            <a:r>
              <a:t>Thank you. Questions?</a:t>
            </a:r>
          </a:p>
          <a:p>
            <a:r>
              <a:t>Danke für Ihre Aufmerksamkeit!</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5806440"/>
            <a:ext cx="7315200" cy="365760"/>
          </a:xfrm>
          <a:prstGeom prst="rect">
            <a:avLst/>
          </a:prstGeom>
          <a:noFill/>
        </p:spPr>
        <p:txBody>
          <a:bodyPr wrap="square" anchor="t" lIns="0" rIns="0" tIns="0" bIns="0">
            <a:spAutoFit/>
          </a:bodyPr>
          <a:lstStyle/>
          <a:p>
            <a:pPr algn="l">
              <a:spcAft>
                <a:spcPts val="400"/>
              </a:spcAft>
            </a:pPr>
            <a:r>
              <a:rPr sz="1200" b="0" i="0">
                <a:solidFill>
                  <a:srgbClr val="FFFFFF"/>
                </a:solidFill>
              </a:rPr>
              <a:t>github.com/rahulrawat20022002/case_study2</a:t>
            </a:r>
          </a:p>
        </p:txBody>
      </p:sp>
    </p:spTree>
  </p:cSld>
  <p:clrMapOvr>
    <a:masterClrMapping/>
  </p:clrMapOvr>
</p:sld>
</file>

<file path=ppt/theme/theme1.xml><?xml version="1.0" encoding="utf-8"?>
<a:theme xmlns:a="http://schemas.openxmlformats.org/drawingml/2006/main" name="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33C054C8DA11F43B02CF1EC776FFAE3" ma:contentTypeVersion="2" ma:contentTypeDescription="Create a new document." ma:contentTypeScope="" ma:versionID="7a862a8188323a205a07e3503c6d0dc2">
  <xsd:schema xmlns:xsd="http://www.w3.org/2001/XMLSchema" xmlns:xs="http://www.w3.org/2001/XMLSchema" xmlns:p="http://schemas.microsoft.com/office/2006/metadata/properties" xmlns:ns2="5380ca77-ba03-4814-ba4f-2b8d3e44ca01" targetNamespace="http://schemas.microsoft.com/office/2006/metadata/properties" ma:root="true" ma:fieldsID="85684b047219332adb99588f30d95774" ns2:_="">
    <xsd:import namespace="5380ca77-ba03-4814-ba4f-2b8d3e44ca01"/>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380ca77-ba03-4814-ba4f-2b8d3e44ca0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6382F6F-1B5A-4B4A-AD6C-9EE81B138641}">
  <ds:schemaRefs/>
</ds:datastoreItem>
</file>

<file path=customXml/itemProps2.xml><?xml version="1.0" encoding="utf-8"?>
<ds:datastoreItem xmlns:ds="http://schemas.openxmlformats.org/officeDocument/2006/customXml" ds:itemID="{7CAAC9F2-EE4B-45FD-BCDE-91AA82334966}">
  <ds:schemaRefs/>
</ds:datastoreItem>
</file>

<file path=customXml/itemProps3.xml><?xml version="1.0" encoding="utf-8"?>
<ds:datastoreItem xmlns:ds="http://schemas.openxmlformats.org/officeDocument/2006/customXml" ds:itemID="{778990AA-0848-43A4-81EB-1FF437CC311F}">
  <ds:schemaRefs/>
</ds:datastoreItem>
</file>

<file path=docProps/app.xml><?xml version="1.0" encoding="utf-8"?>
<Properties xmlns="http://schemas.openxmlformats.org/officeDocument/2006/extended-properties" xmlns:vt="http://schemas.openxmlformats.org/officeDocument/2006/docPropsVTypes">
  <TotalTime>12</TotalTime>
  <Words>614</Words>
  <Application>Microsoft Macintosh PowerPoint</Application>
  <PresentationFormat>Widescreen</PresentationFormat>
  <Paragraphs>86</Paragraphs>
  <Slides>21</Slides>
  <Notes>2</Notes>
  <HiddenSlides>0</HiddenSlides>
  <MMClips>0</MMClips>
  <ScaleCrop>false</ScaleCrop>
  <HeadingPairs>
    <vt:vector size="6" baseType="variant">
      <vt:variant>
        <vt:lpstr>Fonts Used</vt:lpstr>
      </vt:variant>
      <vt:variant>
        <vt:i4>5</vt:i4>
      </vt:variant>
      <vt:variant>
        <vt:lpstr>Theme</vt:lpstr>
      </vt:variant>
      <vt:variant>
        <vt:i4>7</vt:i4>
      </vt:variant>
      <vt:variant>
        <vt:lpstr>Slide Titles</vt:lpstr>
      </vt:variant>
      <vt:variant>
        <vt:i4>21</vt:i4>
      </vt:variant>
    </vt:vector>
  </HeadingPairs>
  <TitlesOfParts>
    <vt:vector size="33" baseType="lpstr">
      <vt:lpstr>SRH Headline</vt:lpstr>
      <vt:lpstr>SRH Text</vt:lpstr>
      <vt:lpstr>Calibri</vt:lpstr>
      <vt:lpstr>Arial</vt:lpstr>
      <vt:lpstr>SRH</vt:lpstr>
      <vt:lpstr>SRH</vt:lpstr>
      <vt:lpstr>1_SRH</vt:lpstr>
      <vt:lpstr>2_SRH</vt:lpstr>
      <vt:lpstr>3_SRH</vt:lpstr>
      <vt:lpstr>4_SRH</vt:lpstr>
      <vt:lpstr>5_SRH</vt:lpstr>
      <vt:lpstr>SRH</vt:lpstr>
      <vt:lpstr>PowerPoint Presentation</vt:lpstr>
      <vt:lpstr>PowerPoint Presentation</vt:lpstr>
      <vt:lpstr>Brief Overview</vt:lpstr>
      <vt:lpstr>PowerPoint Presentation</vt:lpstr>
      <vt:lpstr>Why Pose Classification for Yoga?</vt:lpstr>
      <vt:lpstr>PowerPoint Presentation</vt:lpstr>
      <vt:lpstr>Technology Stack</vt:lpstr>
      <vt:lpstr>PowerPoint Presentation</vt:lpstr>
      <vt:lpstr> Data Collection and Labeling</vt:lpstr>
      <vt:lpstr>PowerPoint Presentation</vt:lpstr>
      <vt:lpstr>PowerPoint Presentation</vt:lpstr>
      <vt:lpstr>Model Training (Training the Pose Classifier)</vt:lpstr>
      <vt:lpstr>PowerPoint Presentation</vt:lpstr>
      <vt:lpstr>Real-Time Yoga Pose Classification in Action</vt:lpstr>
      <vt:lpstr>Real-Time Yoga Pose Reggression in Action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Henrike Voelker</dc:creator>
  <cp:lastModifiedBy>Rawat, Rahul (Stud SRH-University)</cp:lastModifiedBy>
  <cp:revision>366</cp:revision>
  <dcterms:created xsi:type="dcterms:W3CDTF">2020-06-05T16:20:00Z</dcterms:created>
  <dcterms:modified xsi:type="dcterms:W3CDTF">2026-09-29T00:27:14Z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0x010100333C054C8DA11F43B02CF1EC776FFAE3</vt:lpwstr>
  </property>
  <property fmtid="{D5CDD505-2E9C-101B-9397-08002B2CF9AE}" pid="3" name="ICV">
    <vt:lpwstr>B58A8B18B9A443019F592B4D8E702B9F_12</vt:lpwstr>
  </property>
  <property fmtid="{D5CDD505-2E9C-101B-9397-08002B2CF9AE}" pid="4" name="KSOProductBuildVer">
    <vt:lpwstr>2057-12.2.0.21936</vt:lpwstr>
  </property>
</Properties>
</file>