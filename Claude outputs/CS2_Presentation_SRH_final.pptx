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media/image1.svg" ContentType="image/svg+xml"/>
  <Override PartName="/ppt/media/image2.svg" ContentType="image/svg+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 id="2147483672" r:id="rId5"/>
    <p:sldMasterId id="2147483696" r:id="rId6"/>
    <p:sldMasterId id="2147483720" r:id="rId7"/>
    <p:sldMasterId id="2147483744" r:id="rId8"/>
    <p:sldMasterId id="2147483768" r:id="rId9"/>
    <p:sldMasterId id="2147483792" r:id="rId10"/>
  </p:sldMasterIdLst>
  <p:notesMasterIdLst>
    <p:notesMasterId r:id="rId32"/>
  </p:notesMasterIdLst>
  <p:sldIdLst>
    <p:sldId id="307" r:id="rId11"/>
    <p:sldId id="477" r:id="rId44"/>
    <p:sldId id="478" r:id="rId45"/>
    <p:sldId id="479" r:id="rId46"/>
    <p:sldId id="480" r:id="rId47"/>
    <p:sldId id="481" r:id="rId48"/>
    <p:sldId id="482" r:id="rId49"/>
    <p:sldId id="483" r:id="rId50"/>
    <p:sldId id="484" r:id="rId51"/>
    <p:sldId id="485" r:id="rId52"/>
    <p:sldId id="486" r:id="rId53"/>
    <p:sldId id="487" r:id="rId54"/>
    <p:sldId id="488" r:id="rId55"/>
    <p:sldId id="489" r:id="rId56"/>
    <p:sldId id="490" r:id="rId57"/>
    <p:sldId id="491" r:id="rId58"/>
    <p:sldId id="492" r:id="rId59"/>
    <p:sldId id="493" r:id="rId60"/>
    <p:sldId id="494" r:id="rId61"/>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1" userDrawn="1">
          <p15:clr>
            <a:srgbClr val="A4A3A4"/>
          </p15:clr>
        </p15:guide>
        <p15:guide id="2" pos="3818" userDrawn="1">
          <p15:clr>
            <a:srgbClr val="A4A3A4"/>
          </p15:clr>
        </p15:guide>
        <p15:guide id="3" orient="horz" pos="3807" userDrawn="1">
          <p15:clr>
            <a:srgbClr val="A4A3A4"/>
          </p15:clr>
        </p15:guide>
        <p15:guide id="4" orient="horz" pos="1088" userDrawn="1">
          <p15:clr>
            <a:srgbClr val="A4A3A4"/>
          </p15:clr>
        </p15:guide>
        <p15:guide id="5" pos="7450" userDrawn="1">
          <p15:clr>
            <a:srgbClr val="A4A3A4"/>
          </p15:clr>
        </p15:guide>
        <p15:guide id="6" pos="5162" userDrawn="1">
          <p15:clr>
            <a:srgbClr val="A4A3A4"/>
          </p15:clr>
        </p15:guide>
        <p15:guide id="7" pos="5995" userDrawn="1">
          <p15:clr>
            <a:srgbClr val="A4A3A4"/>
          </p15:clr>
        </p15:guide>
        <p15:guide id="8" pos="5010" userDrawn="1">
          <p15:clr>
            <a:srgbClr val="A4A3A4"/>
          </p15:clr>
        </p15:guide>
      </p15:sldGuideLst>
    </p:ext>
    <p:ext uri="{2D200454-40CA-4A62-9FC3-DE9A4176ACB9}">
      <p15:notesGuideLst xmlns:p15="http://schemas.microsoft.com/office/powerpoint/2012/main">
        <p15:guide id="1" orient="horz" pos="2908">
          <p15:clr>
            <a:srgbClr val="A4A3A4"/>
          </p15:clr>
        </p15:guide>
        <p15:guide id="2" pos="214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1E30"/>
    <a:srgbClr val="DF4807"/>
    <a:srgbClr val="2C2E2E"/>
    <a:srgbClr val="000000"/>
    <a:srgbClr val="B92659"/>
    <a:srgbClr val="6D7373"/>
    <a:srgbClr val="0067A0"/>
    <a:srgbClr val="AAA39D"/>
    <a:srgbClr val="66FF33"/>
    <a:srgbClr val="142D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01" autoAdjust="0"/>
    <p:restoredTop sz="81139" autoAdjust="0"/>
  </p:normalViewPr>
  <p:slideViewPr>
    <p:cSldViewPr snapToGrid="0" showGuides="1">
      <p:cViewPr>
        <p:scale>
          <a:sx n="123" d="100"/>
          <a:sy n="123" d="100"/>
        </p:scale>
        <p:origin x="112" y="144"/>
      </p:cViewPr>
      <p:guideLst>
        <p:guide orient="horz" pos="2181"/>
        <p:guide pos="3818"/>
        <p:guide orient="horz" pos="3807"/>
        <p:guide orient="horz" pos="1088"/>
        <p:guide pos="7450"/>
        <p:guide pos="5162"/>
        <p:guide pos="5995"/>
        <p:guide pos="501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45" d="100"/>
          <a:sy n="45" d="100"/>
        </p:scale>
        <p:origin x="-2792" y="-72"/>
      </p:cViewPr>
      <p:guideLst>
        <p:guide orient="horz" pos="2908"/>
        <p:guide pos="2148"/>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9" Type="http://schemas.openxmlformats.org/officeDocument/2006/relationships/slideMaster" Target="slideMasters/slideMaster6.xml"/><Relationship Id="rId10" Type="http://schemas.openxmlformats.org/officeDocument/2006/relationships/slideMaster" Target="slideMasters/slideMaster7.xml"/><Relationship Id="rId11" Type="http://schemas.openxmlformats.org/officeDocument/2006/relationships/slide" Target="slides/slide1.xml"/><Relationship Id="rId32"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44" Type="http://schemas.openxmlformats.org/officeDocument/2006/relationships/slide" Target="slides/slide2.xml"/><Relationship Id="rId45" Type="http://schemas.openxmlformats.org/officeDocument/2006/relationships/slide" Target="slides/slide3.xml"/><Relationship Id="rId46" Type="http://schemas.openxmlformats.org/officeDocument/2006/relationships/slide" Target="slides/slide4.xml"/><Relationship Id="rId47" Type="http://schemas.openxmlformats.org/officeDocument/2006/relationships/slide" Target="slides/slide5.xml"/><Relationship Id="rId48" Type="http://schemas.openxmlformats.org/officeDocument/2006/relationships/slide" Target="slides/slide6.xml"/><Relationship Id="rId49" Type="http://schemas.openxmlformats.org/officeDocument/2006/relationships/slide" Target="slides/slide7.xml"/><Relationship Id="rId50" Type="http://schemas.openxmlformats.org/officeDocument/2006/relationships/slide" Target="slides/slide8.xml"/><Relationship Id="rId51" Type="http://schemas.openxmlformats.org/officeDocument/2006/relationships/slide" Target="slides/slide9.xml"/><Relationship Id="rId52" Type="http://schemas.openxmlformats.org/officeDocument/2006/relationships/slide" Target="slides/slide10.xml"/><Relationship Id="rId53" Type="http://schemas.openxmlformats.org/officeDocument/2006/relationships/slide" Target="slides/slide11.xml"/><Relationship Id="rId54" Type="http://schemas.openxmlformats.org/officeDocument/2006/relationships/slide" Target="slides/slide12.xml"/><Relationship Id="rId55" Type="http://schemas.openxmlformats.org/officeDocument/2006/relationships/slide" Target="slides/slide13.xml"/><Relationship Id="rId56" Type="http://schemas.openxmlformats.org/officeDocument/2006/relationships/slide" Target="slides/slide14.xml"/><Relationship Id="rId57" Type="http://schemas.openxmlformats.org/officeDocument/2006/relationships/slide" Target="slides/slide15.xml"/><Relationship Id="rId58" Type="http://schemas.openxmlformats.org/officeDocument/2006/relationships/slide" Target="slides/slide16.xml"/><Relationship Id="rId59" Type="http://schemas.openxmlformats.org/officeDocument/2006/relationships/slide" Target="slides/slide17.xml"/><Relationship Id="rId60" Type="http://schemas.openxmlformats.org/officeDocument/2006/relationships/slide" Target="slides/slide18.xml"/><Relationship Id="rId61"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stacked"/>
        <c:ser>
          <c:idx val="0"/>
          <c:order val="0"/>
          <c:tx>
            <c:strRef>
              <c:f>Sheet1!$B$1</c:f>
              <c:strCache>
                <c:ptCount val="1"/>
                <c:pt idx="0">
                  <c:v>High-risk</c:v>
                </c:pt>
              </c:strCache>
            </c:strRef>
          </c:tx>
          <c:spPr>
            <a:solidFill>
              <a:srgbClr val="DF4807"/>
            </a:solidFill>
          </c:spPr>
          <c:cat>
            <c:strRef>
              <c:f>Sheet1!$A$2:$A$9</c:f>
              <c:strCache>
                <c:ptCount val="8"/>
                <c:pt idx="0">
                  <c:v>Biometrics</c:v>
                </c:pt>
                <c:pt idx="1">
                  <c:v>Critical infra.</c:v>
                </c:pt>
                <c:pt idx="2">
                  <c:v>Education</c:v>
                </c:pt>
                <c:pt idx="3">
                  <c:v>Employment</c:v>
                </c:pt>
                <c:pt idx="4">
                  <c:v>Essential services</c:v>
                </c:pt>
                <c:pt idx="5">
                  <c:v>Law enforcement</c:v>
                </c:pt>
                <c:pt idx="6">
                  <c:v>Migration</c:v>
                </c:pt>
                <c:pt idx="7">
                  <c:v>Justice &amp; democracy</c:v>
                </c:pt>
              </c:strCache>
            </c:strRef>
          </c:cat>
          <c:val>
            <c:numRef>
              <c:f>Sheet1!$B$2:$B$9</c:f>
              <c:numCache>
                <c:formatCode>General</c:formatCode>
                <c:ptCount val="8"/>
                <c:pt idx="0">
                  <c:v>14</c:v>
                </c:pt>
                <c:pt idx="1">
                  <c:v>8</c:v>
                </c:pt>
                <c:pt idx="2">
                  <c:v>9</c:v>
                </c:pt>
                <c:pt idx="3">
                  <c:v>14</c:v>
                </c:pt>
                <c:pt idx="4">
                  <c:v>21</c:v>
                </c:pt>
                <c:pt idx="5">
                  <c:v>0</c:v>
                </c:pt>
                <c:pt idx="6">
                  <c:v>0</c:v>
                </c:pt>
                <c:pt idx="7">
                  <c:v>0</c:v>
                </c:pt>
              </c:numCache>
            </c:numRef>
          </c:val>
        </c:ser>
        <c:ser>
          <c:idx val="1"/>
          <c:order val="1"/>
          <c:tx>
            <c:strRef>
              <c:f>Sheet1!$C$1</c:f>
              <c:strCache>
                <c:ptCount val="1"/>
                <c:pt idx="0">
                  <c:v>Not high-risk</c:v>
                </c:pt>
              </c:strCache>
            </c:strRef>
          </c:tx>
          <c:spPr>
            <a:solidFill>
              <a:srgbClr val="AAA39D"/>
            </a:solidFill>
          </c:spPr>
          <c:cat>
            <c:strRef>
              <c:f>Sheet1!$A$2:$A$9</c:f>
              <c:strCache>
                <c:ptCount val="8"/>
                <c:pt idx="0">
                  <c:v>Biometrics</c:v>
                </c:pt>
                <c:pt idx="1">
                  <c:v>Critical infra.</c:v>
                </c:pt>
                <c:pt idx="2">
                  <c:v>Education</c:v>
                </c:pt>
                <c:pt idx="3">
                  <c:v>Employment</c:v>
                </c:pt>
                <c:pt idx="4">
                  <c:v>Essential services</c:v>
                </c:pt>
                <c:pt idx="5">
                  <c:v>Law enforcement</c:v>
                </c:pt>
                <c:pt idx="6">
                  <c:v>Migration</c:v>
                </c:pt>
                <c:pt idx="7">
                  <c:v>Justice &amp; democracy</c:v>
                </c:pt>
              </c:strCache>
            </c:strRef>
          </c:cat>
          <c:val>
            <c:numRef>
              <c:f>Sheet1!$C$2:$C$9</c:f>
              <c:numCache>
                <c:formatCode>General</c:formatCode>
                <c:ptCount val="8"/>
                <c:pt idx="0">
                  <c:v>18</c:v>
                </c:pt>
                <c:pt idx="1">
                  <c:v>10</c:v>
                </c:pt>
                <c:pt idx="2">
                  <c:v>19</c:v>
                </c:pt>
                <c:pt idx="3">
                  <c:v>18</c:v>
                </c:pt>
                <c:pt idx="4">
                  <c:v>22</c:v>
                </c:pt>
                <c:pt idx="5">
                  <c:v>23</c:v>
                </c:pt>
                <c:pt idx="6">
                  <c:v>23</c:v>
                </c:pt>
                <c:pt idx="7">
                  <c:v>16</c:v>
                </c:pt>
              </c:numCache>
            </c:numRef>
          </c:val>
        </c:ser>
        <c:dLbls>
          <c:numFmt formatCode="0;;;" sourceLinked="0"/>
          <c:txPr>
            <a:bodyPr/>
            <a:lstStyle/>
            <a:p>
              <a:pPr>
                <a:defRPr sz="1000">
                  <a:solidFill>
                    <a:srgbClr val="FFFFFF"/>
                  </a:solidFill>
                </a:defRPr>
              </a:pPr>
            </a:p>
          </c:txPr>
          <c:dLblPos val="ctr"/>
          <c:showLegendKey val="0"/>
          <c:showVal val="1"/>
          <c:showCatName val="0"/>
          <c:showSerName val="0"/>
          <c:showPercent val="0"/>
          <c:showBubbleSize val="0"/>
          <c:showLeaderLines val="1"/>
        </c:dLbls>
        <c:gapWidth val="60"/>
        <c:overlap val="100"/>
        <c:axId val="-2068027336"/>
        <c:axId val="-2113994440"/>
      </c:barChart>
      <c:catAx>
        <c:axId val="-2068027336"/>
        <c:scaling>
          <c:orientation val="maxMin"/>
        </c:scaling>
        <c:delete val="0"/>
        <c:axPos val="l"/>
        <c:majorTickMark val="out"/>
        <c:minorTickMark val="none"/>
        <c:tickLblPos val="nextTo"/>
        <c:spPr>
          <a:ln>
            <a:solidFill>
              <a:srgbClr val="AAA39D"/>
            </a:solidFill>
          </a:ln>
        </c:spPr>
        <c:txPr>
          <a:bodyPr/>
          <a:lstStyle/>
          <a:p>
            <a:pPr>
              <a:defRPr sz="1100"/>
            </a:pPr>
          </a:p>
        </c:txPr>
        <c:crossAx val="-2113994440"/>
        <c:crosses val="autoZero"/>
        <c:auto val="1"/>
        <c:lblAlgn val="ctr"/>
        <c:lblOffset val="100"/>
        <c:noMultiLvlLbl val="0"/>
      </c:catAx>
      <c:valAx>
        <c:axId val="-2113994440"/>
        <c:scaling/>
        <c:delete val="0"/>
        <c:axPos val="b"/>
        <c:majorGridlines>
          <c:spPr>
            <a:ln>
              <a:solidFill>
                <a:srgbClr val="E4E1DE"/>
              </a:solidFill>
            </a:ln>
          </c:spPr>
        </c:majorGridlines>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100"/>
          </a:pPr>
        </a:p>
      </c:txPr>
    </c:legend>
    <c:dispBlanksAs val="gap"/>
  </c:chart>
  <c:txPr>
    <a:bodyPr/>
    <a:lstStyle/>
    <a:p>
      <a:pPr>
        <a:defRPr sz="1100">
          <a:solidFill>
            <a:srgbClr val="575756"/>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129 inputs stating the verdict</c:v>
                </c:pt>
              </c:strCache>
            </c:strRef>
          </c:tx>
          <c:spPr>
            <a:solidFill>
              <a:srgbClr val="DF4807"/>
            </a:solidFill>
          </c:spPr>
          <c:cat>
            <c:strRef>
              <c:f>Sheet1!$A$2:$A$4</c:f>
              <c:strCache>
                <c:ptCount val="3"/>
                <c:pt idx="0">
                  <c:v>Plain LLM</c:v>
                </c:pt>
                <c:pt idx="1">
                  <c:v>Standard RAG</c:v>
                </c:pt>
                <c:pt idx="2">
                  <c:v>Agent</c:v>
                </c:pt>
              </c:strCache>
            </c:strRef>
          </c:cat>
          <c:val>
            <c:numRef>
              <c:f>Sheet1!$B$2:$B$4</c:f>
              <c:numCache>
                <c:formatCode>General</c:formatCode>
                <c:ptCount val="3"/>
                <c:pt idx="0">
                  <c:v>0.938</c:v>
                </c:pt>
                <c:pt idx="1">
                  <c:v>0.922</c:v>
                </c:pt>
                <c:pt idx="2">
                  <c:v>0.961</c:v>
                </c:pt>
              </c:numCache>
            </c:numRef>
          </c:val>
        </c:ser>
        <c:ser>
          <c:idx val="1"/>
          <c:order val="1"/>
          <c:tx>
            <c:strRef>
              <c:f>Sheet1!$C$1</c:f>
              <c:strCache>
                <c:ptCount val="1"/>
                <c:pt idx="0">
                  <c:v>86 clean inputs</c:v>
                </c:pt>
              </c:strCache>
            </c:strRef>
          </c:tx>
          <c:spPr>
            <a:solidFill>
              <a:srgbClr val="AAA39D"/>
            </a:solidFill>
          </c:spPr>
          <c:cat>
            <c:strRef>
              <c:f>Sheet1!$A$2:$A$4</c:f>
              <c:strCache>
                <c:ptCount val="3"/>
                <c:pt idx="0">
                  <c:v>Plain LLM</c:v>
                </c:pt>
                <c:pt idx="1">
                  <c:v>Standard RAG</c:v>
                </c:pt>
                <c:pt idx="2">
                  <c:v>Agent</c:v>
                </c:pt>
              </c:strCache>
            </c:strRef>
          </c:cat>
          <c:val>
            <c:numRef>
              <c:f>Sheet1!$C$2:$C$4</c:f>
              <c:numCache>
                <c:formatCode>General</c:formatCode>
                <c:ptCount val="3"/>
                <c:pt idx="0">
                  <c:v>0.674</c:v>
                </c:pt>
                <c:pt idx="1">
                  <c:v>0.953</c:v>
                </c:pt>
                <c:pt idx="2">
                  <c:v>0.953</c:v>
                </c:pt>
              </c:numCache>
            </c:numRef>
          </c:val>
        </c:ser>
        <c:dLbls>
          <c:numFmt formatCode="0.000" sourceLinked="0"/>
          <c:txPr>
            <a:bodyPr/>
            <a:lstStyle/>
            <a:p>
              <a:pPr>
                <a:defRPr sz="1000">
                  <a:solidFill>
                    <a:srgbClr val="575756"/>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AAA39D"/>
            </a:solidFill>
          </a:ln>
        </c:spPr>
        <c:txPr>
          <a:bodyPr/>
          <a:lstStyle/>
          <a:p>
            <a:pPr>
              <a:defRPr sz="1100"/>
            </a:pPr>
          </a:p>
        </c:txPr>
        <c:crossAx val="-2113994440"/>
        <c:crosses val="autoZero"/>
        <c:auto val="1"/>
        <c:lblAlgn val="ctr"/>
        <c:lblOffset val="100"/>
        <c:noMultiLvlLbl val="0"/>
      </c:catAx>
      <c:valAx>
        <c:axId val="-2113994440"/>
        <c:scaling>
          <c:max val="1.1"/>
          <c:min val="0.0"/>
        </c:scaling>
        <c:delete val="0"/>
        <c:axPos val="l"/>
        <c:majorGridlines>
          <c:spPr>
            <a:ln>
              <a:solidFill>
                <a:srgbClr val="E4E1DE"/>
              </a:solidFill>
            </a:ln>
          </c:spPr>
        </c:majorGridlines>
        <c:numFmt formatCode="0.0" sourceLinked="0"/>
        <c:majorTickMark val="out"/>
        <c:minorTickMark val="none"/>
        <c:tickLblPos val="nextTo"/>
        <c:spPr>
          <a:ln>
            <a:noFill/>
          </a:ln>
        </c:spPr>
        <c:txPr>
          <a:bodyPr/>
          <a:lstStyle/>
          <a:p>
            <a:pPr>
              <a:defRPr sz="1000"/>
            </a:pPr>
          </a:p>
        </c:txPr>
        <c:crossAx val="-2068027336"/>
        <c:crosses val="autoZero"/>
        <c:majorUnit val="0.2"/>
      </c:valAx>
    </c:plotArea>
    <c:legend>
      <c:legendPos val="b"/>
      <c:overlay val="0"/>
      <c:txPr>
        <a:bodyPr/>
        <a:lstStyle/>
        <a:p>
          <a:pPr>
            <a:defRPr sz="1100"/>
          </a:pPr>
        </a:p>
      </c:txPr>
    </c:legend>
    <c:dispBlanksAs val="gap"/>
  </c:chart>
  <c:txPr>
    <a:bodyPr/>
    <a:lstStyle/>
    <a:p>
      <a:pPr>
        <a:defRPr sz="1100">
          <a:solidFill>
            <a:srgbClr val="575756"/>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Original inputs</c:v>
                </c:pt>
              </c:strCache>
            </c:strRef>
          </c:tx>
          <c:spPr>
            <a:solidFill>
              <a:srgbClr val="AAA39D"/>
            </a:solidFill>
          </c:spPr>
          <c:cat>
            <c:strRef>
              <c:f>Sheet1!$A$2:$A$4</c:f>
              <c:strCache>
                <c:ptCount val="3"/>
                <c:pt idx="0">
                  <c:v>Plain LLM</c:v>
                </c:pt>
                <c:pt idx="1">
                  <c:v>Standard RAG</c:v>
                </c:pt>
                <c:pt idx="2">
                  <c:v>Agent</c:v>
                </c:pt>
              </c:strCache>
            </c:strRef>
          </c:cat>
          <c:val>
            <c:numRef>
              <c:f>Sheet1!$B$2:$B$4</c:f>
              <c:numCache>
                <c:formatCode>General</c:formatCode>
                <c:ptCount val="3"/>
                <c:pt idx="0">
                  <c:v>0.833</c:v>
                </c:pt>
                <c:pt idx="1">
                  <c:v>0.935</c:v>
                </c:pt>
                <c:pt idx="2">
                  <c:v>0.958</c:v>
                </c:pt>
              </c:numCache>
            </c:numRef>
          </c:val>
        </c:ser>
        <c:ser>
          <c:idx val="1"/>
          <c:order val="1"/>
          <c:tx>
            <c:strRef>
              <c:f>Sheet1!$C$1</c:f>
              <c:strCache>
                <c:ptCount val="1"/>
                <c:pt idx="0">
                  <c:v>Redacted inputs</c:v>
                </c:pt>
              </c:strCache>
            </c:strRef>
          </c:tx>
          <c:spPr>
            <a:solidFill>
              <a:srgbClr val="DF4807"/>
            </a:solidFill>
          </c:spPr>
          <c:cat>
            <c:strRef>
              <c:f>Sheet1!$A$2:$A$4</c:f>
              <c:strCache>
                <c:ptCount val="3"/>
                <c:pt idx="0">
                  <c:v>Plain LLM</c:v>
                </c:pt>
                <c:pt idx="1">
                  <c:v>Standard RAG</c:v>
                </c:pt>
                <c:pt idx="2">
                  <c:v>Agent</c:v>
                </c:pt>
              </c:strCache>
            </c:strRef>
          </c:cat>
          <c:val>
            <c:numRef>
              <c:f>Sheet1!$C$2:$C$4</c:f>
              <c:numCache>
                <c:formatCode>General</c:formatCode>
                <c:ptCount val="3"/>
                <c:pt idx="0">
                  <c:v>0.688</c:v>
                </c:pt>
                <c:pt idx="1">
                  <c:v>0.879</c:v>
                </c:pt>
                <c:pt idx="2">
                  <c:v>0.856</c:v>
                </c:pt>
              </c:numCache>
            </c:numRef>
          </c:val>
        </c:ser>
        <c:dLbls>
          <c:numFmt formatCode="0.000" sourceLinked="0"/>
          <c:txPr>
            <a:bodyPr/>
            <a:lstStyle/>
            <a:p>
              <a:pPr>
                <a:defRPr sz="1000">
                  <a:solidFill>
                    <a:srgbClr val="575756"/>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AAA39D"/>
            </a:solidFill>
          </a:ln>
        </c:spPr>
        <c:txPr>
          <a:bodyPr/>
          <a:lstStyle/>
          <a:p>
            <a:pPr>
              <a:defRPr sz="1100"/>
            </a:pPr>
          </a:p>
        </c:txPr>
        <c:crossAx val="-2113994440"/>
        <c:crosses val="autoZero"/>
        <c:auto val="1"/>
        <c:lblAlgn val="ctr"/>
        <c:lblOffset val="100"/>
        <c:noMultiLvlLbl val="0"/>
      </c:catAx>
      <c:valAx>
        <c:axId val="-2113994440"/>
        <c:scaling>
          <c:max val="1.1"/>
          <c:min val="0.0"/>
        </c:scaling>
        <c:delete val="0"/>
        <c:axPos val="l"/>
        <c:majorGridlines>
          <c:spPr>
            <a:ln>
              <a:solidFill>
                <a:srgbClr val="E4E1DE"/>
              </a:solidFill>
            </a:ln>
          </c:spPr>
        </c:majorGridlines>
        <c:numFmt formatCode="0.0" sourceLinked="0"/>
        <c:majorTickMark val="out"/>
        <c:minorTickMark val="none"/>
        <c:tickLblPos val="nextTo"/>
        <c:spPr>
          <a:ln>
            <a:noFill/>
          </a:ln>
        </c:spPr>
        <c:txPr>
          <a:bodyPr/>
          <a:lstStyle/>
          <a:p>
            <a:pPr>
              <a:defRPr sz="1000"/>
            </a:pPr>
          </a:p>
        </c:txPr>
        <c:crossAx val="-2068027336"/>
        <c:crosses val="autoZero"/>
        <c:majorUnit val="0.2"/>
      </c:valAx>
    </c:plotArea>
    <c:legend>
      <c:legendPos val="b"/>
      <c:overlay val="0"/>
      <c:txPr>
        <a:bodyPr/>
        <a:lstStyle/>
        <a:p>
          <a:pPr>
            <a:defRPr sz="1100"/>
          </a:pPr>
        </a:p>
      </c:txPr>
    </c:legend>
    <c:dispBlanksAs val="gap"/>
  </c:chart>
  <c:txPr>
    <a:bodyPr/>
    <a:lstStyle/>
    <a:p>
      <a:pPr>
        <a:defRPr sz="1100">
          <a:solidFill>
            <a:srgbClr val="575756"/>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Standard RAG</c:v>
                </c:pt>
              </c:strCache>
            </c:strRef>
          </c:tx>
          <c:spPr>
            <a:ln w="31750">
              <a:solidFill>
                <a:srgbClr val="AAA39D"/>
              </a:solidFill>
            </a:ln>
          </c:spPr>
          <c:marker>
            <c:spPr>
              <a:solidFill>
                <a:srgbClr val="AAA39D"/>
              </a:solidFill>
              <a:ln>
                <a:solidFill>
                  <a:srgbClr val="AAA39D"/>
                </a:solidFill>
              </a:ln>
            </c:spPr>
          </c:marker>
          <c:cat>
            <c:strRef>
              <c:f>Sheet1!$A$2:$A$5</c:f>
              <c:strCache>
                <c:ptCount val="4"/>
                <c:pt idx="0">
                  <c:v>0.3</c:v>
                </c:pt>
                <c:pt idx="1">
                  <c:v>0.5</c:v>
                </c:pt>
                <c:pt idx="2">
                  <c:v>0.7</c:v>
                </c:pt>
                <c:pt idx="3">
                  <c:v>0.9</c:v>
                </c:pt>
              </c:strCache>
            </c:strRef>
          </c:cat>
          <c:val>
            <c:numRef>
              <c:f>Sheet1!$B$2:$B$5</c:f>
              <c:numCache>
                <c:formatCode>General</c:formatCode>
                <c:ptCount val="4"/>
                <c:pt idx="0">
                  <c:v>0.808</c:v>
                </c:pt>
                <c:pt idx="1">
                  <c:v>0.538</c:v>
                </c:pt>
                <c:pt idx="2">
                  <c:v>0.038</c:v>
                </c:pt>
                <c:pt idx="3">
                  <c:v>0.0</c:v>
                </c:pt>
              </c:numCache>
            </c:numRef>
          </c:val>
          <c:smooth val="0"/>
        </c:ser>
        <c:ser>
          <c:idx val="1"/>
          <c:order val="1"/>
          <c:tx>
            <c:strRef>
              <c:f>Sheet1!$C$1</c:f>
              <c:strCache>
                <c:ptCount val="1"/>
                <c:pt idx="0">
                  <c:v>Agent</c:v>
                </c:pt>
              </c:strCache>
            </c:strRef>
          </c:tx>
          <c:spPr>
            <a:ln w="31750">
              <a:solidFill>
                <a:srgbClr val="DF4807"/>
              </a:solidFill>
            </a:ln>
          </c:spPr>
          <c:marker>
            <c:spPr>
              <a:solidFill>
                <a:srgbClr val="DF4807"/>
              </a:solidFill>
              <a:ln>
                <a:solidFill>
                  <a:srgbClr val="DF4807"/>
                </a:solidFill>
              </a:ln>
            </c:spPr>
          </c:marker>
          <c:dLbls>
            <c:numFmt formatCode="0%" sourceLinked="0"/>
            <c:txPr>
              <a:bodyPr/>
              <a:lstStyle/>
              <a:p>
                <a:pPr>
                  <a:defRPr sz="1100" b="1">
                    <a:solidFill>
                      <a:srgbClr val="DF4807"/>
                    </a:solidFill>
                  </a:defRPr>
                </a:pPr>
              </a:p>
            </c:txPr>
            <c:dLblPos val="t"/>
            <c:showLegendKey val="0"/>
            <c:showVal val="1"/>
            <c:showCatName val="0"/>
            <c:showSerName val="0"/>
            <c:showPercent val="0"/>
            <c:showBubbleSize val="0"/>
            <c:showLeaderLines val="1"/>
          </c:dLbls>
          <c:cat>
            <c:strRef>
              <c:f>Sheet1!$A$2:$A$5</c:f>
              <c:strCache>
                <c:ptCount val="4"/>
                <c:pt idx="0">
                  <c:v>0.3</c:v>
                </c:pt>
                <c:pt idx="1">
                  <c:v>0.5</c:v>
                </c:pt>
                <c:pt idx="2">
                  <c:v>0.7</c:v>
                </c:pt>
                <c:pt idx="3">
                  <c:v>0.9</c:v>
                </c:pt>
              </c:strCache>
            </c:strRef>
          </c:cat>
          <c:val>
            <c:numRef>
              <c:f>Sheet1!$C$2:$C$5</c:f>
              <c:numCache>
                <c:formatCode>General</c:formatCode>
                <c:ptCount val="4"/>
                <c:pt idx="0">
                  <c:v>0.71</c:v>
                </c:pt>
                <c:pt idx="1">
                  <c:v>0.548</c:v>
                </c:pt>
                <c:pt idx="2">
                  <c:v>0.226</c:v>
                </c:pt>
                <c:pt idx="3">
                  <c:v>0.032</c:v>
                </c:pt>
              </c:numCache>
            </c:numRef>
          </c:val>
          <c:smooth val="0"/>
        </c:ser>
        <c:marker val="1"/>
        <c:smooth val="0"/>
        <c:axId val="2118791784"/>
        <c:axId val="2140495176"/>
      </c:lineChart>
      <c:catAx>
        <c:axId val="2118791784"/>
        <c:scaling>
          <c:orientation val="minMax"/>
        </c:scaling>
        <c:delete val="0"/>
        <c:axPos val="b"/>
        <c:title>
          <c:tx>
            <c:rich>
              <a:bodyPr/>
              <a:lstStyle/>
              <a:p>
                <a:r>
                  <a:rPr sz="1100" b="0"/>
                  <a:t>Faithful cut (score counted as faithful at or above)</a:t>
                </a:r>
              </a:p>
            </c:rich>
          </c:tx>
          <c:layout/>
          <c:overlay val="0"/>
        </c:title>
        <c:majorTickMark val="out"/>
        <c:minorTickMark val="none"/>
        <c:tickLblPos val="nextTo"/>
        <c:spPr>
          <a:ln>
            <a:solidFill>
              <a:srgbClr val="AAA39D"/>
            </a:solidFill>
          </a:ln>
        </c:spPr>
        <c:txPr>
          <a:bodyPr/>
          <a:lstStyle/>
          <a:p>
            <a:pPr>
              <a:defRPr sz="1100"/>
            </a:pPr>
          </a:p>
        </c:txPr>
        <c:crossAx val="2140495176"/>
        <c:crosses val="autoZero"/>
        <c:auto val="1"/>
        <c:lblAlgn val="ctr"/>
        <c:lblOffset val="100"/>
        <c:noMultiLvlLbl val="0"/>
      </c:catAx>
      <c:valAx>
        <c:axId val="2140495176"/>
        <c:scaling>
          <c:max val="1.0"/>
          <c:min val="0.0"/>
        </c:scaling>
        <c:delete val="0"/>
        <c:axPos val="l"/>
        <c:majorGridlines>
          <c:spPr>
            <a:ln>
              <a:solidFill>
                <a:srgbClr val="E4E1DE"/>
              </a:solidFill>
            </a:ln>
          </c:spPr>
        </c:majorGridlines>
        <c:numFmt formatCode="0%" sourceLinked="0"/>
        <c:majorTickMark val="out"/>
        <c:minorTickMark val="none"/>
        <c:tickLblPos val="nextTo"/>
        <c:spPr>
          <a:ln>
            <a:noFill/>
          </a:ln>
        </c:spPr>
        <c:txPr>
          <a:bodyPr/>
          <a:lstStyle/>
          <a:p>
            <a:pPr>
              <a:defRPr sz="1000"/>
            </a:pPr>
          </a:p>
        </c:txPr>
        <c:crossAx val="2118791784"/>
        <c:crosses val="autoZero"/>
        <c:majorUnit val="0.2"/>
      </c:valAx>
    </c:plotArea>
    <c:legend>
      <c:legendPos val="b"/>
      <c:layout/>
      <c:overlay val="0"/>
      <c:txPr>
        <a:bodyPr/>
        <a:lstStyle/>
        <a:p>
          <a:pPr>
            <a:defRPr sz="1100"/>
          </a:pPr>
        </a:p>
      </c:txPr>
    </c:legend>
    <c:plotVisOnly val="1"/>
    <c:dispBlanksAs val="gap"/>
    <c:showDLblsOverMax val="0"/>
  </c:chart>
  <c:txPr>
    <a:bodyPr/>
    <a:lstStyle/>
    <a:p>
      <a:pPr>
        <a:defRPr sz="1100">
          <a:solidFill>
            <a:srgbClr val="575756"/>
          </a:solidFil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Answers</c:v>
                </c:pt>
              </c:strCache>
            </c:strRef>
          </c:tx>
          <c:spPr>
            <a:solidFill>
              <a:srgbClr val="DF4807"/>
            </a:solidFill>
          </c:spPr>
          <c:cat>
            <c:strRef>
              <c:f>Sheet1!$A$2:$A$6</c:f>
              <c:strCache>
                <c:ptCount val="5"/>
                <c:pt idx="0">
                  <c:v>A. Sector taken as the use case</c:v>
                </c:pt>
                <c:pt idx="1">
                  <c:v>B. 6(3) exception not applied</c:v>
                </c:pt>
                <c:pt idx="2">
                  <c:v>C. Profiling rule misused</c:v>
                </c:pt>
                <c:pt idx="3">
                  <c:v>D. Condition misread / fact invented</c:v>
                </c:pt>
                <c:pt idx="4">
                  <c:v>E. Too cautious on short input</c:v>
                </c:pt>
              </c:strCache>
            </c:strRef>
          </c:cat>
          <c:val>
            <c:numRef>
              <c:f>Sheet1!$B$2:$B$6</c:f>
              <c:numCache>
                <c:formatCode>General</c:formatCode>
                <c:ptCount val="5"/>
                <c:pt idx="0">
                  <c:v>6</c:v>
                </c:pt>
                <c:pt idx="1">
                  <c:v>4</c:v>
                </c:pt>
                <c:pt idx="2">
                  <c:v>3</c:v>
                </c:pt>
                <c:pt idx="3">
                  <c:v>2</c:v>
                </c:pt>
                <c:pt idx="4">
                  <c:v>2</c:v>
                </c:pt>
              </c:numCache>
            </c:numRef>
          </c:val>
        </c:ser>
        <c:dLbls>
          <c:numFmt formatCode="0" sourceLinked="0"/>
          <c:txPr>
            <a:bodyPr/>
            <a:lstStyle/>
            <a:p>
              <a:pPr>
                <a:defRPr sz="1000">
                  <a:solidFill>
                    <a:srgbClr val="575756"/>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axMin"/>
        </c:scaling>
        <c:delete val="0"/>
        <c:axPos val="l"/>
        <c:majorTickMark val="out"/>
        <c:minorTickMark val="none"/>
        <c:tickLblPos val="nextTo"/>
        <c:spPr>
          <a:ln>
            <a:solidFill>
              <a:srgbClr val="AAA39D"/>
            </a:solidFill>
          </a:ln>
        </c:spPr>
        <c:txPr>
          <a:bodyPr/>
          <a:lstStyle/>
          <a:p>
            <a:pPr>
              <a:defRPr sz="1100"/>
            </a:pPr>
          </a:p>
        </c:txPr>
        <c:crossAx val="-2113994440"/>
        <c:crosses val="autoZero"/>
        <c:auto val="1"/>
        <c:lblAlgn val="ctr"/>
        <c:lblOffset val="100"/>
        <c:noMultiLvlLbl val="0"/>
      </c:catAx>
      <c:valAx>
        <c:axId val="-2113994440"/>
        <c:scaling>
          <c:max val="7.0"/>
          <c:min val="0.0"/>
        </c:scaling>
        <c:delete/>
        <c:axPos val="b"/>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100">
          <a:solidFill>
            <a:srgbClr val="575756"/>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7A3E2A-35AE-479C-B172-30C9CAEEE094}" type="datetimeFigureOut">
              <a:rPr lang="de-DE" smtClean="0"/>
              <a:t>29.09.26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191045-FCBB-4EC9-AB5F-AA4CFDEA61CB}" type="slidenum">
              <a:rPr lang="de-DE" smtClean="0"/>
              <a:t>‹#›</a:t>
            </a:fld>
            <a:endParaRPr lang="de-D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sec] Next, the data and how the evaluation is built.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sec] First, the motivation and the task.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a:t>
            </a:r>
          </a:p>
          <a:p>
            <a:r>
              <a:t>- My case study asks one simple question:</a:t>
            </a:r>
          </a:p>
          <a:p>
            <a:r>
              <a:t>- if a RAG system gives a legal answer that looks well grounded in its sources, does that tell us the answer is right?</a:t>
            </a:r>
          </a:p>
          <a:p>
            <a:r>
              <a:t>- I tested this on high-risk classification under the EU AI Act.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a:t>
            </a:r>
          </a:p>
          <a:p>
            <a:r>
              <a:t>- RAG tools are usually judged by faithfulness, for example with RAGAS.</a:t>
            </a:r>
          </a:p>
          <a:p>
            <a:r>
              <a:t>- Faithfulness = can the claims in the answer be traced back to the retrieved passages. No answer key needed, that is why everyone uses it.</a:t>
            </a:r>
          </a:p>
          <a:p>
            <a:r>
              <a:t>- Correctness = does the label match the official answer. Needs a ground truth, which legal tasks rarely have.</a:t>
            </a:r>
          </a:p>
          <a:p>
            <a:r>
              <a:t>- These are two separate axes, so we get four buckets.</a:t>
            </a:r>
          </a:p>
          <a:p>
            <a:r>
              <a:t>- The interesting ones are off the diagonal. Mainly FAITHFUL BUT WRONG: looks grounded, legal result is wrong. Also right but unfaithful.</a:t>
            </a:r>
          </a:p>
          <a:p>
            <a:r>
              <a:t>- I did not assume the tool fails. The study measures whether these buckets are actually filled, and it could have come out either way.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a:t>
            </a:r>
          </a:p>
          <a:p>
            <a:r>
              <a:t>- The task: Article 6 high-risk classification through Annex III.</a:t>
            </a:r>
          </a:p>
          <a:p>
            <a:r>
              <a:t>- Four steps: (1) what is the system for, (2) does it fall into one of the eight Annex III areas, (3) does the Article 6(3) filter take it out again, e.g. a narrow procedural task. Profiling always stays high-risk. (4) The label.</a:t>
            </a:r>
          </a:p>
          <a:p>
            <a:r>
              <a:t>- What makes this study possible: the Commission's draft guidelines of 19 May 2026 have worked examples, each with an official verdict. That is my answer key. I froze that version.</a:t>
            </a:r>
          </a:p>
          <a:p>
            <a:r>
              <a:t>- Article 6(1), the product safety route, is out of scope.</a:t>
            </a:r>
          </a:p>
          <a:p/>
          <a:p>
            <a:r>
              <a:t>If asked "why not 6(1)?": separate body of product law and no clean answer key.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a:t>
            </a:r>
          </a:p>
          <a:p>
            <a:r>
              <a:t>- From those worked examples I extracted 215 test inputs, each with one official label.</a:t>
            </a:r>
          </a:p>
          <a:p>
            <a:r>
              <a:t>- 66 high-risk, 149 not high-risk.</a:t>
            </a:r>
          </a:p>
          <a:p>
            <a:r>
              <a:t>- 41 are Article 6(3) filter cases, all not high-risk. These are the hardest.</a:t>
            </a:r>
          </a:p>
          <a:p>
            <a:r>
              <a:t>- The guidelines have no high-risk examples for law enforcement, migration and justice, so there we only test correct rejection.</a:t>
            </a:r>
          </a:p>
          <a:p>
            <a:r>
              <a:t>- The set is imbalanced, so I report precision, recall and F1 next to accuracy.</a:t>
            </a:r>
          </a:p>
          <a:p/>
          <a:p>
            <a:r>
              <a:t>If asked "why not balance it?": nothing is trained, it is only a test set. Balancing would mean dropping or duplicating official examples.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Walk the four points, point at the diagram.</a:t>
            </a:r>
          </a:p>
          <a:p>
            <a:r>
              <a:t>1. Source split: the worked examples are the test set. Only the rule text, 400 chunks, goes into retrieval. So the model can never retrieve the answer.</a:t>
            </a:r>
          </a:p>
          <a:p>
            <a:r>
              <a:t>2. Three systems, one generator, phi-4. Plain LLM with no retrieval. Standard RAG: top 5 passages and a generic prompt. The agent: same passages, prompt walks the legal test step by step. Only the prompt changes, so differences come from retrieval or the prompt.</a:t>
            </a:r>
          </a:p>
          <a:p>
            <a:r>
              <a:t>3. Two independent axes. A separate judge, Qwen 72B from a different model family, so the model does not grade its own homework, scores faithfulness. Correctness is just a lookup against the Commission label.</a:t>
            </a:r>
          </a:p>
          <a:p>
            <a:r>
              <a:t>4. Everything local and pinned. 645 generations, zero failures.</a:t>
            </a:r>
          </a:p>
          <a:p>
            <a:r>
              <a:t>- I first planned a paid API model. The local one can be pinned, rerun, costs nothing.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Be upfront here, it shows care.</a:t>
            </a:r>
          </a:p>
          <a:p>
            <a:r>
              <a:t>- The first run gave suspiciously high accuracy.</a:t>
            </a:r>
          </a:p>
          <a:p>
            <a:r>
              <a:t>- Reason: the extractor had kept the Commission's closing verdict inside 60% of inputs, e.g. "it therefore falls outside point 4(a)".</a:t>
            </a:r>
          </a:p>
          <a:p>
            <a:r>
              <a:t>- Plain model: 0.94 on those inputs, only 0.67 on clean ones. It was reading the answer.</a:t>
            </a:r>
          </a:p>
          <a:p>
            <a:r>
              <a:t>- The two retrieval systems were barely affected.</a:t>
            </a:r>
          </a:p>
          <a:p>
            <a:r>
              <a:t>- Fix: removed every legal conclusion, kept the facts. 46 rows reviewed by hand. Reran everything.</a:t>
            </a:r>
          </a:p>
          <a:p>
            <a:r>
              <a:t>- All results from here on are on the redacted inputs.</a:t>
            </a:r>
          </a:p>
          <a:p/>
          <a:p>
            <a:r>
              <a:t>If asked "is it fully clean now?": about 20 inputs still describe the legal test without stating the label. Listed as a limitation.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a:t>
            </a:r>
          </a:p>
          <a:p>
            <a:r>
              <a:t>- Result one: retrieval clearly helps.</a:t>
            </a:r>
          </a:p>
          <a:p>
            <a:r>
              <a:t>- Redacted inputs: plain model 0.688, standard RAG 0.879. That is 19 points, McNemar p &lt; 0.001.</a:t>
            </a:r>
          </a:p>
          <a:p>
            <a:r>
              <a:t>- Most of the gain is fewer false alarms: 60 false high-risk calls without retrieval, 17 with.</a:t>
            </a:r>
          </a:p>
          <a:p>
            <a:r>
              <a:t>- But the structured agent is NOT better than standard RAG: 0.856 vs 0.879, p = 0.30, no significant difference.</a:t>
            </a:r>
          </a:p>
          <a:p>
            <a:r>
              <a:t>- The leak had even flipped the ranking of these two.</a:t>
            </a:r>
          </a:p>
          <a:p/>
          <a:p>
            <a:r>
              <a:t>If asked about McNemar: it compares two systems only on the inputs where they disagree. Agent vs RAG disagreed on 15: 5 vs 10. A fair coin gives a split like that about 30% of the time, so it is not evidence either way.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OPTIONAL, skip if short on time.</a:t>
            </a:r>
          </a:p>
          <a:p>
            <a:r>
              <a:t>- Critical infrastructure is hardest for both RAG systems (0.61, 0.56). The legal test is whether it is a safety component, not just the sector.</a:t>
            </a:r>
          </a:p>
          <a:p>
            <a:r>
              <a:t>- The plain model collapses in law enforcement, 0.26. It calls most police uses high-risk. Retrieval fixes this.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THE MAIN FINDING. Slow down here.</a:t>
            </a:r>
          </a:p>
          <a:p>
            <a:r>
              <a:t>- Each dot is one answer's faithfulness score, split by right vs wrong label.</a:t>
            </a:r>
          </a:p>
          <a:p>
            <a:r>
              <a:t>- If faithfulness tracked correctness, right answers would sit higher.</a:t>
            </a:r>
          </a:p>
          <a:p>
            <a:r>
              <a:t>- For the agent they do not. Wrong answers even score slightly higher on average: 0.49 vs 0.45.</a:t>
            </a:r>
          </a:p>
          <a:p>
            <a:r>
              <a:t>- AUC 0.465. 0.5 is a coin flip, and the confidence interval includes 0.5.</a:t>
            </a:r>
          </a:p>
          <a:p>
            <a:r>
              <a:t>- So for the agent, faithfulness cannot tell right answers from wrong ones.</a:t>
            </a:r>
          </a:p>
          <a:p>
            <a:r>
              <a:t>- Standard RAG has a weak signal only, AUC 0.615.</a:t>
            </a:r>
          </a:p>
          <a:p/>
          <a:p>
            <a:r>
              <a:t>AUC in plain words: the chance that a random right answer scores higher than a random wrong one.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a:t>
            </a:r>
          </a:p>
          <a:p>
            <a:r>
              <a:t>- Same data in the four buckets, faithful cut at 0.5.</a:t>
            </a:r>
          </a:p>
          <a:p>
            <a:r>
              <a:t>- 17 of the agent's 31 wrong answers pass as faithful. That is the faithful but wrong bucket, and it is clearly filled.</a:t>
            </a:r>
          </a:p>
          <a:p>
            <a:r>
              <a:t>- The other off-diagonal is big too: about half the correct answers count as unfaithful.</a:t>
            </a:r>
          </a:p>
          <a:p>
            <a:r>
              <a:t>- Part of that is mechanical: sentences that repeat the input are not in the passages, so the judge marks them unsupported. That is how RAGAS is defined.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 OPTIONAL. If skipping, say on the previous slide: "this holds at stricter cut-offs too".</a:t>
            </a:r>
          </a:p>
          <a:p>
            <a:r>
              <a:t>- Is this just because of the 0.5 cut? No.</a:t>
            </a:r>
          </a:p>
          <a:p>
            <a:r>
              <a:t>- At a strict cut of 0.7, 7 agent errors still pass.</a:t>
            </a:r>
          </a:p>
          <a:p>
            <a:r>
              <a:t>- One wrong answer scores a perfect 1.0.</a:t>
            </a:r>
          </a:p>
          <a:p>
            <a:r>
              <a:t>- The AUC does not depend on any cut at all.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a:t>
            </a:r>
          </a:p>
          <a:p>
            <a:r>
              <a:t>- Why do wrong answers look grounded? I read all 17.</a:t>
            </a:r>
          </a:p>
          <a:p>
            <a:r>
              <a:t>- Biggest group, 6: the model treats the sector as the use case. "Used in electricity, so high-risk", skipping the safety component test.</a:t>
            </a:r>
          </a:p>
          <a:p>
            <a:r>
              <a:t>- Then 4 where it refuses the Article 6(3) exception.</a:t>
            </a:r>
          </a:p>
          <a:p>
            <a:r>
              <a:t>- Example, input 207: a tool that pre-classifies incoming court cases. The agent says high-risk, no exception applies. The Commission says narrow procedural task, not high-risk.</a:t>
            </a:r>
          </a:p>
          <a:p>
            <a:r>
              <a:t>- Faithfulness: 6 of 6 statements supported. A perfect 1.0, on a wrong answer.</a:t>
            </a:r>
          </a:p>
          <a:p>
            <a:r>
              <a:t>- KEY POINT: in 14 of 17 cases the right section was retrieved. So these are not retrieval errors. The rule was right, it was applied wrongly.</a:t>
            </a:r>
          </a:p>
          <a:p>
            <a:r>
              <a:t>- The judge accepts the conclusion because the passages state the rule correctly. RAGAS never checks the application step.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One line each.</a:t>
            </a:r>
          </a:p>
          <a:p>
            <a:r>
              <a:t>1. Faithfulness is not correctness. At chance level for spotting wrong labels, 17 of 31 errors pass.</a:t>
            </a:r>
          </a:p>
          <a:p>
            <a:r>
              <a:t>2. Errors are application errors. Right passage, rule misapplied, RAGAS cannot see it.</a:t>
            </a:r>
          </a:p>
          <a:p>
            <a:r>
              <a:t>3. Retrieval matters, the prompt design did not. Plus 19 points from RAG, no gain from the step-by-step agent.</a:t>
            </a:r>
          </a:p>
          <a:p>
            <a:r>
              <a:t>4. Benchmarks built from worked examples can leak. It inflated accuracy by up to 15 points and flipped the ranking.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 Be upfront, then the next steps.</a:t>
            </a:r>
          </a:p>
          <a:p>
            <a:r>
              <a:t>- One generator and one judge, so results may depend on these models.</a:t>
            </a:r>
          </a:p>
          <a:p>
            <a:r>
              <a:t>- Single annotator. Small numbers of wrong answers, so wide intervals.</a:t>
            </a:r>
          </a:p>
          <a:p>
            <a:r>
              <a:t>- Commission examples are cleaner than real product descriptions.</a:t>
            </a:r>
          </a:p>
          <a:p>
            <a:r>
              <a:t>- Next: a stronger second generator including a commercial model, a second annotator, realistic product descriptions, and a check that tests whether the conclusion actually follows from the rule and the facts.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sec, then questions]</a:t>
            </a:r>
          </a:p>
          <a:p>
            <a:r>
              <a:t>- One sentence to take away: a high faithfulness score says almost nothing about whether a legal classification is right.</a:t>
            </a:r>
          </a:p>
          <a:p>
            <a:r>
              <a:t>- Faithfulness is necessary but not sufficient. Wherever a ground truth exists, report correctness next to it.</a:t>
            </a:r>
          </a:p>
          <a:p>
            <a:r>
              <a:t>- Thank you. Happy to take questions.</a:t>
            </a:r>
          </a:p>
          <a:p/>
          <a:p>
            <a:r>
              <a:t>Likely questions:</a:t>
            </a:r>
          </a:p>
          <a:p>
            <a:r>
              <a:t>- "Why phi-4 and not a bigger model?" Local, pinned, reproducible, free. A stronger generator is the first item of future work.</a:t>
            </a:r>
          </a:p>
          <a:p>
            <a:r>
              <a:t>- "Is 215 enough?" For accuracy differences yes (p &lt; 0.001). For the faithfulness analysis the intervals are wide, which I report.</a:t>
            </a:r>
          </a:p>
          <a:p>
            <a:r>
              <a:t>- "Could a better judge fix this?" The judge did its job: the statements ARE supported by the passages. The problem is that faithfulness does not measure correct application of the rule.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sec] Now the results. Two main ones.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sec] To conclude.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sv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sv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sv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sv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sv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sv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sv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sv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sv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sv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sv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sv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sv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sv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sv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sv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sv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sv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sv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29.09.26</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29.09.26</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29.09.26</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29.09.26</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29.09.26</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29.09.26</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29.09.26</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29.09.26</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29.09.26</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29.09.26</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29.09.26</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29.09.26</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29.09.26</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29.09.26</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29.09.26</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29.09.26</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29.09.26</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29.09.26</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29.09.26</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29.09.26</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29.09.26</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Relationship Id="rId14" Type="http://schemas.openxmlformats.org/officeDocument/2006/relationships/slideLayout" Target="../slideLayouts/slideLayout37.xml"/><Relationship Id="rId15" Type="http://schemas.openxmlformats.org/officeDocument/2006/relationships/slideLayout" Target="../slideLayouts/slideLayout38.xml"/><Relationship Id="rId16" Type="http://schemas.openxmlformats.org/officeDocument/2006/relationships/slideLayout" Target="../slideLayouts/slideLayout39.xml"/><Relationship Id="rId17" Type="http://schemas.openxmlformats.org/officeDocument/2006/relationships/slideLayout" Target="../slideLayouts/slideLayout40.xml"/><Relationship Id="rId18" Type="http://schemas.openxmlformats.org/officeDocument/2006/relationships/slideLayout" Target="../slideLayouts/slideLayout41.xml"/><Relationship Id="rId19" Type="http://schemas.openxmlformats.org/officeDocument/2006/relationships/slideLayout" Target="../slideLayouts/slideLayout42.xml"/><Relationship Id="rId20" Type="http://schemas.openxmlformats.org/officeDocument/2006/relationships/slideLayout" Target="../slideLayouts/slideLayout43.xml"/><Relationship Id="rId21" Type="http://schemas.openxmlformats.org/officeDocument/2006/relationships/slideLayout" Target="../slideLayouts/slideLayout44.xml"/><Relationship Id="rId22" Type="http://schemas.openxmlformats.org/officeDocument/2006/relationships/slideLayout" Target="../slideLayouts/slideLayout45.xml"/><Relationship Id="rId23" Type="http://schemas.openxmlformats.org/officeDocument/2006/relationships/slideLayout" Target="../slideLayouts/slideLayout46.xml"/><Relationship Id="rId2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slideLayout" Target="../slideLayouts/slideLayout48.xml"/><Relationship Id="rId3" Type="http://schemas.openxmlformats.org/officeDocument/2006/relationships/slideLayout" Target="../slideLayouts/slideLayout49.xml"/><Relationship Id="rId4" Type="http://schemas.openxmlformats.org/officeDocument/2006/relationships/slideLayout" Target="../slideLayouts/slideLayout50.xml"/><Relationship Id="rId5" Type="http://schemas.openxmlformats.org/officeDocument/2006/relationships/slideLayout" Target="../slideLayouts/slideLayout51.xml"/><Relationship Id="rId6" Type="http://schemas.openxmlformats.org/officeDocument/2006/relationships/slideLayout" Target="../slideLayouts/slideLayout52.xml"/><Relationship Id="rId7" Type="http://schemas.openxmlformats.org/officeDocument/2006/relationships/slideLayout" Target="../slideLayouts/slideLayout53.xml"/><Relationship Id="rId8" Type="http://schemas.openxmlformats.org/officeDocument/2006/relationships/slideLayout" Target="../slideLayouts/slideLayout54.xml"/><Relationship Id="rId9" Type="http://schemas.openxmlformats.org/officeDocument/2006/relationships/slideLayout" Target="../slideLayouts/slideLayout55.xml"/><Relationship Id="rId10" Type="http://schemas.openxmlformats.org/officeDocument/2006/relationships/slideLayout" Target="../slideLayouts/slideLayout56.xml"/><Relationship Id="rId11" Type="http://schemas.openxmlformats.org/officeDocument/2006/relationships/slideLayout" Target="../slideLayouts/slideLayout57.xml"/><Relationship Id="rId12" Type="http://schemas.openxmlformats.org/officeDocument/2006/relationships/slideLayout" Target="../slideLayouts/slideLayout58.xml"/><Relationship Id="rId13" Type="http://schemas.openxmlformats.org/officeDocument/2006/relationships/slideLayout" Target="../slideLayouts/slideLayout59.xml"/><Relationship Id="rId14" Type="http://schemas.openxmlformats.org/officeDocument/2006/relationships/slideLayout" Target="../slideLayouts/slideLayout60.xml"/><Relationship Id="rId15" Type="http://schemas.openxmlformats.org/officeDocument/2006/relationships/slideLayout" Target="../slideLayouts/slideLayout61.xml"/><Relationship Id="rId16" Type="http://schemas.openxmlformats.org/officeDocument/2006/relationships/slideLayout" Target="../slideLayouts/slideLayout62.xml"/><Relationship Id="rId17" Type="http://schemas.openxmlformats.org/officeDocument/2006/relationships/slideLayout" Target="../slideLayouts/slideLayout63.xml"/><Relationship Id="rId18" Type="http://schemas.openxmlformats.org/officeDocument/2006/relationships/slideLayout" Target="../slideLayouts/slideLayout64.xml"/><Relationship Id="rId19" Type="http://schemas.openxmlformats.org/officeDocument/2006/relationships/slideLayout" Target="../slideLayouts/slideLayout65.xml"/><Relationship Id="rId20" Type="http://schemas.openxmlformats.org/officeDocument/2006/relationships/slideLayout" Target="../slideLayouts/slideLayout66.xml"/><Relationship Id="rId21" Type="http://schemas.openxmlformats.org/officeDocument/2006/relationships/slideLayout" Target="../slideLayouts/slideLayout67.xml"/><Relationship Id="rId22" Type="http://schemas.openxmlformats.org/officeDocument/2006/relationships/slideLayout" Target="../slideLayouts/slideLayout68.xml"/><Relationship Id="rId23" Type="http://schemas.openxmlformats.org/officeDocument/2006/relationships/slideLayout" Target="../slideLayouts/slideLayout69.xml"/><Relationship Id="rId2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slideLayout" Target="../slideLayouts/slideLayout71.xml"/><Relationship Id="rId3" Type="http://schemas.openxmlformats.org/officeDocument/2006/relationships/slideLayout" Target="../slideLayouts/slideLayout72.xml"/><Relationship Id="rId4" Type="http://schemas.openxmlformats.org/officeDocument/2006/relationships/slideLayout" Target="../slideLayouts/slideLayout73.xml"/><Relationship Id="rId5" Type="http://schemas.openxmlformats.org/officeDocument/2006/relationships/slideLayout" Target="../slideLayouts/slideLayout74.xml"/><Relationship Id="rId6" Type="http://schemas.openxmlformats.org/officeDocument/2006/relationships/slideLayout" Target="../slideLayouts/slideLayout75.xml"/><Relationship Id="rId7" Type="http://schemas.openxmlformats.org/officeDocument/2006/relationships/slideLayout" Target="../slideLayouts/slideLayout76.xml"/><Relationship Id="rId8" Type="http://schemas.openxmlformats.org/officeDocument/2006/relationships/slideLayout" Target="../slideLayouts/slideLayout77.xml"/><Relationship Id="rId9" Type="http://schemas.openxmlformats.org/officeDocument/2006/relationships/slideLayout" Target="../slideLayouts/slideLayout78.xml"/><Relationship Id="rId10" Type="http://schemas.openxmlformats.org/officeDocument/2006/relationships/slideLayout" Target="../slideLayouts/slideLayout79.xml"/><Relationship Id="rId11" Type="http://schemas.openxmlformats.org/officeDocument/2006/relationships/slideLayout" Target="../slideLayouts/slideLayout80.xml"/><Relationship Id="rId12" Type="http://schemas.openxmlformats.org/officeDocument/2006/relationships/slideLayout" Target="../slideLayouts/slideLayout81.xml"/><Relationship Id="rId13" Type="http://schemas.openxmlformats.org/officeDocument/2006/relationships/slideLayout" Target="../slideLayouts/slideLayout82.xml"/><Relationship Id="rId14" Type="http://schemas.openxmlformats.org/officeDocument/2006/relationships/slideLayout" Target="../slideLayouts/slideLayout83.xml"/><Relationship Id="rId15" Type="http://schemas.openxmlformats.org/officeDocument/2006/relationships/slideLayout" Target="../slideLayouts/slideLayout84.xml"/><Relationship Id="rId16" Type="http://schemas.openxmlformats.org/officeDocument/2006/relationships/slideLayout" Target="../slideLayouts/slideLayout85.xml"/><Relationship Id="rId17" Type="http://schemas.openxmlformats.org/officeDocument/2006/relationships/slideLayout" Target="../slideLayouts/slideLayout86.xml"/><Relationship Id="rId18" Type="http://schemas.openxmlformats.org/officeDocument/2006/relationships/slideLayout" Target="../slideLayouts/slideLayout87.xml"/><Relationship Id="rId19" Type="http://schemas.openxmlformats.org/officeDocument/2006/relationships/slideLayout" Target="../slideLayouts/slideLayout88.xml"/><Relationship Id="rId20" Type="http://schemas.openxmlformats.org/officeDocument/2006/relationships/slideLayout" Target="../slideLayouts/slideLayout89.xml"/><Relationship Id="rId21" Type="http://schemas.openxmlformats.org/officeDocument/2006/relationships/slideLayout" Target="../slideLayouts/slideLayout90.xml"/><Relationship Id="rId22" Type="http://schemas.openxmlformats.org/officeDocument/2006/relationships/slideLayout" Target="../slideLayouts/slideLayout91.xml"/><Relationship Id="rId23" Type="http://schemas.openxmlformats.org/officeDocument/2006/relationships/slideLayout" Target="../slideLayouts/slideLayout92.xml"/><Relationship Id="rId2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93.xml"/><Relationship Id="rId2" Type="http://schemas.openxmlformats.org/officeDocument/2006/relationships/slideLayout" Target="../slideLayouts/slideLayout94.xml"/><Relationship Id="rId3" Type="http://schemas.openxmlformats.org/officeDocument/2006/relationships/slideLayout" Target="../slideLayouts/slideLayout95.xml"/><Relationship Id="rId4" Type="http://schemas.openxmlformats.org/officeDocument/2006/relationships/slideLayout" Target="../slideLayouts/slideLayout96.xml"/><Relationship Id="rId5" Type="http://schemas.openxmlformats.org/officeDocument/2006/relationships/slideLayout" Target="../slideLayouts/slideLayout97.xml"/><Relationship Id="rId6" Type="http://schemas.openxmlformats.org/officeDocument/2006/relationships/slideLayout" Target="../slideLayouts/slideLayout98.xml"/><Relationship Id="rId7" Type="http://schemas.openxmlformats.org/officeDocument/2006/relationships/slideLayout" Target="../slideLayouts/slideLayout99.xml"/><Relationship Id="rId8" Type="http://schemas.openxmlformats.org/officeDocument/2006/relationships/slideLayout" Target="../slideLayouts/slideLayout100.xml"/><Relationship Id="rId9" Type="http://schemas.openxmlformats.org/officeDocument/2006/relationships/slideLayout" Target="../slideLayouts/slideLayout101.xml"/><Relationship Id="rId10" Type="http://schemas.openxmlformats.org/officeDocument/2006/relationships/slideLayout" Target="../slideLayouts/slideLayout102.xml"/><Relationship Id="rId11" Type="http://schemas.openxmlformats.org/officeDocument/2006/relationships/slideLayout" Target="../slideLayouts/slideLayout103.xml"/><Relationship Id="rId12" Type="http://schemas.openxmlformats.org/officeDocument/2006/relationships/slideLayout" Target="../slideLayouts/slideLayout104.xml"/><Relationship Id="rId13" Type="http://schemas.openxmlformats.org/officeDocument/2006/relationships/slideLayout" Target="../slideLayouts/slideLayout105.xml"/><Relationship Id="rId14" Type="http://schemas.openxmlformats.org/officeDocument/2006/relationships/slideLayout" Target="../slideLayouts/slideLayout106.xml"/><Relationship Id="rId15" Type="http://schemas.openxmlformats.org/officeDocument/2006/relationships/slideLayout" Target="../slideLayouts/slideLayout107.xml"/><Relationship Id="rId16" Type="http://schemas.openxmlformats.org/officeDocument/2006/relationships/slideLayout" Target="../slideLayouts/slideLayout108.xml"/><Relationship Id="rId17" Type="http://schemas.openxmlformats.org/officeDocument/2006/relationships/slideLayout" Target="../slideLayouts/slideLayout109.xml"/><Relationship Id="rId18" Type="http://schemas.openxmlformats.org/officeDocument/2006/relationships/slideLayout" Target="../slideLayouts/slideLayout110.xml"/><Relationship Id="rId19" Type="http://schemas.openxmlformats.org/officeDocument/2006/relationships/slideLayout" Target="../slideLayouts/slideLayout111.xml"/><Relationship Id="rId20" Type="http://schemas.openxmlformats.org/officeDocument/2006/relationships/slideLayout" Target="../slideLayouts/slideLayout112.xml"/><Relationship Id="rId21" Type="http://schemas.openxmlformats.org/officeDocument/2006/relationships/slideLayout" Target="../slideLayouts/slideLayout113.xml"/><Relationship Id="rId22" Type="http://schemas.openxmlformats.org/officeDocument/2006/relationships/slideLayout" Target="../slideLayouts/slideLayout114.xml"/><Relationship Id="rId23" Type="http://schemas.openxmlformats.org/officeDocument/2006/relationships/slideLayout" Target="../slideLayouts/slideLayout115.xml"/><Relationship Id="rId2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slideLayout" Target="../slideLayouts/slideLayout117.xml"/><Relationship Id="rId3" Type="http://schemas.openxmlformats.org/officeDocument/2006/relationships/slideLayout" Target="../slideLayouts/slideLayout118.xml"/><Relationship Id="rId4" Type="http://schemas.openxmlformats.org/officeDocument/2006/relationships/slideLayout" Target="../slideLayouts/slideLayout119.xml"/><Relationship Id="rId5" Type="http://schemas.openxmlformats.org/officeDocument/2006/relationships/slideLayout" Target="../slideLayouts/slideLayout120.xml"/><Relationship Id="rId6" Type="http://schemas.openxmlformats.org/officeDocument/2006/relationships/slideLayout" Target="../slideLayouts/slideLayout121.xml"/><Relationship Id="rId7" Type="http://schemas.openxmlformats.org/officeDocument/2006/relationships/slideLayout" Target="../slideLayouts/slideLayout122.xml"/><Relationship Id="rId8" Type="http://schemas.openxmlformats.org/officeDocument/2006/relationships/slideLayout" Target="../slideLayouts/slideLayout123.xml"/><Relationship Id="rId9" Type="http://schemas.openxmlformats.org/officeDocument/2006/relationships/slideLayout" Target="../slideLayouts/slideLayout124.xml"/><Relationship Id="rId10" Type="http://schemas.openxmlformats.org/officeDocument/2006/relationships/slideLayout" Target="../slideLayouts/slideLayout125.xml"/><Relationship Id="rId11" Type="http://schemas.openxmlformats.org/officeDocument/2006/relationships/slideLayout" Target="../slideLayouts/slideLayout126.xml"/><Relationship Id="rId12" Type="http://schemas.openxmlformats.org/officeDocument/2006/relationships/slideLayout" Target="../slideLayouts/slideLayout127.xml"/><Relationship Id="rId13" Type="http://schemas.openxmlformats.org/officeDocument/2006/relationships/slideLayout" Target="../slideLayouts/slideLayout128.xml"/><Relationship Id="rId14" Type="http://schemas.openxmlformats.org/officeDocument/2006/relationships/slideLayout" Target="../slideLayouts/slideLayout129.xml"/><Relationship Id="rId15" Type="http://schemas.openxmlformats.org/officeDocument/2006/relationships/slideLayout" Target="../slideLayouts/slideLayout130.xml"/><Relationship Id="rId16" Type="http://schemas.openxmlformats.org/officeDocument/2006/relationships/slideLayout" Target="../slideLayouts/slideLayout131.xml"/><Relationship Id="rId17" Type="http://schemas.openxmlformats.org/officeDocument/2006/relationships/slideLayout" Target="../slideLayouts/slideLayout132.xml"/><Relationship Id="rId18" Type="http://schemas.openxmlformats.org/officeDocument/2006/relationships/slideLayout" Target="../slideLayouts/slideLayout133.xml"/><Relationship Id="rId19" Type="http://schemas.openxmlformats.org/officeDocument/2006/relationships/slideLayout" Target="../slideLayouts/slideLayout134.xml"/><Relationship Id="rId20" Type="http://schemas.openxmlformats.org/officeDocument/2006/relationships/slideLayout" Target="../slideLayouts/slideLayout135.xml"/><Relationship Id="rId21" Type="http://schemas.openxmlformats.org/officeDocument/2006/relationships/slideLayout" Target="../slideLayouts/slideLayout136.xml"/><Relationship Id="rId22" Type="http://schemas.openxmlformats.org/officeDocument/2006/relationships/slideLayout" Target="../slideLayouts/slideLayout137.xml"/><Relationship Id="rId23" Type="http://schemas.openxmlformats.org/officeDocument/2006/relationships/slideLayout" Target="../slideLayouts/slideLayout138.xml"/><Relationship Id="rId2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139.xml"/><Relationship Id="rId2" Type="http://schemas.openxmlformats.org/officeDocument/2006/relationships/slideLayout" Target="../slideLayouts/slideLayout140.xml"/><Relationship Id="rId3" Type="http://schemas.openxmlformats.org/officeDocument/2006/relationships/slideLayout" Target="../slideLayouts/slideLayout141.xml"/><Relationship Id="rId4" Type="http://schemas.openxmlformats.org/officeDocument/2006/relationships/slideLayout" Target="../slideLayouts/slideLayout142.xml"/><Relationship Id="rId5" Type="http://schemas.openxmlformats.org/officeDocument/2006/relationships/slideLayout" Target="../slideLayouts/slideLayout143.xml"/><Relationship Id="rId6" Type="http://schemas.openxmlformats.org/officeDocument/2006/relationships/slideLayout" Target="../slideLayouts/slideLayout144.xml"/><Relationship Id="rId7" Type="http://schemas.openxmlformats.org/officeDocument/2006/relationships/slideLayout" Target="../slideLayouts/slideLayout145.xml"/><Relationship Id="rId8" Type="http://schemas.openxmlformats.org/officeDocument/2006/relationships/slideLayout" Target="../slideLayouts/slideLayout146.xml"/><Relationship Id="rId9" Type="http://schemas.openxmlformats.org/officeDocument/2006/relationships/slideLayout" Target="../slideLayouts/slideLayout147.xml"/><Relationship Id="rId10" Type="http://schemas.openxmlformats.org/officeDocument/2006/relationships/slideLayout" Target="../slideLayouts/slideLayout148.xml"/><Relationship Id="rId11" Type="http://schemas.openxmlformats.org/officeDocument/2006/relationships/slideLayout" Target="../slideLayouts/slideLayout149.xml"/><Relationship Id="rId12" Type="http://schemas.openxmlformats.org/officeDocument/2006/relationships/slideLayout" Target="../slideLayouts/slideLayout150.xml"/><Relationship Id="rId13" Type="http://schemas.openxmlformats.org/officeDocument/2006/relationships/slideLayout" Target="../slideLayouts/slideLayout151.xml"/><Relationship Id="rId14" Type="http://schemas.openxmlformats.org/officeDocument/2006/relationships/slideLayout" Target="../slideLayouts/slideLayout152.xml"/><Relationship Id="rId15" Type="http://schemas.openxmlformats.org/officeDocument/2006/relationships/slideLayout" Target="../slideLayouts/slideLayout153.xml"/><Relationship Id="rId16" Type="http://schemas.openxmlformats.org/officeDocument/2006/relationships/slideLayout" Target="../slideLayouts/slideLayout154.xml"/><Relationship Id="rId17" Type="http://schemas.openxmlformats.org/officeDocument/2006/relationships/slideLayout" Target="../slideLayouts/slideLayout155.xml"/><Relationship Id="rId18" Type="http://schemas.openxmlformats.org/officeDocument/2006/relationships/slideLayout" Target="../slideLayouts/slideLayout156.xml"/><Relationship Id="rId19" Type="http://schemas.openxmlformats.org/officeDocument/2006/relationships/slideLayout" Target="../slideLayouts/slideLayout157.xml"/><Relationship Id="rId20" Type="http://schemas.openxmlformats.org/officeDocument/2006/relationships/slideLayout" Target="../slideLayouts/slideLayout158.xml"/><Relationship Id="rId21" Type="http://schemas.openxmlformats.org/officeDocument/2006/relationships/slideLayout" Target="../slideLayouts/slideLayout159.xml"/><Relationship Id="rId22" Type="http://schemas.openxmlformats.org/officeDocument/2006/relationships/slideLayout" Target="../slideLayouts/slideLayout160.xml"/><Relationship Id="rId23" Type="http://schemas.openxmlformats.org/officeDocument/2006/relationships/slideLayout" Target="../slideLayouts/slideLayout161.xml"/><Relationship Id="rId24" Type="http://schemas.openxmlformats.org/officeDocument/2006/relationships/theme" Target="../theme/theme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29.09.26</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29.09.26</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29.09.26</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 id="2147483714" r:id="rId18"/>
    <p:sldLayoutId id="2147483715" r:id="rId19"/>
    <p:sldLayoutId id="2147483716" r:id="rId20"/>
    <p:sldLayoutId id="2147483717" r:id="rId21"/>
    <p:sldLayoutId id="2147483718" r:id="rId22"/>
    <p:sldLayoutId id="2147483719"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29.09.26</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 id="2147483738" r:id="rId18"/>
    <p:sldLayoutId id="2147483739" r:id="rId19"/>
    <p:sldLayoutId id="2147483740" r:id="rId20"/>
    <p:sldLayoutId id="2147483741" r:id="rId21"/>
    <p:sldLayoutId id="2147483742" r:id="rId22"/>
    <p:sldLayoutId id="2147483743"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29.09.26</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 id="2147483762" r:id="rId18"/>
    <p:sldLayoutId id="2147483763" r:id="rId19"/>
    <p:sldLayoutId id="2147483764" r:id="rId20"/>
    <p:sldLayoutId id="2147483765" r:id="rId21"/>
    <p:sldLayoutId id="2147483766" r:id="rId22"/>
    <p:sldLayoutId id="2147483767"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29.09.26</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 id="2147483783" r:id="rId15"/>
    <p:sldLayoutId id="2147483784" r:id="rId16"/>
    <p:sldLayoutId id="2147483785" r:id="rId17"/>
    <p:sldLayoutId id="2147483786" r:id="rId18"/>
    <p:sldLayoutId id="2147483787" r:id="rId19"/>
    <p:sldLayoutId id="2147483788" r:id="rId20"/>
    <p:sldLayoutId id="2147483789" r:id="rId21"/>
    <p:sldLayoutId id="2147483790" r:id="rId22"/>
    <p:sldLayoutId id="2147483791"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29.09.26</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04" r:id="rId12"/>
    <p:sldLayoutId id="2147483805" r:id="rId13"/>
    <p:sldLayoutId id="2147483806" r:id="rId14"/>
    <p:sldLayoutId id="2147483807" r:id="rId15"/>
    <p:sldLayoutId id="2147483808" r:id="rId16"/>
    <p:sldLayoutId id="2147483809" r:id="rId17"/>
    <p:sldLayoutId id="2147483810" r:id="rId18"/>
    <p:sldLayoutId id="2147483811" r:id="rId19"/>
    <p:sldLayoutId id="2147483812" r:id="rId20"/>
    <p:sldLayoutId id="2147483813" r:id="rId21"/>
    <p:sldLayoutId id="2147483814" r:id="rId22"/>
    <p:sldLayoutId id="2147483815"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chart" Target="../charts/char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chart" Target="../charts/char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chart" Target="../charts/char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F4807"/>
        </a:solidFill>
        <a:effectLst/>
      </p:bgPr>
    </p:bg>
    <p:spTree>
      <p:nvGrpSpPr>
        <p:cNvPr id="1" name=""/>
        <p:cNvGrpSpPr/>
        <p:nvPr/>
      </p:nvGrpSpPr>
      <p:grpSpPr>
        <a:xfrm>
          <a:off x="0" y="0"/>
          <a:ext cx="0" cy="0"/>
          <a:chOff x="0" y="0"/>
          <a:chExt cx="0" cy="0"/>
        </a:xfrm>
      </p:grpSpPr>
      <p:sp>
        <p:nvSpPr>
          <p:cNvPr id="15" name="Teil des Logos"/>
          <p:cNvSpPr/>
          <p:nvPr/>
        </p:nvSpPr>
        <p:spPr>
          <a:xfrm>
            <a:off x="0" y="1929487"/>
            <a:ext cx="6239665" cy="4928513"/>
          </a:xfrm>
          <a:custGeom>
            <a:avLst/>
            <a:gdLst>
              <a:gd name="connsiteX0" fmla="*/ 343733 w 6239665"/>
              <a:gd name="connsiteY0" fmla="*/ 1 h 4928513"/>
              <a:gd name="connsiteX1" fmla="*/ 363365 w 6239665"/>
              <a:gd name="connsiteY1" fmla="*/ 454 h 4928513"/>
              <a:gd name="connsiteX2" fmla="*/ 391501 w 6239665"/>
              <a:gd name="connsiteY2" fmla="*/ 1 h 4928513"/>
              <a:gd name="connsiteX3" fmla="*/ 913851 w 6239665"/>
              <a:gd name="connsiteY3" fmla="*/ 12035 h 4928513"/>
              <a:gd name="connsiteX4" fmla="*/ 6190318 w 6239665"/>
              <a:gd name="connsiteY4" fmla="*/ 4641670 h 4928513"/>
              <a:gd name="connsiteX5" fmla="*/ 6239665 w 6239665"/>
              <a:gd name="connsiteY5" fmla="*/ 4928513 h 4928513"/>
              <a:gd name="connsiteX6" fmla="*/ 2549806 w 6239665"/>
              <a:gd name="connsiteY6" fmla="*/ 4928513 h 4928513"/>
              <a:gd name="connsiteX7" fmla="*/ 2495430 w 6239665"/>
              <a:gd name="connsiteY7" fmla="*/ 4786236 h 4928513"/>
              <a:gd name="connsiteX8" fmla="*/ 45385 w 6239665"/>
              <a:gd name="connsiteY8" fmla="*/ 3413227 h 4928513"/>
              <a:gd name="connsiteX9" fmla="*/ 0 w 6239665"/>
              <a:gd name="connsiteY9" fmla="*/ 3409750 h 4928513"/>
              <a:gd name="connsiteX10" fmla="*/ 0 w 6239665"/>
              <a:gd name="connsiteY10" fmla="*/ 5528 h 4928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39665" h="4928513">
                <a:moveTo>
                  <a:pt x="343733" y="1"/>
                </a:moveTo>
                <a:lnTo>
                  <a:pt x="363365" y="454"/>
                </a:lnTo>
                <a:lnTo>
                  <a:pt x="391501" y="1"/>
                </a:lnTo>
                <a:cubicBezTo>
                  <a:pt x="574027" y="-6"/>
                  <a:pt x="748982" y="4008"/>
                  <a:pt x="913851" y="12035"/>
                </a:cubicBezTo>
                <a:cubicBezTo>
                  <a:pt x="3765486" y="120637"/>
                  <a:pt x="5666021" y="1924912"/>
                  <a:pt x="6190318" y="4641670"/>
                </a:cubicBezTo>
                <a:lnTo>
                  <a:pt x="6239665" y="4928513"/>
                </a:lnTo>
                <a:lnTo>
                  <a:pt x="2549806" y="4928513"/>
                </a:lnTo>
                <a:lnTo>
                  <a:pt x="2495430" y="4786236"/>
                </a:lnTo>
                <a:cubicBezTo>
                  <a:pt x="2118161" y="3890405"/>
                  <a:pt x="1345158" y="3534960"/>
                  <a:pt x="45385" y="3413227"/>
                </a:cubicBezTo>
                <a:lnTo>
                  <a:pt x="0" y="3409750"/>
                </a:lnTo>
                <a:lnTo>
                  <a:pt x="0" y="5528"/>
                </a:lnTo>
                <a:close/>
              </a:path>
            </a:pathLst>
          </a:custGeom>
          <a:solidFill>
            <a:srgbClr val="FFFFFF">
              <a:alpha val="18000"/>
            </a:srgbClr>
          </a:solidFill>
          <a:ln w="80179" cap="flat">
            <a:noFill/>
            <a:prstDash val="solid"/>
            <a:round/>
          </a:ln>
        </p:spPr>
        <p:txBody>
          <a:bodyPr lIns="90979" tIns="45489" rIns="90979" bIns="45489" rtlCol="0" anchor="ctr"/>
          <a:lstStyle/>
          <a:p>
            <a:endParaRPr lang="de-DE"/>
          </a:p>
        </p:txBody>
      </p:sp>
      <p:sp>
        <p:nvSpPr>
          <p:cNvPr id="6" name="Untertitel 5"/>
          <p:cNvSpPr>
            <a:spLocks noGrp="1"/>
          </p:cNvSpPr>
          <p:nvPr>
            <p:ph type="subTitle" idx="1"/>
          </p:nvPr>
        </p:nvSpPr>
        <p:spPr>
          <a:xfrm>
            <a:off x="630168" y="3513332"/>
            <a:ext cx="10058400" cy="1048109"/>
          </a:xfrm>
        </p:spPr>
        <p:txBody>
          <a:bodyPr/>
          <a:lstStyle/>
          <a:p>
            <a:r>
              <a:rPr b="1"/>
              <a:t>Evaluating RAG-based high-risk classification under the EU AI Act against an authoritative answer key</a:t>
            </a:r>
            <a:endParaRPr lang="en-US" altLang="en-GB" b="0" dirty="0"/>
          </a:p>
          <a:p>
            <a:r>
              <a:rPr b="0"/>
              <a:t>Master of Science Data Science and Analytics – Case Study 2 – September 2026</a:t>
            </a:r>
          </a:p>
          <a:p>
            <a:r>
              <a:rPr b="0"/>
              <a:t>Rahul Rawat  |  Supervisor: Prof. Dr. Swati Chandna</a:t>
            </a:r>
          </a:p>
        </p:txBody>
      </p:sp>
      <p:sp>
        <p:nvSpPr>
          <p:cNvPr id="5" name="Titel 4"/>
          <p:cNvSpPr>
            <a:spLocks noGrp="1"/>
          </p:cNvSpPr>
          <p:nvPr>
            <p:ph type="ctrTitle"/>
          </p:nvPr>
        </p:nvSpPr>
        <p:spPr>
          <a:xfrm>
            <a:off x="630168" y="536308"/>
            <a:ext cx="9071274" cy="3018316"/>
          </a:xfrm>
        </p:spPr>
        <p:txBody>
          <a:bodyPr/>
          <a:lstStyle/>
          <a:p>
            <a:r>
              <a:t>Faithful but wrong?</a:t>
            </a:r>
          </a:p>
        </p:txBody>
      </p:sp>
      <p:sp>
        <p:nvSpPr>
          <p:cNvPr id="7" name="Textplatzhalter 6"/>
          <p:cNvSpPr>
            <a:spLocks noGrp="1"/>
          </p:cNvSpPr>
          <p:nvPr>
            <p:ph type="body" sz="quarter" idx="10"/>
          </p:nvPr>
        </p:nvSpPr>
        <p:spPr/>
        <p:txBody>
          <a:bodyPr/>
          <a:lstStyle/>
          <a:p>
            <a:r>
              <a:rPr lang="de-DE" dirty="0" err="1"/>
              <a:t>Passionate</a:t>
            </a:r>
            <a:r>
              <a:rPr lang="de-DE" dirty="0"/>
              <a:t> </a:t>
            </a:r>
            <a:r>
              <a:rPr lang="de-DE" dirty="0" err="1"/>
              <a:t>about</a:t>
            </a:r>
            <a:r>
              <a:rPr lang="de-DE" dirty="0"/>
              <a:t> </a:t>
            </a:r>
            <a:br>
              <a:rPr lang="de-DE" dirty="0"/>
            </a:br>
            <a:r>
              <a:rPr lang="de-DE" dirty="0" err="1"/>
              <a:t>life</a:t>
            </a:r>
            <a:r>
              <a:rPr lang="de-DE" dirty="0"/>
              <a:t>.</a:t>
            </a:r>
          </a:p>
        </p:txBody>
      </p:sp>
      <p:sp>
        <p:nvSpPr>
          <p:cNvPr id="2" name="Holding/Dienstleistung" hidden="1"/>
          <p:cNvSpPr/>
          <p:nvPr/>
        </p:nvSpPr>
        <p:spPr>
          <a:xfrm>
            <a:off x="628506" y="457200"/>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rgbClr val="AAA39D"/>
          </a:solidFill>
          <a:ln w="6638" cap="flat">
            <a:noFill/>
            <a:prstDash val="solid"/>
            <a:round/>
          </a:ln>
        </p:spPr>
        <p:txBody>
          <a:bodyPr rtlCol="0" anchor="ctr"/>
          <a:lstStyle/>
          <a:p>
            <a:endParaRPr lang="de-DE"/>
          </a:p>
        </p:txBody>
      </p:sp>
      <p:sp>
        <p:nvSpPr>
          <p:cNvPr id="3" name="Gesundheit" hidden="1"/>
          <p:cNvSpPr/>
          <p:nvPr/>
        </p:nvSpPr>
        <p:spPr>
          <a:xfrm>
            <a:off x="628506" y="457200"/>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rgbClr val="0067A0"/>
          </a:solidFill>
          <a:ln w="6638" cap="flat">
            <a:noFill/>
            <a:prstDash val="solid"/>
            <a:round/>
          </a:ln>
        </p:spPr>
        <p:txBody>
          <a:bodyPr rtlCol="0" anchor="ctr"/>
          <a:lstStyle/>
          <a:p>
            <a:endParaRPr lang="de-DE"/>
          </a:p>
        </p:txBody>
      </p:sp>
      <p:sp>
        <p:nvSpPr>
          <p:cNvPr id="9" name="Bildung" hidden="1"/>
          <p:cNvSpPr/>
          <p:nvPr/>
        </p:nvSpPr>
        <p:spPr>
          <a:xfrm>
            <a:off x="628506" y="457200"/>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
        <p:nvSpPr>
          <p:cNvPr id="4" name="Logo flex."/>
          <p:cNvSpPr/>
          <p:nvPr/>
        </p:nvSpPr>
        <p:spPr>
          <a:xfrm>
            <a:off x="628506" y="457200"/>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rgbClr val="FFFFFF"/>
          </a:solidFill>
          <a:ln w="6638" cap="flat">
            <a:noFill/>
            <a:prstDash val="solid"/>
            <a:round/>
          </a:ln>
        </p:spPr>
        <p:txBody>
          <a:bodyPr rtlCol="0" anchor="ctr"/>
          <a:lstStyle/>
          <a:p>
            <a:endParaRPr lang="de-D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Motivation and task</a:t>
            </a:r>
          </a:p>
        </p:txBody>
      </p:sp>
      <p:sp>
        <p:nvSpPr>
          <p:cNvPr id="3" name="Text Placeholder 2"/>
          <p:cNvSpPr>
            <a:spLocks noGrp="1"/>
          </p:cNvSpPr>
          <p:nvPr>
            <p:ph type="body" idx="1"/>
          </p:nvPr>
        </p:nvSpPr>
        <p:spPr/>
        <p:txBody>
          <a:bodyPr/>
          <a:lstStyle/>
          <a:p>
            <a:r>
              <a:t>01</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Is grounded the same as right?</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1155680" cy="457200"/>
          </a:xfrm>
          <a:prstGeom prst="rect">
            <a:avLst/>
          </a:prstGeom>
          <a:noFill/>
        </p:spPr>
        <p:txBody>
          <a:bodyPr wrap="square" anchor="t" lIns="0" rIns="0" tIns="0" bIns="0">
            <a:spAutoFit/>
          </a:bodyPr>
          <a:lstStyle/>
          <a:p>
            <a:pPr algn="l">
              <a:spcAft>
                <a:spcPts val="400"/>
              </a:spcAft>
            </a:pPr>
            <a:r>
              <a:rPr sz="1600" b="0" i="0">
                <a:solidFill>
                  <a:srgbClr val="575756"/>
                </a:solidFill>
              </a:rPr>
              <a:t>RAG compliance tools are usually judged by how grounded their answers are.</a:t>
            </a:r>
          </a:p>
        </p:txBody>
      </p:sp>
      <p:sp>
        <p:nvSpPr>
          <p:cNvPr id="8" name="Rectangle 7"/>
          <p:cNvSpPr/>
          <p:nvPr/>
        </p:nvSpPr>
        <p:spPr>
          <a:xfrm>
            <a:off x="356616" y="1965960"/>
            <a:ext cx="5120640" cy="164592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2148840"/>
            <a:ext cx="4754880" cy="365760"/>
          </a:xfrm>
          <a:prstGeom prst="rect">
            <a:avLst/>
          </a:prstGeom>
          <a:noFill/>
        </p:spPr>
        <p:txBody>
          <a:bodyPr wrap="square" anchor="t" lIns="0" rIns="0" tIns="0" bIns="0">
            <a:spAutoFit/>
          </a:bodyPr>
          <a:lstStyle/>
          <a:p>
            <a:pPr algn="l">
              <a:spcAft>
                <a:spcPts val="400"/>
              </a:spcAft>
            </a:pPr>
            <a:r>
              <a:rPr sz="1800" b="1" i="0">
                <a:solidFill>
                  <a:srgbClr val="DF4807"/>
                </a:solidFill>
              </a:rPr>
              <a:t>Faithfulness (RAGAS)</a:t>
            </a:r>
          </a:p>
        </p:txBody>
      </p:sp>
      <p:sp>
        <p:nvSpPr>
          <p:cNvPr id="10" name="TextBox 9"/>
          <p:cNvSpPr txBox="1"/>
          <p:nvPr/>
        </p:nvSpPr>
        <p:spPr>
          <a:xfrm>
            <a:off x="548640" y="2606039"/>
            <a:ext cx="4754880" cy="914400"/>
          </a:xfrm>
          <a:prstGeom prst="rect">
            <a:avLst/>
          </a:prstGeom>
          <a:noFill/>
        </p:spPr>
        <p:txBody>
          <a:bodyPr wrap="square" anchor="t" lIns="0" rIns="0" tIns="0" bIns="0">
            <a:spAutoFit/>
          </a:bodyPr>
          <a:lstStyle/>
          <a:p>
            <a:pPr algn="l">
              <a:spcAft>
                <a:spcPts val="400"/>
              </a:spcAft>
            </a:pPr>
            <a:r>
              <a:rPr sz="1400" b="0" i="0">
                <a:solidFill>
                  <a:srgbClr val="575756"/>
                </a:solidFill>
              </a:rPr>
              <a:t>Share of the answer's claims that can be traced to the retrieved passages. Needs no answer key, which is why it is so widely used.</a:t>
            </a:r>
          </a:p>
        </p:txBody>
      </p:sp>
      <p:sp>
        <p:nvSpPr>
          <p:cNvPr id="11" name="Rectangle 10"/>
          <p:cNvSpPr/>
          <p:nvPr/>
        </p:nvSpPr>
        <p:spPr>
          <a:xfrm>
            <a:off x="356616" y="3840479"/>
            <a:ext cx="5120640" cy="164592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4023359"/>
            <a:ext cx="4754880" cy="365760"/>
          </a:xfrm>
          <a:prstGeom prst="rect">
            <a:avLst/>
          </a:prstGeom>
          <a:noFill/>
        </p:spPr>
        <p:txBody>
          <a:bodyPr wrap="square" anchor="t" lIns="0" rIns="0" tIns="0" bIns="0">
            <a:spAutoFit/>
          </a:bodyPr>
          <a:lstStyle/>
          <a:p>
            <a:pPr algn="l">
              <a:spcAft>
                <a:spcPts val="400"/>
              </a:spcAft>
            </a:pPr>
            <a:r>
              <a:rPr sz="1800" b="1" i="0">
                <a:solidFill>
                  <a:srgbClr val="DF4807"/>
                </a:solidFill>
              </a:rPr>
              <a:t>Correctness</a:t>
            </a:r>
          </a:p>
        </p:txBody>
      </p:sp>
      <p:sp>
        <p:nvSpPr>
          <p:cNvPr id="13" name="TextBox 12"/>
          <p:cNvSpPr txBox="1"/>
          <p:nvPr/>
        </p:nvSpPr>
        <p:spPr>
          <a:xfrm>
            <a:off x="548640" y="4480559"/>
            <a:ext cx="4754880" cy="914400"/>
          </a:xfrm>
          <a:prstGeom prst="rect">
            <a:avLst/>
          </a:prstGeom>
          <a:noFill/>
        </p:spPr>
        <p:txBody>
          <a:bodyPr wrap="square" anchor="t" lIns="0" rIns="0" tIns="0" bIns="0">
            <a:spAutoFit/>
          </a:bodyPr>
          <a:lstStyle/>
          <a:p>
            <a:pPr algn="l">
              <a:spcAft>
                <a:spcPts val="400"/>
              </a:spcAft>
            </a:pPr>
            <a:r>
              <a:rPr sz="1400" b="0" i="0">
                <a:solidFill>
                  <a:srgbClr val="575756"/>
                </a:solidFill>
              </a:rPr>
              <a:t>Does the predicted label match the official answer? Needs a ground truth, which legal tasks rarely have.</a:t>
            </a:r>
          </a:p>
        </p:txBody>
      </p:sp>
      <p:sp>
        <p:nvSpPr>
          <p:cNvPr id="14" name="TextBox 13"/>
          <p:cNvSpPr txBox="1"/>
          <p:nvPr/>
        </p:nvSpPr>
        <p:spPr>
          <a:xfrm>
            <a:off x="6035040" y="1965960"/>
            <a:ext cx="5486400" cy="365760"/>
          </a:xfrm>
          <a:prstGeom prst="rect">
            <a:avLst/>
          </a:prstGeom>
          <a:noFill/>
        </p:spPr>
        <p:txBody>
          <a:bodyPr wrap="square" anchor="t" lIns="0" rIns="0" tIns="0" bIns="0">
            <a:spAutoFit/>
          </a:bodyPr>
          <a:lstStyle/>
          <a:p>
            <a:pPr algn="l">
              <a:spcAft>
                <a:spcPts val="400"/>
              </a:spcAft>
            </a:pPr>
            <a:r>
              <a:rPr sz="1600" b="1" i="0">
                <a:solidFill>
                  <a:srgbClr val="575756"/>
                </a:solidFill>
              </a:rPr>
              <a:t>Two independent axes, four buckets</a:t>
            </a:r>
          </a:p>
        </p:txBody>
      </p:sp>
      <p:sp>
        <p:nvSpPr>
          <p:cNvPr id="15" name="Rectangle 14"/>
          <p:cNvSpPr/>
          <p:nvPr/>
        </p:nvSpPr>
        <p:spPr>
          <a:xfrm>
            <a:off x="6035040" y="2468880"/>
            <a:ext cx="2651760" cy="1344168"/>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172200" y="2743200"/>
            <a:ext cx="2377440" cy="822960"/>
          </a:xfrm>
          <a:prstGeom prst="rect">
            <a:avLst/>
          </a:prstGeom>
          <a:noFill/>
        </p:spPr>
        <p:txBody>
          <a:bodyPr wrap="square" anchor="t" lIns="0" rIns="0" tIns="0" bIns="0">
            <a:spAutoFit/>
          </a:bodyPr>
          <a:lstStyle/>
          <a:p>
            <a:pPr algn="ctr">
              <a:spcAft>
                <a:spcPts val="400"/>
              </a:spcAft>
            </a:pPr>
            <a:r>
              <a:rPr sz="1500" b="1" i="0">
                <a:solidFill>
                  <a:srgbClr val="575756"/>
                </a:solidFill>
              </a:rPr>
              <a:t>Right and faithful</a:t>
            </a:r>
          </a:p>
          <a:p>
            <a:pPr algn="ctr">
              <a:spcAft>
                <a:spcPts val="400"/>
              </a:spcAft>
            </a:pPr>
            <a:r>
              <a:rPr sz="1200" b="0" i="1">
                <a:solidFill>
                  <a:srgbClr val="575756"/>
                </a:solidFill>
              </a:rPr>
              <a:t>expected</a:t>
            </a:r>
          </a:p>
        </p:txBody>
      </p:sp>
      <p:sp>
        <p:nvSpPr>
          <p:cNvPr id="17" name="Rectangle 16"/>
          <p:cNvSpPr/>
          <p:nvPr/>
        </p:nvSpPr>
        <p:spPr>
          <a:xfrm>
            <a:off x="8823959" y="2468880"/>
            <a:ext cx="2651760" cy="1344168"/>
          </a:xfrm>
          <a:prstGeom prst="rect">
            <a:avLst/>
          </a:prstGeom>
          <a:solidFill>
            <a:srgbClr val="FBE4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961119" y="2743200"/>
            <a:ext cx="2377440" cy="822960"/>
          </a:xfrm>
          <a:prstGeom prst="rect">
            <a:avLst/>
          </a:prstGeom>
          <a:noFill/>
        </p:spPr>
        <p:txBody>
          <a:bodyPr wrap="square" anchor="t" lIns="0" rIns="0" tIns="0" bIns="0">
            <a:spAutoFit/>
          </a:bodyPr>
          <a:lstStyle/>
          <a:p>
            <a:pPr algn="ctr">
              <a:spcAft>
                <a:spcPts val="400"/>
              </a:spcAft>
            </a:pPr>
            <a:r>
              <a:rPr sz="1500" b="1" i="0">
                <a:solidFill>
                  <a:srgbClr val="DF4807"/>
                </a:solidFill>
              </a:rPr>
              <a:t>Right but unfaithful</a:t>
            </a:r>
          </a:p>
          <a:p>
            <a:pPr algn="ctr">
              <a:spcAft>
                <a:spcPts val="400"/>
              </a:spcAft>
            </a:pPr>
            <a:r>
              <a:rPr sz="1200" b="0" i="1">
                <a:solidFill>
                  <a:srgbClr val="DF4807"/>
                </a:solidFill>
              </a:rPr>
              <a:t>finding</a:t>
            </a:r>
          </a:p>
        </p:txBody>
      </p:sp>
      <p:sp>
        <p:nvSpPr>
          <p:cNvPr id="19" name="Rectangle 18"/>
          <p:cNvSpPr/>
          <p:nvPr/>
        </p:nvSpPr>
        <p:spPr>
          <a:xfrm>
            <a:off x="6035040" y="3950208"/>
            <a:ext cx="2651760" cy="1344168"/>
          </a:xfrm>
          <a:prstGeom prst="rect">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172200" y="4224528"/>
            <a:ext cx="2377440" cy="822960"/>
          </a:xfrm>
          <a:prstGeom prst="rect">
            <a:avLst/>
          </a:prstGeom>
          <a:noFill/>
        </p:spPr>
        <p:txBody>
          <a:bodyPr wrap="square" anchor="t" lIns="0" rIns="0" tIns="0" bIns="0">
            <a:spAutoFit/>
          </a:bodyPr>
          <a:lstStyle/>
          <a:p>
            <a:pPr algn="ctr">
              <a:spcAft>
                <a:spcPts val="400"/>
              </a:spcAft>
            </a:pPr>
            <a:r>
              <a:rPr sz="1500" b="1" i="0">
                <a:solidFill>
                  <a:srgbClr val="FFFFFF"/>
                </a:solidFill>
              </a:rPr>
              <a:t>Faithful but wrong</a:t>
            </a:r>
          </a:p>
          <a:p>
            <a:pPr algn="ctr">
              <a:spcAft>
                <a:spcPts val="400"/>
              </a:spcAft>
            </a:pPr>
            <a:r>
              <a:rPr sz="1200" b="0" i="1">
                <a:solidFill>
                  <a:srgbClr val="FFFFFF"/>
                </a:solidFill>
              </a:rPr>
              <a:t>headline finding</a:t>
            </a:r>
          </a:p>
        </p:txBody>
      </p:sp>
      <p:sp>
        <p:nvSpPr>
          <p:cNvPr id="21" name="Rectangle 20"/>
          <p:cNvSpPr/>
          <p:nvPr/>
        </p:nvSpPr>
        <p:spPr>
          <a:xfrm>
            <a:off x="8823959" y="3950208"/>
            <a:ext cx="2651760" cy="1344168"/>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961119" y="4224528"/>
            <a:ext cx="2377440" cy="822960"/>
          </a:xfrm>
          <a:prstGeom prst="rect">
            <a:avLst/>
          </a:prstGeom>
          <a:noFill/>
        </p:spPr>
        <p:txBody>
          <a:bodyPr wrap="square" anchor="t" lIns="0" rIns="0" tIns="0" bIns="0">
            <a:spAutoFit/>
          </a:bodyPr>
          <a:lstStyle/>
          <a:p>
            <a:pPr algn="ctr">
              <a:spcAft>
                <a:spcPts val="400"/>
              </a:spcAft>
            </a:pPr>
            <a:r>
              <a:rPr sz="1500" b="1" i="0">
                <a:solidFill>
                  <a:srgbClr val="575756"/>
                </a:solidFill>
              </a:rPr>
              <a:t>Wrong and unfaithful</a:t>
            </a:r>
          </a:p>
          <a:p>
            <a:pPr algn="ctr">
              <a:spcAft>
                <a:spcPts val="400"/>
              </a:spcAft>
            </a:pPr>
            <a:r>
              <a:rPr sz="1200" b="0" i="1">
                <a:solidFill>
                  <a:srgbClr val="575756"/>
                </a:solidFill>
              </a:rPr>
              <a:t>expected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task: Article 6 high-risk classification</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1155680" cy="365760"/>
          </a:xfrm>
          <a:prstGeom prst="rect">
            <a:avLst/>
          </a:prstGeom>
          <a:noFill/>
        </p:spPr>
        <p:txBody>
          <a:bodyPr wrap="square" anchor="t" lIns="0" rIns="0" tIns="0" bIns="0">
            <a:spAutoFit/>
          </a:bodyPr>
          <a:lstStyle/>
          <a:p>
            <a:pPr algn="l">
              <a:spcAft>
                <a:spcPts val="400"/>
              </a:spcAft>
            </a:pPr>
            <a:r>
              <a:rPr sz="1600" b="0" i="0">
                <a:solidFill>
                  <a:srgbClr val="575756"/>
                </a:solidFill>
              </a:rPr>
              <a:t>Annex III route of the EU AI Act, including the Article 6(3) filter</a:t>
            </a:r>
          </a:p>
        </p:txBody>
      </p:sp>
      <p:sp>
        <p:nvSpPr>
          <p:cNvPr id="8" name="Rectangle 7"/>
          <p:cNvSpPr/>
          <p:nvPr/>
        </p:nvSpPr>
        <p:spPr>
          <a:xfrm>
            <a:off x="356616" y="1920240"/>
            <a:ext cx="2606040" cy="251460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39496" y="210312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1</a:t>
            </a:r>
          </a:p>
        </p:txBody>
      </p:sp>
      <p:sp>
        <p:nvSpPr>
          <p:cNvPr id="10" name="TextBox 9"/>
          <p:cNvSpPr txBox="1"/>
          <p:nvPr/>
        </p:nvSpPr>
        <p:spPr>
          <a:xfrm>
            <a:off x="539496" y="2651760"/>
            <a:ext cx="2240280" cy="411480"/>
          </a:xfrm>
          <a:prstGeom prst="rect">
            <a:avLst/>
          </a:prstGeom>
          <a:noFill/>
        </p:spPr>
        <p:txBody>
          <a:bodyPr wrap="square" anchor="t" lIns="0" rIns="0" tIns="0" bIns="0">
            <a:spAutoFit/>
          </a:bodyPr>
          <a:lstStyle/>
          <a:p>
            <a:pPr algn="l">
              <a:spcAft>
                <a:spcPts val="400"/>
              </a:spcAft>
            </a:pPr>
            <a:r>
              <a:rPr sz="1600" b="1" i="0">
                <a:solidFill>
                  <a:srgbClr val="DF4807"/>
                </a:solidFill>
              </a:rPr>
              <a:t>Intended purpose</a:t>
            </a:r>
          </a:p>
        </p:txBody>
      </p:sp>
      <p:sp>
        <p:nvSpPr>
          <p:cNvPr id="11" name="TextBox 10"/>
          <p:cNvSpPr txBox="1"/>
          <p:nvPr/>
        </p:nvSpPr>
        <p:spPr>
          <a:xfrm>
            <a:off x="539496" y="3108960"/>
            <a:ext cx="2240280" cy="1280160"/>
          </a:xfrm>
          <a:prstGeom prst="rect">
            <a:avLst/>
          </a:prstGeom>
          <a:noFill/>
        </p:spPr>
        <p:txBody>
          <a:bodyPr wrap="square" anchor="t" lIns="0" rIns="0" tIns="0" bIns="0">
            <a:spAutoFit/>
          </a:bodyPr>
          <a:lstStyle/>
          <a:p>
            <a:pPr algn="l">
              <a:spcAft>
                <a:spcPts val="400"/>
              </a:spcAft>
            </a:pPr>
            <a:r>
              <a:rPr sz="1250" b="0" i="0">
                <a:solidFill>
                  <a:srgbClr val="575756"/>
                </a:solidFill>
              </a:rPr>
              <a:t>What does the system do, for whom, with which data?</a:t>
            </a:r>
          </a:p>
        </p:txBody>
      </p:sp>
      <p:sp>
        <p:nvSpPr>
          <p:cNvPr id="12" name="Rectangle 11"/>
          <p:cNvSpPr/>
          <p:nvPr/>
        </p:nvSpPr>
        <p:spPr>
          <a:xfrm>
            <a:off x="3209544" y="1920240"/>
            <a:ext cx="2606040" cy="251460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3392424" y="210312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2</a:t>
            </a:r>
          </a:p>
        </p:txBody>
      </p:sp>
      <p:sp>
        <p:nvSpPr>
          <p:cNvPr id="14" name="TextBox 13"/>
          <p:cNvSpPr txBox="1"/>
          <p:nvPr/>
        </p:nvSpPr>
        <p:spPr>
          <a:xfrm>
            <a:off x="3392424" y="2651760"/>
            <a:ext cx="2240280" cy="411480"/>
          </a:xfrm>
          <a:prstGeom prst="rect">
            <a:avLst/>
          </a:prstGeom>
          <a:noFill/>
        </p:spPr>
        <p:txBody>
          <a:bodyPr wrap="square" anchor="t" lIns="0" rIns="0" tIns="0" bIns="0">
            <a:spAutoFit/>
          </a:bodyPr>
          <a:lstStyle/>
          <a:p>
            <a:pPr algn="l">
              <a:spcAft>
                <a:spcPts val="400"/>
              </a:spcAft>
            </a:pPr>
            <a:r>
              <a:rPr sz="1600" b="1" i="0">
                <a:solidFill>
                  <a:srgbClr val="DF4807"/>
                </a:solidFill>
              </a:rPr>
              <a:t>Annex III use case?</a:t>
            </a:r>
          </a:p>
        </p:txBody>
      </p:sp>
      <p:sp>
        <p:nvSpPr>
          <p:cNvPr id="15" name="TextBox 14"/>
          <p:cNvSpPr txBox="1"/>
          <p:nvPr/>
        </p:nvSpPr>
        <p:spPr>
          <a:xfrm>
            <a:off x="3392424" y="3108960"/>
            <a:ext cx="2240280" cy="1280160"/>
          </a:xfrm>
          <a:prstGeom prst="rect">
            <a:avLst/>
          </a:prstGeom>
          <a:noFill/>
        </p:spPr>
        <p:txBody>
          <a:bodyPr wrap="square" anchor="t" lIns="0" rIns="0" tIns="0" bIns="0">
            <a:spAutoFit/>
          </a:bodyPr>
          <a:lstStyle/>
          <a:p>
            <a:pPr algn="l">
              <a:spcAft>
                <a:spcPts val="400"/>
              </a:spcAft>
            </a:pPr>
            <a:r>
              <a:rPr sz="1250" b="0" i="0">
                <a:solidFill>
                  <a:srgbClr val="575756"/>
                </a:solidFill>
              </a:rPr>
              <a:t>Eight areas: biometrics, critical infrastructure, education, employment, essential services, law enforcement, migration, justice and democracy</a:t>
            </a:r>
          </a:p>
        </p:txBody>
      </p:sp>
      <p:sp>
        <p:nvSpPr>
          <p:cNvPr id="16" name="Rectangle 15"/>
          <p:cNvSpPr/>
          <p:nvPr/>
        </p:nvSpPr>
        <p:spPr>
          <a:xfrm>
            <a:off x="6062472" y="1920240"/>
            <a:ext cx="2606040" cy="251460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245352" y="210312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3</a:t>
            </a:r>
          </a:p>
        </p:txBody>
      </p:sp>
      <p:sp>
        <p:nvSpPr>
          <p:cNvPr id="18" name="TextBox 17"/>
          <p:cNvSpPr txBox="1"/>
          <p:nvPr/>
        </p:nvSpPr>
        <p:spPr>
          <a:xfrm>
            <a:off x="6245352" y="2651760"/>
            <a:ext cx="2240280" cy="411480"/>
          </a:xfrm>
          <a:prstGeom prst="rect">
            <a:avLst/>
          </a:prstGeom>
          <a:noFill/>
        </p:spPr>
        <p:txBody>
          <a:bodyPr wrap="square" anchor="t" lIns="0" rIns="0" tIns="0" bIns="0">
            <a:spAutoFit/>
          </a:bodyPr>
          <a:lstStyle/>
          <a:p>
            <a:pPr algn="l">
              <a:spcAft>
                <a:spcPts val="400"/>
              </a:spcAft>
            </a:pPr>
            <a:r>
              <a:rPr sz="1600" b="1" i="0">
                <a:solidFill>
                  <a:srgbClr val="DF4807"/>
                </a:solidFill>
              </a:rPr>
              <a:t>Article 6(3) filter</a:t>
            </a:r>
          </a:p>
        </p:txBody>
      </p:sp>
      <p:sp>
        <p:nvSpPr>
          <p:cNvPr id="19" name="TextBox 18"/>
          <p:cNvSpPr txBox="1"/>
          <p:nvPr/>
        </p:nvSpPr>
        <p:spPr>
          <a:xfrm>
            <a:off x="6245352" y="3108960"/>
            <a:ext cx="2240280" cy="1280160"/>
          </a:xfrm>
          <a:prstGeom prst="rect">
            <a:avLst/>
          </a:prstGeom>
          <a:noFill/>
        </p:spPr>
        <p:txBody>
          <a:bodyPr wrap="square" anchor="t" lIns="0" rIns="0" tIns="0" bIns="0">
            <a:spAutoFit/>
          </a:bodyPr>
          <a:lstStyle/>
          <a:p>
            <a:pPr algn="l">
              <a:spcAft>
                <a:spcPts val="400"/>
              </a:spcAft>
            </a:pPr>
            <a:r>
              <a:rPr sz="1250" b="0" i="0">
                <a:solidFill>
                  <a:srgbClr val="575756"/>
                </a:solidFill>
              </a:rPr>
              <a:t>Out again if only a narrow procedural or preparatory task, or improving completed human work. Profiling always stays high-risk.</a:t>
            </a:r>
          </a:p>
        </p:txBody>
      </p:sp>
      <p:sp>
        <p:nvSpPr>
          <p:cNvPr id="20" name="Rectangle 19"/>
          <p:cNvSpPr/>
          <p:nvPr/>
        </p:nvSpPr>
        <p:spPr>
          <a:xfrm>
            <a:off x="8915400" y="1920240"/>
            <a:ext cx="2606040" cy="251460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098280" y="210312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4</a:t>
            </a:r>
          </a:p>
        </p:txBody>
      </p:sp>
      <p:sp>
        <p:nvSpPr>
          <p:cNvPr id="22" name="TextBox 21"/>
          <p:cNvSpPr txBox="1"/>
          <p:nvPr/>
        </p:nvSpPr>
        <p:spPr>
          <a:xfrm>
            <a:off x="9098280" y="2651760"/>
            <a:ext cx="2240280" cy="411480"/>
          </a:xfrm>
          <a:prstGeom prst="rect">
            <a:avLst/>
          </a:prstGeom>
          <a:noFill/>
        </p:spPr>
        <p:txBody>
          <a:bodyPr wrap="square" anchor="t" lIns="0" rIns="0" tIns="0" bIns="0">
            <a:spAutoFit/>
          </a:bodyPr>
          <a:lstStyle/>
          <a:p>
            <a:pPr algn="l">
              <a:spcAft>
                <a:spcPts val="400"/>
              </a:spcAft>
            </a:pPr>
            <a:r>
              <a:rPr sz="1600" b="1" i="0">
                <a:solidFill>
                  <a:srgbClr val="DF4807"/>
                </a:solidFill>
              </a:rPr>
              <a:t>Label</a:t>
            </a:r>
          </a:p>
        </p:txBody>
      </p:sp>
      <p:sp>
        <p:nvSpPr>
          <p:cNvPr id="23" name="TextBox 22"/>
          <p:cNvSpPr txBox="1"/>
          <p:nvPr/>
        </p:nvSpPr>
        <p:spPr>
          <a:xfrm>
            <a:off x="9098280" y="3108960"/>
            <a:ext cx="2240280" cy="1280160"/>
          </a:xfrm>
          <a:prstGeom prst="rect">
            <a:avLst/>
          </a:prstGeom>
          <a:noFill/>
        </p:spPr>
        <p:txBody>
          <a:bodyPr wrap="square" anchor="t" lIns="0" rIns="0" tIns="0" bIns="0">
            <a:spAutoFit/>
          </a:bodyPr>
          <a:lstStyle/>
          <a:p>
            <a:pPr algn="l">
              <a:spcAft>
                <a:spcPts val="400"/>
              </a:spcAft>
            </a:pPr>
            <a:r>
              <a:rPr sz="1250" b="0" i="0">
                <a:solidFill>
                  <a:srgbClr val="575756"/>
                </a:solidFill>
              </a:rPr>
              <a:t>high-risk or not-high-risk, with an explanation</a:t>
            </a:r>
          </a:p>
        </p:txBody>
      </p:sp>
      <p:sp>
        <p:nvSpPr>
          <p:cNvPr id="24" name="Rectangle 23"/>
          <p:cNvSpPr/>
          <p:nvPr/>
        </p:nvSpPr>
        <p:spPr>
          <a:xfrm>
            <a:off x="356616" y="4709160"/>
            <a:ext cx="11155680" cy="1234440"/>
          </a:xfrm>
          <a:prstGeom prst="rect">
            <a:avLst/>
          </a:prstGeom>
          <a:solidFill>
            <a:srgbClr val="FBE4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48640" y="4846320"/>
            <a:ext cx="10789920" cy="1005840"/>
          </a:xfrm>
          <a:prstGeom prst="rect">
            <a:avLst/>
          </a:prstGeom>
          <a:noFill/>
        </p:spPr>
        <p:txBody>
          <a:bodyPr wrap="square" anchor="t" lIns="0" rIns="0" tIns="0" bIns="0">
            <a:spAutoFit/>
          </a:bodyPr>
          <a:lstStyle/>
          <a:p>
            <a:pPr algn="l">
              <a:spcAft>
                <a:spcPts val="0"/>
              </a:spcAft>
            </a:pPr>
            <a:r>
              <a:rPr sz="1400" b="1" i="0">
                <a:solidFill>
                  <a:srgbClr val="DF4807"/>
                </a:solidFill>
              </a:rPr>
              <a:t>Ground truth: </a:t>
            </a:r>
          </a:p>
          <a:p>
            <a:pPr algn="l">
              <a:spcAft>
                <a:spcPts val="0"/>
              </a:spcAft>
            </a:pPr>
            <a:r>
              <a:rPr sz="1400" b="0" i="0">
                <a:solidFill>
                  <a:srgbClr val="575756"/>
                </a:solidFill>
              </a:rPr>
              <a:t>the European Commission's draft guidelines on Annex III (19 May 2026, frozen). Every worked example ends in an authoritative verdict, so each test input has one known correct answer. Article 6(1) product safety is out of scope.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and method</a:t>
            </a:r>
          </a:p>
        </p:txBody>
      </p:sp>
      <p:sp>
        <p:nvSpPr>
          <p:cNvPr id="3" name="Text Placeholder 2"/>
          <p:cNvSpPr>
            <a:spLocks noGrp="1"/>
          </p:cNvSpPr>
          <p:nvPr>
            <p:ph type="body" idx="1"/>
          </p:nvPr>
        </p:nvSpPr>
        <p:spPr/>
        <p:txBody>
          <a:bodyPr/>
          <a:lstStyle/>
          <a:p>
            <a:r>
              <a:t>02</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 set: 215 inputs with official labels</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7315200" cy="365760"/>
          </a:xfrm>
          <a:prstGeom prst="rect">
            <a:avLst/>
          </a:prstGeom>
          <a:noFill/>
        </p:spPr>
        <p:txBody>
          <a:bodyPr wrap="square" anchor="t" lIns="0" rIns="0" tIns="0" bIns="0">
            <a:spAutoFit/>
          </a:bodyPr>
          <a:lstStyle/>
          <a:p>
            <a:pPr algn="l">
              <a:spcAft>
                <a:spcPts val="400"/>
              </a:spcAft>
            </a:pPr>
            <a:r>
              <a:rPr sz="1600" b="0" i="0">
                <a:solidFill>
                  <a:srgbClr val="575756"/>
                </a:solidFill>
              </a:rPr>
              <a:t>Extracted from the worked examples; all eight Annex III areas covered</a:t>
            </a:r>
          </a:p>
        </p:txBody>
      </p:sp>
      <p:graphicFrame>
        <p:nvGraphicFramePr>
          <p:cNvPr id="8" name="Chart 7"/>
          <p:cNvGraphicFramePr>
            <a:graphicFrameLocks noGrp="1"/>
          </p:cNvGraphicFramePr>
          <p:nvPr/>
        </p:nvGraphicFramePr>
        <p:xfrm>
          <a:off x="356616" y="1828800"/>
          <a:ext cx="7498079" cy="4297680"/>
        </p:xfrm>
        <a:graphic>
          <a:graphicData uri="http://schemas.openxmlformats.org/drawingml/2006/chart">
            <c:chart xmlns:c="http://schemas.openxmlformats.org/drawingml/2006/chart" r:id="rId3"/>
          </a:graphicData>
        </a:graphic>
      </p:graphicFrame>
      <p:sp>
        <p:nvSpPr>
          <p:cNvPr id="9" name="TextBox 8"/>
          <p:cNvSpPr txBox="1"/>
          <p:nvPr/>
        </p:nvSpPr>
        <p:spPr>
          <a:xfrm>
            <a:off x="8412480" y="1920240"/>
            <a:ext cx="3108960" cy="594360"/>
          </a:xfrm>
          <a:prstGeom prst="rect">
            <a:avLst/>
          </a:prstGeom>
          <a:noFill/>
        </p:spPr>
        <p:txBody>
          <a:bodyPr wrap="square" anchor="t" lIns="0" rIns="0" tIns="0" bIns="0">
            <a:spAutoFit/>
          </a:bodyPr>
          <a:lstStyle/>
          <a:p>
            <a:pPr algn="l">
              <a:spcAft>
                <a:spcPts val="400"/>
              </a:spcAft>
            </a:pPr>
            <a:r>
              <a:rPr sz="3400" b="1" i="0">
                <a:solidFill>
                  <a:srgbClr val="DF4807"/>
                </a:solidFill>
              </a:rPr>
              <a:t>215</a:t>
            </a:r>
          </a:p>
        </p:txBody>
      </p:sp>
      <p:sp>
        <p:nvSpPr>
          <p:cNvPr id="10" name="TextBox 9"/>
          <p:cNvSpPr txBox="1"/>
          <p:nvPr/>
        </p:nvSpPr>
        <p:spPr>
          <a:xfrm>
            <a:off x="8412480" y="2542032"/>
            <a:ext cx="3108960" cy="685800"/>
          </a:xfrm>
          <a:prstGeom prst="rect">
            <a:avLst/>
          </a:prstGeom>
          <a:noFill/>
        </p:spPr>
        <p:txBody>
          <a:bodyPr wrap="square" anchor="t" lIns="0" rIns="0" tIns="0" bIns="0">
            <a:spAutoFit/>
          </a:bodyPr>
          <a:lstStyle/>
          <a:p>
            <a:pPr algn="l">
              <a:spcAft>
                <a:spcPts val="400"/>
              </a:spcAft>
            </a:pPr>
            <a:r>
              <a:rPr sz="1200" b="0" i="0">
                <a:solidFill>
                  <a:srgbClr val="575756"/>
                </a:solidFill>
              </a:rPr>
              <a:t>test inputs, one gold label each</a:t>
            </a:r>
          </a:p>
        </p:txBody>
      </p:sp>
      <p:sp>
        <p:nvSpPr>
          <p:cNvPr id="11" name="TextBox 10"/>
          <p:cNvSpPr txBox="1"/>
          <p:nvPr/>
        </p:nvSpPr>
        <p:spPr>
          <a:xfrm>
            <a:off x="8412480" y="3291840"/>
            <a:ext cx="3108960" cy="594360"/>
          </a:xfrm>
          <a:prstGeom prst="rect">
            <a:avLst/>
          </a:prstGeom>
          <a:noFill/>
        </p:spPr>
        <p:txBody>
          <a:bodyPr wrap="square" anchor="t" lIns="0" rIns="0" tIns="0" bIns="0">
            <a:spAutoFit/>
          </a:bodyPr>
          <a:lstStyle/>
          <a:p>
            <a:pPr algn="l">
              <a:spcAft>
                <a:spcPts val="400"/>
              </a:spcAft>
            </a:pPr>
            <a:r>
              <a:rPr sz="3400" b="1" i="0">
                <a:solidFill>
                  <a:srgbClr val="DF4807"/>
                </a:solidFill>
              </a:rPr>
              <a:t>66 / 149</a:t>
            </a:r>
          </a:p>
        </p:txBody>
      </p:sp>
      <p:sp>
        <p:nvSpPr>
          <p:cNvPr id="12" name="TextBox 11"/>
          <p:cNvSpPr txBox="1"/>
          <p:nvPr/>
        </p:nvSpPr>
        <p:spPr>
          <a:xfrm>
            <a:off x="8412480" y="3913632"/>
            <a:ext cx="3108960" cy="685800"/>
          </a:xfrm>
          <a:prstGeom prst="rect">
            <a:avLst/>
          </a:prstGeom>
          <a:noFill/>
        </p:spPr>
        <p:txBody>
          <a:bodyPr wrap="square" anchor="t" lIns="0" rIns="0" tIns="0" bIns="0">
            <a:spAutoFit/>
          </a:bodyPr>
          <a:lstStyle/>
          <a:p>
            <a:pPr algn="l">
              <a:spcAft>
                <a:spcPts val="400"/>
              </a:spcAft>
            </a:pPr>
            <a:r>
              <a:rPr sz="1200" b="0" i="0">
                <a:solidFill>
                  <a:srgbClr val="575756"/>
                </a:solidFill>
              </a:rPr>
              <a:t>high-risk / not high-risk (31% / 69%)</a:t>
            </a:r>
          </a:p>
        </p:txBody>
      </p:sp>
      <p:sp>
        <p:nvSpPr>
          <p:cNvPr id="13" name="TextBox 12"/>
          <p:cNvSpPr txBox="1"/>
          <p:nvPr/>
        </p:nvSpPr>
        <p:spPr>
          <a:xfrm>
            <a:off x="8412480" y="4663440"/>
            <a:ext cx="3108960" cy="594360"/>
          </a:xfrm>
          <a:prstGeom prst="rect">
            <a:avLst/>
          </a:prstGeom>
          <a:noFill/>
        </p:spPr>
        <p:txBody>
          <a:bodyPr wrap="square" anchor="t" lIns="0" rIns="0" tIns="0" bIns="0">
            <a:spAutoFit/>
          </a:bodyPr>
          <a:lstStyle/>
          <a:p>
            <a:pPr algn="l">
              <a:spcAft>
                <a:spcPts val="400"/>
              </a:spcAft>
            </a:pPr>
            <a:r>
              <a:rPr sz="3400" b="1" i="0">
                <a:solidFill>
                  <a:srgbClr val="DF4807"/>
                </a:solidFill>
              </a:rPr>
              <a:t>41</a:t>
            </a:r>
          </a:p>
        </p:txBody>
      </p:sp>
      <p:sp>
        <p:nvSpPr>
          <p:cNvPr id="14" name="TextBox 13"/>
          <p:cNvSpPr txBox="1"/>
          <p:nvPr/>
        </p:nvSpPr>
        <p:spPr>
          <a:xfrm>
            <a:off x="8412480" y="5285231"/>
            <a:ext cx="3108960" cy="685800"/>
          </a:xfrm>
          <a:prstGeom prst="rect">
            <a:avLst/>
          </a:prstGeom>
          <a:noFill/>
        </p:spPr>
        <p:txBody>
          <a:bodyPr wrap="square" anchor="t" lIns="0" rIns="0" tIns="0" bIns="0">
            <a:spAutoFit/>
          </a:bodyPr>
          <a:lstStyle/>
          <a:p>
            <a:pPr algn="l">
              <a:spcAft>
                <a:spcPts val="400"/>
              </a:spcAft>
            </a:pPr>
            <a:r>
              <a:rPr sz="1200" b="0" i="0">
                <a:solidFill>
                  <a:srgbClr val="575756"/>
                </a:solidFill>
              </a:rPr>
              <a:t>Article 6(3) filter cases, all not high-risk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Evaluation framework</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pic>
        <p:nvPicPr>
          <p:cNvPr id="7" name="Picture 6" descr="arch_detailed.png"/>
          <p:cNvPicPr>
            <a:picLocks noChangeAspect="1"/>
          </p:cNvPicPr>
          <p:nvPr/>
        </p:nvPicPr>
        <p:blipFill>
          <a:blip r:embed="rId3"/>
          <a:stretch>
            <a:fillRect/>
          </a:stretch>
        </p:blipFill>
        <p:spPr>
          <a:xfrm>
            <a:off x="356616" y="1280160"/>
            <a:ext cx="3872923" cy="4892040"/>
          </a:xfrm>
          <a:prstGeom prst="rect">
            <a:avLst/>
          </a:prstGeom>
        </p:spPr>
      </p:pic>
      <p:sp>
        <p:nvSpPr>
          <p:cNvPr id="8" name="Oval 7"/>
          <p:cNvSpPr/>
          <p:nvPr/>
        </p:nvSpPr>
        <p:spPr>
          <a:xfrm>
            <a:off x="4572000" y="137160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1</a:t>
            </a:r>
          </a:p>
        </p:txBody>
      </p:sp>
      <p:sp>
        <p:nvSpPr>
          <p:cNvPr id="9" name="TextBox 8"/>
          <p:cNvSpPr txBox="1"/>
          <p:nvPr/>
        </p:nvSpPr>
        <p:spPr>
          <a:xfrm>
            <a:off x="5120640" y="1353312"/>
            <a:ext cx="6400800" cy="365760"/>
          </a:xfrm>
          <a:prstGeom prst="rect">
            <a:avLst/>
          </a:prstGeom>
          <a:noFill/>
        </p:spPr>
        <p:txBody>
          <a:bodyPr wrap="square" anchor="t" lIns="0" rIns="0" tIns="0" bIns="0">
            <a:spAutoFit/>
          </a:bodyPr>
          <a:lstStyle/>
          <a:p>
            <a:pPr algn="l">
              <a:spcAft>
                <a:spcPts val="400"/>
              </a:spcAft>
            </a:pPr>
            <a:r>
              <a:rPr sz="1600" b="1" i="0">
                <a:solidFill>
                  <a:srgbClr val="DF4807"/>
                </a:solidFill>
              </a:rPr>
              <a:t>Source split</a:t>
            </a:r>
          </a:p>
        </p:txBody>
      </p:sp>
      <p:sp>
        <p:nvSpPr>
          <p:cNvPr id="10" name="TextBox 9"/>
          <p:cNvSpPr txBox="1"/>
          <p:nvPr/>
        </p:nvSpPr>
        <p:spPr>
          <a:xfrm>
            <a:off x="5120640" y="1737360"/>
            <a:ext cx="6400800" cy="777240"/>
          </a:xfrm>
          <a:prstGeom prst="rect">
            <a:avLst/>
          </a:prstGeom>
          <a:noFill/>
        </p:spPr>
        <p:txBody>
          <a:bodyPr wrap="square" anchor="t" lIns="0" rIns="0" tIns="0" bIns="0">
            <a:spAutoFit/>
          </a:bodyPr>
          <a:lstStyle/>
          <a:p>
            <a:pPr algn="l">
              <a:spcAft>
                <a:spcPts val="400"/>
              </a:spcAft>
            </a:pPr>
            <a:r>
              <a:rPr sz="1300" b="0" i="0">
                <a:solidFill>
                  <a:srgbClr val="575756"/>
                </a:solidFill>
              </a:rPr>
              <a:t>Worked examples become the test set; only normative text (400 chunks) goes into the retrieval corpus, so labels cannot leak through retrieval.</a:t>
            </a:r>
          </a:p>
        </p:txBody>
      </p:sp>
      <p:sp>
        <p:nvSpPr>
          <p:cNvPr id="11" name="Oval 10"/>
          <p:cNvSpPr/>
          <p:nvPr/>
        </p:nvSpPr>
        <p:spPr>
          <a:xfrm>
            <a:off x="4572000" y="256032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2</a:t>
            </a:r>
          </a:p>
        </p:txBody>
      </p:sp>
      <p:sp>
        <p:nvSpPr>
          <p:cNvPr id="12" name="TextBox 11"/>
          <p:cNvSpPr txBox="1"/>
          <p:nvPr/>
        </p:nvSpPr>
        <p:spPr>
          <a:xfrm>
            <a:off x="5120640" y="2542032"/>
            <a:ext cx="6400800" cy="365760"/>
          </a:xfrm>
          <a:prstGeom prst="rect">
            <a:avLst/>
          </a:prstGeom>
          <a:noFill/>
        </p:spPr>
        <p:txBody>
          <a:bodyPr wrap="square" anchor="t" lIns="0" rIns="0" tIns="0" bIns="0">
            <a:spAutoFit/>
          </a:bodyPr>
          <a:lstStyle/>
          <a:p>
            <a:pPr algn="l">
              <a:spcAft>
                <a:spcPts val="400"/>
              </a:spcAft>
            </a:pPr>
            <a:r>
              <a:rPr sz="1600" b="1" i="0">
                <a:solidFill>
                  <a:srgbClr val="DF4807"/>
                </a:solidFill>
              </a:rPr>
              <a:t>Three systems, one generator</a:t>
            </a:r>
          </a:p>
        </p:txBody>
      </p:sp>
      <p:sp>
        <p:nvSpPr>
          <p:cNvPr id="13" name="TextBox 12"/>
          <p:cNvSpPr txBox="1"/>
          <p:nvPr/>
        </p:nvSpPr>
        <p:spPr>
          <a:xfrm>
            <a:off x="5120640" y="2926079"/>
            <a:ext cx="6400800" cy="777240"/>
          </a:xfrm>
          <a:prstGeom prst="rect">
            <a:avLst/>
          </a:prstGeom>
          <a:noFill/>
        </p:spPr>
        <p:txBody>
          <a:bodyPr wrap="square" anchor="t" lIns="0" rIns="0" tIns="0" bIns="0">
            <a:spAutoFit/>
          </a:bodyPr>
          <a:lstStyle/>
          <a:p>
            <a:pPr algn="l">
              <a:spcAft>
                <a:spcPts val="400"/>
              </a:spcAft>
            </a:pPr>
            <a:r>
              <a:rPr sz="1300" b="0" i="0">
                <a:solidFill>
                  <a:srgbClr val="575756"/>
                </a:solidFill>
              </a:rPr>
              <a:t>phi-4 (14B) for all: plain LLM with no retrieval; standard RAG with top 5 passages (hybrid BM25 + dense) and a generic prompt; agent with the same passages and a prompt that walks the legal test step by step.</a:t>
            </a:r>
          </a:p>
        </p:txBody>
      </p:sp>
      <p:sp>
        <p:nvSpPr>
          <p:cNvPr id="14" name="Oval 13"/>
          <p:cNvSpPr/>
          <p:nvPr/>
        </p:nvSpPr>
        <p:spPr>
          <a:xfrm>
            <a:off x="4572000" y="3749039"/>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3</a:t>
            </a:r>
          </a:p>
        </p:txBody>
      </p:sp>
      <p:sp>
        <p:nvSpPr>
          <p:cNvPr id="15" name="TextBox 14"/>
          <p:cNvSpPr txBox="1"/>
          <p:nvPr/>
        </p:nvSpPr>
        <p:spPr>
          <a:xfrm>
            <a:off x="5120640" y="3730752"/>
            <a:ext cx="6400800" cy="365760"/>
          </a:xfrm>
          <a:prstGeom prst="rect">
            <a:avLst/>
          </a:prstGeom>
          <a:noFill/>
        </p:spPr>
        <p:txBody>
          <a:bodyPr wrap="square" anchor="t" lIns="0" rIns="0" tIns="0" bIns="0">
            <a:spAutoFit/>
          </a:bodyPr>
          <a:lstStyle/>
          <a:p>
            <a:pPr algn="l">
              <a:spcAft>
                <a:spcPts val="400"/>
              </a:spcAft>
            </a:pPr>
            <a:r>
              <a:rPr sz="1600" b="1" i="0">
                <a:solidFill>
                  <a:srgbClr val="DF4807"/>
                </a:solidFill>
              </a:rPr>
              <a:t>Two independent axes</a:t>
            </a:r>
          </a:p>
        </p:txBody>
      </p:sp>
      <p:sp>
        <p:nvSpPr>
          <p:cNvPr id="16" name="TextBox 15"/>
          <p:cNvSpPr txBox="1"/>
          <p:nvPr/>
        </p:nvSpPr>
        <p:spPr>
          <a:xfrm>
            <a:off x="5120640" y="4114800"/>
            <a:ext cx="6400800" cy="777240"/>
          </a:xfrm>
          <a:prstGeom prst="rect">
            <a:avLst/>
          </a:prstGeom>
          <a:noFill/>
        </p:spPr>
        <p:txBody>
          <a:bodyPr wrap="square" anchor="t" lIns="0" rIns="0" tIns="0" bIns="0">
            <a:spAutoFit/>
          </a:bodyPr>
          <a:lstStyle/>
          <a:p>
            <a:pPr algn="l">
              <a:spcAft>
                <a:spcPts val="400"/>
              </a:spcAft>
            </a:pPr>
            <a:r>
              <a:rPr sz="1300" b="0" i="0">
                <a:solidFill>
                  <a:srgbClr val="575756"/>
                </a:solidFill>
              </a:rPr>
              <a:t>Judge (Qwen2.5-72B, separate model family) scores RAGAS faithfulness; correctness is a plain lookup against the Commission label.</a:t>
            </a:r>
          </a:p>
        </p:txBody>
      </p:sp>
      <p:sp>
        <p:nvSpPr>
          <p:cNvPr id="17" name="Oval 16"/>
          <p:cNvSpPr/>
          <p:nvPr/>
        </p:nvSpPr>
        <p:spPr>
          <a:xfrm>
            <a:off x="4572000" y="493776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4</a:t>
            </a:r>
          </a:p>
        </p:txBody>
      </p:sp>
      <p:sp>
        <p:nvSpPr>
          <p:cNvPr id="18" name="TextBox 17"/>
          <p:cNvSpPr txBox="1"/>
          <p:nvPr/>
        </p:nvSpPr>
        <p:spPr>
          <a:xfrm>
            <a:off x="5120640" y="4919472"/>
            <a:ext cx="6400800" cy="365760"/>
          </a:xfrm>
          <a:prstGeom prst="rect">
            <a:avLst/>
          </a:prstGeom>
          <a:noFill/>
        </p:spPr>
        <p:txBody>
          <a:bodyPr wrap="square" anchor="t" lIns="0" rIns="0" tIns="0" bIns="0">
            <a:spAutoFit/>
          </a:bodyPr>
          <a:lstStyle/>
          <a:p>
            <a:pPr algn="l">
              <a:spcAft>
                <a:spcPts val="400"/>
              </a:spcAft>
            </a:pPr>
            <a:r>
              <a:rPr sz="1600" b="1" i="0">
                <a:solidFill>
                  <a:srgbClr val="DF4807"/>
                </a:solidFill>
              </a:rPr>
              <a:t>Reproducible</a:t>
            </a:r>
          </a:p>
        </p:txBody>
      </p:sp>
      <p:sp>
        <p:nvSpPr>
          <p:cNvPr id="19" name="TextBox 18"/>
          <p:cNvSpPr txBox="1"/>
          <p:nvPr/>
        </p:nvSpPr>
        <p:spPr>
          <a:xfrm>
            <a:off x="5120640" y="5303520"/>
            <a:ext cx="6400800" cy="777240"/>
          </a:xfrm>
          <a:prstGeom prst="rect">
            <a:avLst/>
          </a:prstGeom>
          <a:noFill/>
        </p:spPr>
        <p:txBody>
          <a:bodyPr wrap="square" anchor="t" lIns="0" rIns="0" tIns="0" bIns="0">
            <a:spAutoFit/>
          </a:bodyPr>
          <a:lstStyle/>
          <a:p>
            <a:pPr algn="l">
              <a:spcAft>
                <a:spcPts val="400"/>
              </a:spcAft>
            </a:pPr>
            <a:r>
              <a:rPr sz="1300" b="0" i="0">
                <a:solidFill>
                  <a:srgbClr val="575756"/>
                </a:solidFill>
              </a:rPr>
              <a:t>Local models on the university GPU, pinned revisions, greedy decoding. 645 generations, 0 parse failures, 0 errors.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label leak found and fixed</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0972800" cy="365760"/>
          </a:xfrm>
          <a:prstGeom prst="rect">
            <a:avLst/>
          </a:prstGeom>
          <a:noFill/>
        </p:spPr>
        <p:txBody>
          <a:bodyPr wrap="square" anchor="t" lIns="0" rIns="0" tIns="0" bIns="0">
            <a:spAutoFit/>
          </a:bodyPr>
          <a:lstStyle/>
          <a:p>
            <a:pPr algn="l">
              <a:spcAft>
                <a:spcPts val="400"/>
              </a:spcAft>
            </a:pPr>
            <a:r>
              <a:rPr sz="1600" b="0" i="0">
                <a:solidFill>
                  <a:srgbClr val="575756"/>
                </a:solidFill>
              </a:rPr>
              <a:t>60% of inputs contained the Commission's own verdict (first run, before redaction)</a:t>
            </a:r>
          </a:p>
        </p:txBody>
      </p:sp>
      <p:graphicFrame>
        <p:nvGraphicFramePr>
          <p:cNvPr id="8" name="Chart 7"/>
          <p:cNvGraphicFramePr>
            <a:graphicFrameLocks noGrp="1"/>
          </p:cNvGraphicFramePr>
          <p:nvPr/>
        </p:nvGraphicFramePr>
        <p:xfrm>
          <a:off x="356616" y="1828800"/>
          <a:ext cx="6035040" cy="4297680"/>
        </p:xfrm>
        <a:graphic>
          <a:graphicData uri="http://schemas.openxmlformats.org/drawingml/2006/chart">
            <c:chart xmlns:c="http://schemas.openxmlformats.org/drawingml/2006/chart" r:id="rId3"/>
          </a:graphicData>
        </a:graphic>
      </p:graphicFrame>
      <p:sp>
        <p:nvSpPr>
          <p:cNvPr id="9" name="TextBox 8"/>
          <p:cNvSpPr txBox="1"/>
          <p:nvPr/>
        </p:nvSpPr>
        <p:spPr>
          <a:xfrm>
            <a:off x="6766560" y="1920240"/>
            <a:ext cx="4754880" cy="365760"/>
          </a:xfrm>
          <a:prstGeom prst="rect">
            <a:avLst/>
          </a:prstGeom>
          <a:noFill/>
        </p:spPr>
        <p:txBody>
          <a:bodyPr wrap="square" anchor="t" lIns="0" rIns="0" tIns="0" bIns="0">
            <a:spAutoFit/>
          </a:bodyPr>
          <a:lstStyle/>
          <a:p>
            <a:pPr algn="l">
              <a:spcAft>
                <a:spcPts val="400"/>
              </a:spcAft>
            </a:pPr>
            <a:r>
              <a:rPr sz="1600" b="1" i="0">
                <a:solidFill>
                  <a:srgbClr val="DF4807"/>
                </a:solidFill>
              </a:rPr>
              <a:t>What happened</a:t>
            </a:r>
          </a:p>
        </p:txBody>
      </p:sp>
      <p:sp>
        <p:nvSpPr>
          <p:cNvPr id="10" name="TextBox 9"/>
          <p:cNvSpPr txBox="1"/>
          <p:nvPr/>
        </p:nvSpPr>
        <p:spPr>
          <a:xfrm>
            <a:off x="6766560" y="2331720"/>
            <a:ext cx="4754880" cy="1188720"/>
          </a:xfrm>
          <a:prstGeom prst="rect">
            <a:avLst/>
          </a:prstGeom>
          <a:noFill/>
        </p:spPr>
        <p:txBody>
          <a:bodyPr wrap="square" anchor="t" lIns="0" rIns="0" tIns="0" bIns="0">
            <a:spAutoFit/>
          </a:bodyPr>
          <a:lstStyle/>
          <a:p>
            <a:pPr algn="l">
              <a:spcAft>
                <a:spcPts val="400"/>
              </a:spcAft>
            </a:pPr>
            <a:r>
              <a:rPr sz="1300" b="0" i="0">
                <a:solidFill>
                  <a:srgbClr val="575756"/>
                </a:solidFill>
              </a:rPr>
              <a:t>The extractor kept each example's closing verdict, e.g. "It therefore falls outside the use case of point 4(a)". The plain model was reading the answer.</a:t>
            </a:r>
          </a:p>
        </p:txBody>
      </p:sp>
      <p:sp>
        <p:nvSpPr>
          <p:cNvPr id="11" name="TextBox 10"/>
          <p:cNvSpPr txBox="1"/>
          <p:nvPr/>
        </p:nvSpPr>
        <p:spPr>
          <a:xfrm>
            <a:off x="6766560" y="3520440"/>
            <a:ext cx="4754880" cy="365760"/>
          </a:xfrm>
          <a:prstGeom prst="rect">
            <a:avLst/>
          </a:prstGeom>
          <a:noFill/>
        </p:spPr>
        <p:txBody>
          <a:bodyPr wrap="square" anchor="t" lIns="0" rIns="0" tIns="0" bIns="0">
            <a:spAutoFit/>
          </a:bodyPr>
          <a:lstStyle/>
          <a:p>
            <a:pPr algn="l">
              <a:spcAft>
                <a:spcPts val="400"/>
              </a:spcAft>
            </a:pPr>
            <a:r>
              <a:rPr sz="1600" b="1" i="0">
                <a:solidFill>
                  <a:srgbClr val="DF4807"/>
                </a:solidFill>
              </a:rPr>
              <a:t>How it was fixed</a:t>
            </a:r>
          </a:p>
        </p:txBody>
      </p:sp>
      <p:sp>
        <p:nvSpPr>
          <p:cNvPr id="12" name="TextBox 11"/>
          <p:cNvSpPr txBox="1"/>
          <p:nvPr/>
        </p:nvSpPr>
        <p:spPr>
          <a:xfrm>
            <a:off x="6766560" y="3931920"/>
            <a:ext cx="4754880" cy="2194560"/>
          </a:xfrm>
          <a:prstGeom prst="rect">
            <a:avLst/>
          </a:prstGeom>
          <a:noFill/>
        </p:spPr>
        <p:txBody>
          <a:bodyPr wrap="square" anchor="t" lIns="0" rIns="0" tIns="0" bIns="0">
            <a:spAutoFit/>
          </a:bodyPr>
          <a:lstStyle/>
          <a:p>
            <a:pPr algn="l" marL="228600" indent="-228600">
              <a:spcAft>
                <a:spcPts val="400"/>
              </a:spcAft>
              <a:buChar char="–"/>
            </a:pPr>
            <a:r>
              <a:rPr sz="1300" b="0" i="0">
                <a:solidFill>
                  <a:srgbClr val="575756"/>
                </a:solidFill>
              </a:rPr>
              <a:t>Kept what the system does; removed every legal conclusion and citation</a:t>
            </a:r>
          </a:p>
          <a:p>
            <a:pPr algn="l" marL="228600" indent="-228600">
              <a:spcAft>
                <a:spcPts val="400"/>
              </a:spcAft>
              <a:buChar char="–"/>
            </a:pPr>
            <a:r>
              <a:rPr sz="1300" b="0" i="0">
                <a:solidFill>
                  <a:srgbClr val="575756"/>
                </a:solidFill>
              </a:rPr>
              <a:t>96 rows automatic, 31 hand-edited, 46 reviewed by the author</a:t>
            </a:r>
          </a:p>
          <a:p>
            <a:pPr algn="l" marL="228600" indent="-228600">
              <a:spcAft>
                <a:spcPts val="400"/>
              </a:spcAft>
              <a:buChar char="–"/>
            </a:pPr>
            <a:r>
              <a:rPr sz="1300" b="0" i="0">
                <a:solidFill>
                  <a:srgbClr val="575756"/>
                </a:solidFill>
              </a:rPr>
              <a:t>IDs and gold labels unchanged; all systems rerun</a:t>
            </a:r>
          </a:p>
          <a:p>
            <a:pPr algn="l" marL="228600" indent="-228600">
              <a:spcAft>
                <a:spcPts val="400"/>
              </a:spcAft>
              <a:buChar char="–"/>
            </a:pPr>
            <a:r>
              <a:rPr sz="1300" b="0" i="0">
                <a:solidFill>
                  <a:srgbClr val="575756"/>
                </a:solidFill>
              </a:rPr>
              <a:t>Mean input length 557 to 392 characters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Results</a:t>
            </a:r>
          </a:p>
        </p:txBody>
      </p:sp>
      <p:sp>
        <p:nvSpPr>
          <p:cNvPr id="3" name="Text Placeholder 2"/>
          <p:cNvSpPr>
            <a:spLocks noGrp="1"/>
          </p:cNvSpPr>
          <p:nvPr>
            <p:ph type="body" idx="1"/>
          </p:nvPr>
        </p:nvSpPr>
        <p:spPr/>
        <p:txBody>
          <a:bodyPr/>
          <a:lstStyle/>
          <a:p>
            <a:r>
              <a:t>03</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 1: retrieval helps</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0972800" cy="365760"/>
          </a:xfrm>
          <a:prstGeom prst="rect">
            <a:avLst/>
          </a:prstGeom>
          <a:noFill/>
        </p:spPr>
        <p:txBody>
          <a:bodyPr wrap="square" anchor="t" lIns="0" rIns="0" tIns="0" bIns="0">
            <a:spAutoFit/>
          </a:bodyPr>
          <a:lstStyle/>
          <a:p>
            <a:pPr algn="l">
              <a:spcAft>
                <a:spcPts val="400"/>
              </a:spcAft>
            </a:pPr>
            <a:r>
              <a:rPr sz="1600" b="0" i="0">
                <a:solidFill>
                  <a:srgbClr val="575756"/>
                </a:solidFill>
              </a:rPr>
              <a:t>…but the structured prompt does not. Accuracy on 215 inputs, before and after redaction</a:t>
            </a:r>
          </a:p>
        </p:txBody>
      </p:sp>
      <p:graphicFrame>
        <p:nvGraphicFramePr>
          <p:cNvPr id="8" name="Chart 7"/>
          <p:cNvGraphicFramePr>
            <a:graphicFrameLocks noGrp="1"/>
          </p:cNvGraphicFramePr>
          <p:nvPr/>
        </p:nvGraphicFramePr>
        <p:xfrm>
          <a:off x="356616" y="1828800"/>
          <a:ext cx="6583680" cy="4297680"/>
        </p:xfrm>
        <a:graphic>
          <a:graphicData uri="http://schemas.openxmlformats.org/drawingml/2006/chart">
            <c:chart xmlns:c="http://schemas.openxmlformats.org/drawingml/2006/chart" r:id="rId3"/>
          </a:graphicData>
        </a:graphic>
      </p:graphicFrame>
      <p:sp>
        <p:nvSpPr>
          <p:cNvPr id="9" name="TextBox 8"/>
          <p:cNvSpPr txBox="1"/>
          <p:nvPr/>
        </p:nvSpPr>
        <p:spPr>
          <a:xfrm>
            <a:off x="7406640" y="1920240"/>
            <a:ext cx="4114800" cy="594360"/>
          </a:xfrm>
          <a:prstGeom prst="rect">
            <a:avLst/>
          </a:prstGeom>
          <a:noFill/>
        </p:spPr>
        <p:txBody>
          <a:bodyPr wrap="square" anchor="t" lIns="0" rIns="0" tIns="0" bIns="0">
            <a:spAutoFit/>
          </a:bodyPr>
          <a:lstStyle/>
          <a:p>
            <a:pPr algn="l">
              <a:spcAft>
                <a:spcPts val="400"/>
              </a:spcAft>
            </a:pPr>
            <a:r>
              <a:rPr sz="3400" b="1" i="0">
                <a:solidFill>
                  <a:srgbClr val="DF4807"/>
                </a:solidFill>
              </a:rPr>
              <a:t>+19 pts</a:t>
            </a:r>
          </a:p>
        </p:txBody>
      </p:sp>
      <p:sp>
        <p:nvSpPr>
          <p:cNvPr id="10" name="TextBox 9"/>
          <p:cNvSpPr txBox="1"/>
          <p:nvPr/>
        </p:nvSpPr>
        <p:spPr>
          <a:xfrm>
            <a:off x="7406640" y="2542032"/>
            <a:ext cx="4114800" cy="685800"/>
          </a:xfrm>
          <a:prstGeom prst="rect">
            <a:avLst/>
          </a:prstGeom>
          <a:noFill/>
        </p:spPr>
        <p:txBody>
          <a:bodyPr wrap="square" anchor="t" lIns="0" rIns="0" tIns="0" bIns="0">
            <a:spAutoFit/>
          </a:bodyPr>
          <a:lstStyle/>
          <a:p>
            <a:pPr algn="l">
              <a:spcAft>
                <a:spcPts val="400"/>
              </a:spcAft>
            </a:pPr>
            <a:r>
              <a:rPr sz="1200" b="0" i="0">
                <a:solidFill>
                  <a:srgbClr val="575756"/>
                </a:solidFill>
              </a:rPr>
              <a:t>standard RAG vs plain LLM on redacted inputs (McNemar p &lt; 0.001)</a:t>
            </a:r>
          </a:p>
        </p:txBody>
      </p:sp>
      <p:sp>
        <p:nvSpPr>
          <p:cNvPr id="11" name="TextBox 10"/>
          <p:cNvSpPr txBox="1"/>
          <p:nvPr/>
        </p:nvSpPr>
        <p:spPr>
          <a:xfrm>
            <a:off x="7406640" y="3291840"/>
            <a:ext cx="4114800" cy="594360"/>
          </a:xfrm>
          <a:prstGeom prst="rect">
            <a:avLst/>
          </a:prstGeom>
          <a:noFill/>
        </p:spPr>
        <p:txBody>
          <a:bodyPr wrap="square" anchor="t" lIns="0" rIns="0" tIns="0" bIns="0">
            <a:spAutoFit/>
          </a:bodyPr>
          <a:lstStyle/>
          <a:p>
            <a:pPr algn="l">
              <a:spcAft>
                <a:spcPts val="400"/>
              </a:spcAft>
            </a:pPr>
            <a:r>
              <a:rPr sz="3400" b="1" i="0">
                <a:solidFill>
                  <a:srgbClr val="DF4807"/>
                </a:solidFill>
              </a:rPr>
              <a:t>60 vs 17</a:t>
            </a:r>
          </a:p>
        </p:txBody>
      </p:sp>
      <p:sp>
        <p:nvSpPr>
          <p:cNvPr id="12" name="TextBox 11"/>
          <p:cNvSpPr txBox="1"/>
          <p:nvPr/>
        </p:nvSpPr>
        <p:spPr>
          <a:xfrm>
            <a:off x="7406640" y="3913632"/>
            <a:ext cx="4114800" cy="685800"/>
          </a:xfrm>
          <a:prstGeom prst="rect">
            <a:avLst/>
          </a:prstGeom>
          <a:noFill/>
        </p:spPr>
        <p:txBody>
          <a:bodyPr wrap="square" anchor="t" lIns="0" rIns="0" tIns="0" bIns="0">
            <a:spAutoFit/>
          </a:bodyPr>
          <a:lstStyle/>
          <a:p>
            <a:pPr algn="l">
              <a:spcAft>
                <a:spcPts val="400"/>
              </a:spcAft>
            </a:pPr>
            <a:r>
              <a:rPr sz="1200" b="0" i="0">
                <a:solidFill>
                  <a:srgbClr val="575756"/>
                </a:solidFill>
              </a:rPr>
              <a:t>false high-risk calls: plain LLM vs standard RAG</a:t>
            </a:r>
          </a:p>
        </p:txBody>
      </p:sp>
      <p:sp>
        <p:nvSpPr>
          <p:cNvPr id="13" name="TextBox 12"/>
          <p:cNvSpPr txBox="1"/>
          <p:nvPr/>
        </p:nvSpPr>
        <p:spPr>
          <a:xfrm>
            <a:off x="7406640" y="4663440"/>
            <a:ext cx="4114800" cy="594360"/>
          </a:xfrm>
          <a:prstGeom prst="rect">
            <a:avLst/>
          </a:prstGeom>
          <a:noFill/>
        </p:spPr>
        <p:txBody>
          <a:bodyPr wrap="square" anchor="t" lIns="0" rIns="0" tIns="0" bIns="0">
            <a:spAutoFit/>
          </a:bodyPr>
          <a:lstStyle/>
          <a:p>
            <a:pPr algn="l">
              <a:spcAft>
                <a:spcPts val="400"/>
              </a:spcAft>
            </a:pPr>
            <a:r>
              <a:rPr sz="3400" b="1" i="0">
                <a:solidFill>
                  <a:srgbClr val="DF4807"/>
                </a:solidFill>
              </a:rPr>
              <a:t>p = 0.30</a:t>
            </a:r>
          </a:p>
        </p:txBody>
      </p:sp>
      <p:sp>
        <p:nvSpPr>
          <p:cNvPr id="14" name="TextBox 13"/>
          <p:cNvSpPr txBox="1"/>
          <p:nvPr/>
        </p:nvSpPr>
        <p:spPr>
          <a:xfrm>
            <a:off x="7406640" y="5285231"/>
            <a:ext cx="4114800" cy="685800"/>
          </a:xfrm>
          <a:prstGeom prst="rect">
            <a:avLst/>
          </a:prstGeom>
          <a:noFill/>
        </p:spPr>
        <p:txBody>
          <a:bodyPr wrap="square" anchor="t" lIns="0" rIns="0" tIns="0" bIns="0">
            <a:spAutoFit/>
          </a:bodyPr>
          <a:lstStyle/>
          <a:p>
            <a:pPr algn="l">
              <a:spcAft>
                <a:spcPts val="400"/>
              </a:spcAft>
            </a:pPr>
            <a:r>
              <a:rPr sz="1200" b="0" i="0">
                <a:solidFill>
                  <a:srgbClr val="575756"/>
                </a:solidFill>
              </a:rPr>
              <a:t>agent vs standard RAG: no significant difference (0.856 vs 0.879)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the systems struggle</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0972800" cy="365760"/>
          </a:xfrm>
          <a:prstGeom prst="rect">
            <a:avLst/>
          </a:prstGeom>
          <a:noFill/>
        </p:spPr>
        <p:txBody>
          <a:bodyPr wrap="square" anchor="t" lIns="0" rIns="0" tIns="0" bIns="0">
            <a:spAutoFit/>
          </a:bodyPr>
          <a:lstStyle/>
          <a:p>
            <a:pPr algn="l">
              <a:spcAft>
                <a:spcPts val="400"/>
              </a:spcAft>
            </a:pPr>
            <a:r>
              <a:rPr sz="1600" b="0" i="0">
                <a:solidFill>
                  <a:srgbClr val="575756"/>
                </a:solidFill>
              </a:rPr>
              <a:t>Accuracy by Annex III area and error types (redacted inputs)</a:t>
            </a:r>
          </a:p>
        </p:txBody>
      </p:sp>
      <p:pic>
        <p:nvPicPr>
          <p:cNvPr id="8" name="Picture 7" descr="fig_area_heatmap.png"/>
          <p:cNvPicPr>
            <a:picLocks noChangeAspect="1"/>
          </p:cNvPicPr>
          <p:nvPr/>
        </p:nvPicPr>
        <p:blipFill>
          <a:blip r:embed="rId3"/>
          <a:stretch>
            <a:fillRect/>
          </a:stretch>
        </p:blipFill>
        <p:spPr>
          <a:xfrm>
            <a:off x="356616" y="1828800"/>
            <a:ext cx="7315200" cy="2679312"/>
          </a:xfrm>
          <a:prstGeom prst="rect">
            <a:avLst/>
          </a:prstGeom>
        </p:spPr>
      </p:pic>
      <p:pic>
        <p:nvPicPr>
          <p:cNvPr id="9" name="Picture 8" descr="fig_confusion.png"/>
          <p:cNvPicPr>
            <a:picLocks noChangeAspect="1"/>
          </p:cNvPicPr>
          <p:nvPr/>
        </p:nvPicPr>
        <p:blipFill>
          <a:blip r:embed="rId4"/>
          <a:stretch>
            <a:fillRect/>
          </a:stretch>
        </p:blipFill>
        <p:spPr>
          <a:xfrm>
            <a:off x="356616" y="4572000"/>
            <a:ext cx="4572000" cy="1603424"/>
          </a:xfrm>
          <a:prstGeom prst="rect">
            <a:avLst/>
          </a:prstGeom>
        </p:spPr>
      </p:pic>
      <p:sp>
        <p:nvSpPr>
          <p:cNvPr id="10" name="Rectangle 9"/>
          <p:cNvSpPr/>
          <p:nvPr/>
        </p:nvSpPr>
        <p:spPr>
          <a:xfrm>
            <a:off x="8046720" y="1828800"/>
            <a:ext cx="3474720" cy="192024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600" y="1965960"/>
            <a:ext cx="3108960" cy="365760"/>
          </a:xfrm>
          <a:prstGeom prst="rect">
            <a:avLst/>
          </a:prstGeom>
          <a:noFill/>
        </p:spPr>
        <p:txBody>
          <a:bodyPr wrap="square" anchor="t" lIns="0" rIns="0" tIns="0" bIns="0">
            <a:spAutoFit/>
          </a:bodyPr>
          <a:lstStyle/>
          <a:p>
            <a:pPr algn="l">
              <a:spcAft>
                <a:spcPts val="400"/>
              </a:spcAft>
            </a:pPr>
            <a:r>
              <a:rPr sz="1500" b="1" i="0">
                <a:solidFill>
                  <a:srgbClr val="DF4807"/>
                </a:solidFill>
              </a:rPr>
              <a:t>Critical infrastructure</a:t>
            </a:r>
          </a:p>
        </p:txBody>
      </p:sp>
      <p:sp>
        <p:nvSpPr>
          <p:cNvPr id="12" name="TextBox 11"/>
          <p:cNvSpPr txBox="1"/>
          <p:nvPr/>
        </p:nvSpPr>
        <p:spPr>
          <a:xfrm>
            <a:off x="8229600" y="2377440"/>
            <a:ext cx="3108960" cy="1280160"/>
          </a:xfrm>
          <a:prstGeom prst="rect">
            <a:avLst/>
          </a:prstGeom>
          <a:noFill/>
        </p:spPr>
        <p:txBody>
          <a:bodyPr wrap="square" anchor="t" lIns="0" rIns="0" tIns="0" bIns="0">
            <a:spAutoFit/>
          </a:bodyPr>
          <a:lstStyle/>
          <a:p>
            <a:pPr algn="l">
              <a:spcAft>
                <a:spcPts val="400"/>
              </a:spcAft>
            </a:pPr>
            <a:r>
              <a:rPr sz="1300" b="0" i="0">
                <a:solidFill>
                  <a:srgbClr val="575756"/>
                </a:solidFill>
              </a:rPr>
              <a:t>Hardest for both RAG systems (0.61, 0.56). The test is safety component, not sector.</a:t>
            </a:r>
          </a:p>
        </p:txBody>
      </p:sp>
      <p:sp>
        <p:nvSpPr>
          <p:cNvPr id="13" name="Rectangle 12"/>
          <p:cNvSpPr/>
          <p:nvPr/>
        </p:nvSpPr>
        <p:spPr>
          <a:xfrm>
            <a:off x="8046720" y="3977639"/>
            <a:ext cx="3474720" cy="192024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229600" y="4114800"/>
            <a:ext cx="3108960" cy="365760"/>
          </a:xfrm>
          <a:prstGeom prst="rect">
            <a:avLst/>
          </a:prstGeom>
          <a:noFill/>
        </p:spPr>
        <p:txBody>
          <a:bodyPr wrap="square" anchor="t" lIns="0" rIns="0" tIns="0" bIns="0">
            <a:spAutoFit/>
          </a:bodyPr>
          <a:lstStyle/>
          <a:p>
            <a:pPr algn="l">
              <a:spcAft>
                <a:spcPts val="400"/>
              </a:spcAft>
            </a:pPr>
            <a:r>
              <a:rPr sz="1500" b="1" i="0">
                <a:solidFill>
                  <a:srgbClr val="DF4807"/>
                </a:solidFill>
              </a:rPr>
              <a:t>Law enforcement</a:t>
            </a:r>
          </a:p>
        </p:txBody>
      </p:sp>
      <p:sp>
        <p:nvSpPr>
          <p:cNvPr id="15" name="TextBox 14"/>
          <p:cNvSpPr txBox="1"/>
          <p:nvPr/>
        </p:nvSpPr>
        <p:spPr>
          <a:xfrm>
            <a:off x="8229600" y="4526280"/>
            <a:ext cx="3108960" cy="1280160"/>
          </a:xfrm>
          <a:prstGeom prst="rect">
            <a:avLst/>
          </a:prstGeom>
          <a:noFill/>
        </p:spPr>
        <p:txBody>
          <a:bodyPr wrap="square" anchor="t" lIns="0" rIns="0" tIns="0" bIns="0">
            <a:spAutoFit/>
          </a:bodyPr>
          <a:lstStyle/>
          <a:p>
            <a:pPr algn="l">
              <a:spcAft>
                <a:spcPts val="400"/>
              </a:spcAft>
            </a:pPr>
            <a:r>
              <a:rPr sz="1300" b="0" i="0">
                <a:solidFill>
                  <a:srgbClr val="575756"/>
                </a:solidFill>
              </a:rPr>
              <a:t>Plain LLM collapses to 0.26: it calls most police uses high-risk. RAG fixes this (0.87+).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 2: faithfulness misses wrong labels</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0972800" cy="365760"/>
          </a:xfrm>
          <a:prstGeom prst="rect">
            <a:avLst/>
          </a:prstGeom>
          <a:noFill/>
        </p:spPr>
        <p:txBody>
          <a:bodyPr wrap="square" anchor="t" lIns="0" rIns="0" tIns="0" bIns="0">
            <a:spAutoFit/>
          </a:bodyPr>
          <a:lstStyle/>
          <a:p>
            <a:pPr algn="l">
              <a:spcAft>
                <a:spcPts val="400"/>
              </a:spcAft>
            </a:pPr>
            <a:r>
              <a:rPr sz="1600" b="0" i="0">
                <a:solidFill>
                  <a:srgbClr val="575756"/>
                </a:solidFill>
              </a:rPr>
              <a:t>RAGAS faithfulness of every answer, split by whether the label was correct</a:t>
            </a:r>
          </a:p>
        </p:txBody>
      </p:sp>
      <p:pic>
        <p:nvPicPr>
          <p:cNvPr id="8" name="Picture 7" descr="fig3_faithfulness.png"/>
          <p:cNvPicPr>
            <a:picLocks noChangeAspect="1"/>
          </p:cNvPicPr>
          <p:nvPr/>
        </p:nvPicPr>
        <p:blipFill>
          <a:blip r:embed="rId3"/>
          <a:stretch>
            <a:fillRect/>
          </a:stretch>
        </p:blipFill>
        <p:spPr>
          <a:xfrm>
            <a:off x="356616" y="1828800"/>
            <a:ext cx="7863840" cy="4045852"/>
          </a:xfrm>
          <a:prstGeom prst="rect">
            <a:avLst/>
          </a:prstGeom>
        </p:spPr>
      </p:pic>
      <p:sp>
        <p:nvSpPr>
          <p:cNvPr id="9" name="TextBox 8"/>
          <p:cNvSpPr txBox="1"/>
          <p:nvPr/>
        </p:nvSpPr>
        <p:spPr>
          <a:xfrm>
            <a:off x="8595360" y="1920240"/>
            <a:ext cx="3017520" cy="594360"/>
          </a:xfrm>
          <a:prstGeom prst="rect">
            <a:avLst/>
          </a:prstGeom>
          <a:noFill/>
        </p:spPr>
        <p:txBody>
          <a:bodyPr wrap="square" anchor="t" lIns="0" rIns="0" tIns="0" bIns="0">
            <a:spAutoFit/>
          </a:bodyPr>
          <a:lstStyle/>
          <a:p>
            <a:pPr algn="l">
              <a:spcAft>
                <a:spcPts val="400"/>
              </a:spcAft>
            </a:pPr>
            <a:r>
              <a:rPr sz="3400" b="1" i="0">
                <a:solidFill>
                  <a:srgbClr val="DF4807"/>
                </a:solidFill>
              </a:rPr>
              <a:t>0.465</a:t>
            </a:r>
          </a:p>
        </p:txBody>
      </p:sp>
      <p:sp>
        <p:nvSpPr>
          <p:cNvPr id="10" name="TextBox 9"/>
          <p:cNvSpPr txBox="1"/>
          <p:nvPr/>
        </p:nvSpPr>
        <p:spPr>
          <a:xfrm>
            <a:off x="8595360" y="2542032"/>
            <a:ext cx="3017520" cy="685800"/>
          </a:xfrm>
          <a:prstGeom prst="rect">
            <a:avLst/>
          </a:prstGeom>
          <a:noFill/>
        </p:spPr>
        <p:txBody>
          <a:bodyPr wrap="square" anchor="t" lIns="0" rIns="0" tIns="0" bIns="0">
            <a:spAutoFit/>
          </a:bodyPr>
          <a:lstStyle/>
          <a:p>
            <a:pPr algn="l">
              <a:spcAft>
                <a:spcPts val="400"/>
              </a:spcAft>
            </a:pPr>
            <a:r>
              <a:rPr sz="1200" b="0" i="0">
                <a:solidFill>
                  <a:srgbClr val="575756"/>
                </a:solidFill>
              </a:rPr>
              <a:t>agent AUC (95% CI 0.36 to 0.57): chance level</a:t>
            </a:r>
          </a:p>
        </p:txBody>
      </p:sp>
      <p:sp>
        <p:nvSpPr>
          <p:cNvPr id="11" name="TextBox 10"/>
          <p:cNvSpPr txBox="1"/>
          <p:nvPr/>
        </p:nvSpPr>
        <p:spPr>
          <a:xfrm>
            <a:off x="8595360" y="3291840"/>
            <a:ext cx="3017520" cy="594360"/>
          </a:xfrm>
          <a:prstGeom prst="rect">
            <a:avLst/>
          </a:prstGeom>
          <a:noFill/>
        </p:spPr>
        <p:txBody>
          <a:bodyPr wrap="square" anchor="t" lIns="0" rIns="0" tIns="0" bIns="0">
            <a:spAutoFit/>
          </a:bodyPr>
          <a:lstStyle/>
          <a:p>
            <a:pPr algn="l">
              <a:spcAft>
                <a:spcPts val="400"/>
              </a:spcAft>
            </a:pPr>
            <a:r>
              <a:rPr sz="3000" b="1" i="0">
                <a:solidFill>
                  <a:srgbClr val="DF4807"/>
                </a:solidFill>
              </a:rPr>
              <a:t>0.49 vs 0.45</a:t>
            </a:r>
          </a:p>
        </p:txBody>
      </p:sp>
      <p:sp>
        <p:nvSpPr>
          <p:cNvPr id="12" name="TextBox 11"/>
          <p:cNvSpPr txBox="1"/>
          <p:nvPr/>
        </p:nvSpPr>
        <p:spPr>
          <a:xfrm>
            <a:off x="8595360" y="3913632"/>
            <a:ext cx="3017520" cy="685800"/>
          </a:xfrm>
          <a:prstGeom prst="rect">
            <a:avLst/>
          </a:prstGeom>
          <a:noFill/>
        </p:spPr>
        <p:txBody>
          <a:bodyPr wrap="square" anchor="t" lIns="0" rIns="0" tIns="0" bIns="0">
            <a:spAutoFit/>
          </a:bodyPr>
          <a:lstStyle/>
          <a:p>
            <a:pPr algn="l">
              <a:spcAft>
                <a:spcPts val="400"/>
              </a:spcAft>
            </a:pPr>
            <a:r>
              <a:rPr sz="1200" b="0" i="0">
                <a:solidFill>
                  <a:srgbClr val="575756"/>
                </a:solidFill>
              </a:rPr>
              <a:t>agent: wrong answers score slightly higher than right ones</a:t>
            </a:r>
          </a:p>
        </p:txBody>
      </p:sp>
      <p:sp>
        <p:nvSpPr>
          <p:cNvPr id="13" name="TextBox 12"/>
          <p:cNvSpPr txBox="1"/>
          <p:nvPr/>
        </p:nvSpPr>
        <p:spPr>
          <a:xfrm>
            <a:off x="8595360" y="4663440"/>
            <a:ext cx="3017520" cy="594360"/>
          </a:xfrm>
          <a:prstGeom prst="rect">
            <a:avLst/>
          </a:prstGeom>
          <a:noFill/>
        </p:spPr>
        <p:txBody>
          <a:bodyPr wrap="square" anchor="t" lIns="0" rIns="0" tIns="0" bIns="0">
            <a:spAutoFit/>
          </a:bodyPr>
          <a:lstStyle/>
          <a:p>
            <a:pPr algn="l">
              <a:spcAft>
                <a:spcPts val="400"/>
              </a:spcAft>
            </a:pPr>
            <a:r>
              <a:rPr sz="3400" b="1" i="0">
                <a:solidFill>
                  <a:srgbClr val="575756"/>
                </a:solidFill>
              </a:rPr>
              <a:t>0.615</a:t>
            </a:r>
          </a:p>
        </p:txBody>
      </p:sp>
      <p:sp>
        <p:nvSpPr>
          <p:cNvPr id="14" name="TextBox 13"/>
          <p:cNvSpPr txBox="1"/>
          <p:nvPr/>
        </p:nvSpPr>
        <p:spPr>
          <a:xfrm>
            <a:off x="8595360" y="5285231"/>
            <a:ext cx="3017520" cy="685800"/>
          </a:xfrm>
          <a:prstGeom prst="rect">
            <a:avLst/>
          </a:prstGeom>
          <a:noFill/>
        </p:spPr>
        <p:txBody>
          <a:bodyPr wrap="square" anchor="t" lIns="0" rIns="0" tIns="0" bIns="0">
            <a:spAutoFit/>
          </a:bodyPr>
          <a:lstStyle/>
          <a:p>
            <a:pPr algn="l">
              <a:spcAft>
                <a:spcPts val="400"/>
              </a:spcAft>
            </a:pPr>
            <a:r>
              <a:rPr sz="1200" b="0" i="0">
                <a:solidFill>
                  <a:srgbClr val="575756"/>
                </a:solidFill>
              </a:rPr>
              <a:t>standard RAG AUC: weak signal only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Both off-diagonal buckets are populated</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0972800" cy="365760"/>
          </a:xfrm>
          <a:prstGeom prst="rect">
            <a:avLst/>
          </a:prstGeom>
          <a:noFill/>
        </p:spPr>
        <p:txBody>
          <a:bodyPr wrap="square" anchor="t" lIns="0" rIns="0" tIns="0" bIns="0">
            <a:spAutoFit/>
          </a:bodyPr>
          <a:lstStyle/>
          <a:p>
            <a:pPr algn="l">
              <a:spcAft>
                <a:spcPts val="400"/>
              </a:spcAft>
            </a:pPr>
            <a:r>
              <a:rPr sz="1600" b="0" i="0">
                <a:solidFill>
                  <a:srgbClr val="575756"/>
                </a:solidFill>
              </a:rPr>
              <a:t>Four-bucket matrix at a faithful cut of 0.5</a:t>
            </a:r>
          </a:p>
        </p:txBody>
      </p:sp>
      <p:pic>
        <p:nvPicPr>
          <p:cNvPr id="8" name="Picture 7" descr="fig_buckets.png"/>
          <p:cNvPicPr>
            <a:picLocks noChangeAspect="1"/>
          </p:cNvPicPr>
          <p:nvPr/>
        </p:nvPicPr>
        <p:blipFill>
          <a:blip r:embed="rId3"/>
          <a:stretch>
            <a:fillRect/>
          </a:stretch>
        </p:blipFill>
        <p:spPr>
          <a:xfrm>
            <a:off x="356616" y="1828800"/>
            <a:ext cx="7863840" cy="3471085"/>
          </a:xfrm>
          <a:prstGeom prst="rect">
            <a:avLst/>
          </a:prstGeom>
        </p:spPr>
      </p:pic>
      <p:sp>
        <p:nvSpPr>
          <p:cNvPr id="9" name="TextBox 8"/>
          <p:cNvSpPr txBox="1"/>
          <p:nvPr/>
        </p:nvSpPr>
        <p:spPr>
          <a:xfrm>
            <a:off x="8595360" y="1920240"/>
            <a:ext cx="3017520" cy="594360"/>
          </a:xfrm>
          <a:prstGeom prst="rect">
            <a:avLst/>
          </a:prstGeom>
          <a:noFill/>
        </p:spPr>
        <p:txBody>
          <a:bodyPr wrap="square" anchor="t" lIns="0" rIns="0" tIns="0" bIns="0">
            <a:spAutoFit/>
          </a:bodyPr>
          <a:lstStyle/>
          <a:p>
            <a:pPr algn="l">
              <a:spcAft>
                <a:spcPts val="400"/>
              </a:spcAft>
            </a:pPr>
            <a:r>
              <a:rPr sz="3400" b="1" i="0">
                <a:solidFill>
                  <a:srgbClr val="DF4807"/>
                </a:solidFill>
              </a:rPr>
              <a:t>17 of 31</a:t>
            </a:r>
          </a:p>
        </p:txBody>
      </p:sp>
      <p:sp>
        <p:nvSpPr>
          <p:cNvPr id="10" name="TextBox 9"/>
          <p:cNvSpPr txBox="1"/>
          <p:nvPr/>
        </p:nvSpPr>
        <p:spPr>
          <a:xfrm>
            <a:off x="8595360" y="2542032"/>
            <a:ext cx="3017520" cy="685800"/>
          </a:xfrm>
          <a:prstGeom prst="rect">
            <a:avLst/>
          </a:prstGeom>
          <a:noFill/>
        </p:spPr>
        <p:txBody>
          <a:bodyPr wrap="square" anchor="t" lIns="0" rIns="0" tIns="0" bIns="0">
            <a:spAutoFit/>
          </a:bodyPr>
          <a:lstStyle/>
          <a:p>
            <a:pPr algn="l">
              <a:spcAft>
                <a:spcPts val="400"/>
              </a:spcAft>
            </a:pPr>
            <a:r>
              <a:rPr sz="1200" b="0" i="0">
                <a:solidFill>
                  <a:srgbClr val="575756"/>
                </a:solidFill>
              </a:rPr>
              <a:t>agent errors that pass as faithful (55%)</a:t>
            </a:r>
          </a:p>
        </p:txBody>
      </p:sp>
      <p:sp>
        <p:nvSpPr>
          <p:cNvPr id="11" name="TextBox 10"/>
          <p:cNvSpPr txBox="1"/>
          <p:nvPr/>
        </p:nvSpPr>
        <p:spPr>
          <a:xfrm>
            <a:off x="8595360" y="3291840"/>
            <a:ext cx="3017520" cy="594360"/>
          </a:xfrm>
          <a:prstGeom prst="rect">
            <a:avLst/>
          </a:prstGeom>
          <a:noFill/>
        </p:spPr>
        <p:txBody>
          <a:bodyPr wrap="square" anchor="t" lIns="0" rIns="0" tIns="0" bIns="0">
            <a:spAutoFit/>
          </a:bodyPr>
          <a:lstStyle/>
          <a:p>
            <a:pPr algn="l">
              <a:spcAft>
                <a:spcPts val="400"/>
              </a:spcAft>
            </a:pPr>
            <a:r>
              <a:rPr sz="3400" b="1" i="0">
                <a:solidFill>
                  <a:srgbClr val="575756"/>
                </a:solidFill>
              </a:rPr>
              <a:t>93 of 184</a:t>
            </a:r>
          </a:p>
        </p:txBody>
      </p:sp>
      <p:sp>
        <p:nvSpPr>
          <p:cNvPr id="12" name="TextBox 11"/>
          <p:cNvSpPr txBox="1"/>
          <p:nvPr/>
        </p:nvSpPr>
        <p:spPr>
          <a:xfrm>
            <a:off x="8595360" y="3913632"/>
            <a:ext cx="3017520" cy="685800"/>
          </a:xfrm>
          <a:prstGeom prst="rect">
            <a:avLst/>
          </a:prstGeom>
          <a:noFill/>
        </p:spPr>
        <p:txBody>
          <a:bodyPr wrap="square" anchor="t" lIns="0" rIns="0" tIns="0" bIns="0">
            <a:spAutoFit/>
          </a:bodyPr>
          <a:lstStyle/>
          <a:p>
            <a:pPr algn="l">
              <a:spcAft>
                <a:spcPts val="400"/>
              </a:spcAft>
            </a:pPr>
            <a:r>
              <a:rPr sz="1200" b="0" i="0">
                <a:solidFill>
                  <a:srgbClr val="575756"/>
                </a:solidFill>
              </a:rPr>
              <a:t>correct agent answers scored as unfaithful</a:t>
            </a:r>
          </a:p>
        </p:txBody>
      </p:sp>
      <p:sp>
        <p:nvSpPr>
          <p:cNvPr id="13" name="TextBox 12"/>
          <p:cNvSpPr txBox="1"/>
          <p:nvPr/>
        </p:nvSpPr>
        <p:spPr>
          <a:xfrm>
            <a:off x="356616" y="5440680"/>
            <a:ext cx="7863840" cy="731520"/>
          </a:xfrm>
          <a:prstGeom prst="rect">
            <a:avLst/>
          </a:prstGeom>
          <a:noFill/>
        </p:spPr>
        <p:txBody>
          <a:bodyPr wrap="square" anchor="t" lIns="0" rIns="0" tIns="0" bIns="0">
            <a:spAutoFit/>
          </a:bodyPr>
          <a:lstStyle/>
          <a:p>
            <a:pPr algn="l">
              <a:spcAft>
                <a:spcPts val="400"/>
              </a:spcAft>
            </a:pPr>
            <a:r>
              <a:rPr sz="1200" b="0" i="0">
                <a:solidFill>
                  <a:srgbClr val="575756"/>
                </a:solidFill>
              </a:rPr>
              <a:t>Part of the right-but-unfaithful effect is mechanical: sentences that restate the input are not in the passages, so the judge marks them unsupported. That is how RAGAS is defined.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Not an artefact of the cut-off</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0972800" cy="365760"/>
          </a:xfrm>
          <a:prstGeom prst="rect">
            <a:avLst/>
          </a:prstGeom>
          <a:noFill/>
        </p:spPr>
        <p:txBody>
          <a:bodyPr wrap="square" anchor="t" lIns="0" rIns="0" tIns="0" bIns="0">
            <a:spAutoFit/>
          </a:bodyPr>
          <a:lstStyle/>
          <a:p>
            <a:pPr algn="l">
              <a:spcAft>
                <a:spcPts val="400"/>
              </a:spcAft>
            </a:pPr>
            <a:r>
              <a:rPr sz="1600" b="0" i="0">
                <a:solidFill>
                  <a:srgbClr val="575756"/>
                </a:solidFill>
              </a:rPr>
              <a:t>Share of wrong answers that still pass as faithful as the threshold rises</a:t>
            </a:r>
          </a:p>
        </p:txBody>
      </p:sp>
      <p:graphicFrame>
        <p:nvGraphicFramePr>
          <p:cNvPr id="8" name="Chart 7"/>
          <p:cNvGraphicFramePr>
            <a:graphicFrameLocks noGrp="1"/>
          </p:cNvGraphicFramePr>
          <p:nvPr/>
        </p:nvGraphicFramePr>
        <p:xfrm>
          <a:off x="356616" y="1828800"/>
          <a:ext cx="6949440" cy="4297680"/>
        </p:xfrm>
        <a:graphic>
          <a:graphicData uri="http://schemas.openxmlformats.org/drawingml/2006/chart">
            <c:chart xmlns:c="http://schemas.openxmlformats.org/drawingml/2006/chart" r:id="rId3"/>
          </a:graphicData>
        </a:graphic>
      </p:graphicFrame>
      <p:sp>
        <p:nvSpPr>
          <p:cNvPr id="9" name="TextBox 8"/>
          <p:cNvSpPr txBox="1"/>
          <p:nvPr/>
        </p:nvSpPr>
        <p:spPr>
          <a:xfrm>
            <a:off x="7772400" y="1920240"/>
            <a:ext cx="3749039" cy="594360"/>
          </a:xfrm>
          <a:prstGeom prst="rect">
            <a:avLst/>
          </a:prstGeom>
          <a:noFill/>
        </p:spPr>
        <p:txBody>
          <a:bodyPr wrap="square" anchor="t" lIns="0" rIns="0" tIns="0" bIns="0">
            <a:spAutoFit/>
          </a:bodyPr>
          <a:lstStyle/>
          <a:p>
            <a:pPr algn="l">
              <a:spcAft>
                <a:spcPts val="400"/>
              </a:spcAft>
            </a:pPr>
            <a:r>
              <a:rPr sz="3400" b="1" i="0">
                <a:solidFill>
                  <a:srgbClr val="DF4807"/>
                </a:solidFill>
              </a:rPr>
              <a:t>7</a:t>
            </a:r>
          </a:p>
        </p:txBody>
      </p:sp>
      <p:sp>
        <p:nvSpPr>
          <p:cNvPr id="10" name="TextBox 9"/>
          <p:cNvSpPr txBox="1"/>
          <p:nvPr/>
        </p:nvSpPr>
        <p:spPr>
          <a:xfrm>
            <a:off x="7772400" y="2542032"/>
            <a:ext cx="3749039" cy="685800"/>
          </a:xfrm>
          <a:prstGeom prst="rect">
            <a:avLst/>
          </a:prstGeom>
          <a:noFill/>
        </p:spPr>
        <p:txBody>
          <a:bodyPr wrap="square" anchor="t" lIns="0" rIns="0" tIns="0" bIns="0">
            <a:spAutoFit/>
          </a:bodyPr>
          <a:lstStyle/>
          <a:p>
            <a:pPr algn="l">
              <a:spcAft>
                <a:spcPts val="400"/>
              </a:spcAft>
            </a:pPr>
            <a:r>
              <a:rPr sz="1200" b="0" i="0">
                <a:solidFill>
                  <a:srgbClr val="575756"/>
                </a:solidFill>
              </a:rPr>
              <a:t>agent errors still count as faithful at a strict cut of 0.7</a:t>
            </a:r>
          </a:p>
        </p:txBody>
      </p:sp>
      <p:sp>
        <p:nvSpPr>
          <p:cNvPr id="11" name="TextBox 10"/>
          <p:cNvSpPr txBox="1"/>
          <p:nvPr/>
        </p:nvSpPr>
        <p:spPr>
          <a:xfrm>
            <a:off x="7772400" y="3291840"/>
            <a:ext cx="3749039" cy="594360"/>
          </a:xfrm>
          <a:prstGeom prst="rect">
            <a:avLst/>
          </a:prstGeom>
          <a:noFill/>
        </p:spPr>
        <p:txBody>
          <a:bodyPr wrap="square" anchor="t" lIns="0" rIns="0" tIns="0" bIns="0">
            <a:spAutoFit/>
          </a:bodyPr>
          <a:lstStyle/>
          <a:p>
            <a:pPr algn="l">
              <a:spcAft>
                <a:spcPts val="400"/>
              </a:spcAft>
            </a:pPr>
            <a:r>
              <a:rPr sz="3400" b="1" i="0">
                <a:solidFill>
                  <a:srgbClr val="DF4807"/>
                </a:solidFill>
              </a:rPr>
              <a:t>1.00</a:t>
            </a:r>
          </a:p>
        </p:txBody>
      </p:sp>
      <p:sp>
        <p:nvSpPr>
          <p:cNvPr id="12" name="TextBox 11"/>
          <p:cNvSpPr txBox="1"/>
          <p:nvPr/>
        </p:nvSpPr>
        <p:spPr>
          <a:xfrm>
            <a:off x="7772400" y="3913632"/>
            <a:ext cx="3749039" cy="685800"/>
          </a:xfrm>
          <a:prstGeom prst="rect">
            <a:avLst/>
          </a:prstGeom>
          <a:noFill/>
        </p:spPr>
        <p:txBody>
          <a:bodyPr wrap="square" anchor="t" lIns="0" rIns="0" tIns="0" bIns="0">
            <a:spAutoFit/>
          </a:bodyPr>
          <a:lstStyle/>
          <a:p>
            <a:pPr algn="l">
              <a:spcAft>
                <a:spcPts val="400"/>
              </a:spcAft>
            </a:pPr>
            <a:r>
              <a:rPr sz="1200" b="0" i="0">
                <a:solidFill>
                  <a:srgbClr val="575756"/>
                </a:solidFill>
              </a:rPr>
              <a:t>perfect faithfulness score on a wrong answer (input 207)</a:t>
            </a:r>
          </a:p>
        </p:txBody>
      </p:sp>
      <p:sp>
        <p:nvSpPr>
          <p:cNvPr id="13" name="TextBox 12"/>
          <p:cNvSpPr txBox="1"/>
          <p:nvPr/>
        </p:nvSpPr>
        <p:spPr>
          <a:xfrm>
            <a:off x="7772400" y="4709160"/>
            <a:ext cx="3749039" cy="1188720"/>
          </a:xfrm>
          <a:prstGeom prst="rect">
            <a:avLst/>
          </a:prstGeom>
          <a:noFill/>
        </p:spPr>
        <p:txBody>
          <a:bodyPr wrap="square" anchor="t" lIns="0" rIns="0" tIns="0" bIns="0">
            <a:spAutoFit/>
          </a:bodyPr>
          <a:lstStyle/>
          <a:p>
            <a:pPr algn="l">
              <a:spcAft>
                <a:spcPts val="400"/>
              </a:spcAft>
            </a:pPr>
            <a:r>
              <a:rPr sz="1200" b="0" i="0">
                <a:solidFill>
                  <a:srgbClr val="575756"/>
                </a:solidFill>
              </a:rPr>
              <a:t>Threshold-free measures (AUC, correlation) are reported alongside, so the finding does not rest on one cut.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the wrong answers look grounded</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0972800" cy="365760"/>
          </a:xfrm>
          <a:prstGeom prst="rect">
            <a:avLst/>
          </a:prstGeom>
          <a:noFill/>
        </p:spPr>
        <p:txBody>
          <a:bodyPr wrap="square" anchor="t" lIns="0" rIns="0" tIns="0" bIns="0">
            <a:spAutoFit/>
          </a:bodyPr>
          <a:lstStyle/>
          <a:p>
            <a:pPr algn="l">
              <a:spcAft>
                <a:spcPts val="400"/>
              </a:spcAft>
            </a:pPr>
            <a:r>
              <a:rPr sz="1600" b="0" i="0">
                <a:solidFill>
                  <a:srgbClr val="575756"/>
                </a:solidFill>
              </a:rPr>
              <a:t>All 17 faithful-but-wrong agent answers read and categorised</a:t>
            </a:r>
          </a:p>
        </p:txBody>
      </p:sp>
      <p:graphicFrame>
        <p:nvGraphicFramePr>
          <p:cNvPr id="8" name="Chart 7"/>
          <p:cNvGraphicFramePr>
            <a:graphicFrameLocks noGrp="1"/>
          </p:cNvGraphicFramePr>
          <p:nvPr/>
        </p:nvGraphicFramePr>
        <p:xfrm>
          <a:off x="356616" y="1783080"/>
          <a:ext cx="5852160" cy="3017520"/>
        </p:xfrm>
        <a:graphic>
          <a:graphicData uri="http://schemas.openxmlformats.org/drawingml/2006/chart">
            <c:chart xmlns:c="http://schemas.openxmlformats.org/drawingml/2006/chart" r:id="rId3"/>
          </a:graphicData>
        </a:graphic>
      </p:graphicFrame>
      <p:sp>
        <p:nvSpPr>
          <p:cNvPr id="9" name="TextBox 8"/>
          <p:cNvSpPr txBox="1"/>
          <p:nvPr/>
        </p:nvSpPr>
        <p:spPr>
          <a:xfrm>
            <a:off x="356616" y="4892040"/>
            <a:ext cx="2743200" cy="594360"/>
          </a:xfrm>
          <a:prstGeom prst="rect">
            <a:avLst/>
          </a:prstGeom>
          <a:noFill/>
        </p:spPr>
        <p:txBody>
          <a:bodyPr wrap="square" anchor="t" lIns="0" rIns="0" tIns="0" bIns="0">
            <a:spAutoFit/>
          </a:bodyPr>
          <a:lstStyle/>
          <a:p>
            <a:pPr algn="l">
              <a:spcAft>
                <a:spcPts val="400"/>
              </a:spcAft>
            </a:pPr>
            <a:r>
              <a:rPr sz="3400" b="1" i="0">
                <a:solidFill>
                  <a:srgbClr val="DF4807"/>
                </a:solidFill>
              </a:rPr>
              <a:t>14 / 17</a:t>
            </a:r>
          </a:p>
        </p:txBody>
      </p:sp>
      <p:sp>
        <p:nvSpPr>
          <p:cNvPr id="10" name="TextBox 9"/>
          <p:cNvSpPr txBox="1"/>
          <p:nvPr/>
        </p:nvSpPr>
        <p:spPr>
          <a:xfrm>
            <a:off x="356616" y="5513831"/>
            <a:ext cx="2743200" cy="685800"/>
          </a:xfrm>
          <a:prstGeom prst="rect">
            <a:avLst/>
          </a:prstGeom>
          <a:noFill/>
        </p:spPr>
        <p:txBody>
          <a:bodyPr wrap="square" anchor="t" lIns="0" rIns="0" tIns="0" bIns="0">
            <a:spAutoFit/>
          </a:bodyPr>
          <a:lstStyle/>
          <a:p>
            <a:pPr algn="l">
              <a:spcAft>
                <a:spcPts val="400"/>
              </a:spcAft>
            </a:pPr>
            <a:r>
              <a:rPr sz="1200" b="0" i="0">
                <a:solidFill>
                  <a:srgbClr val="575756"/>
                </a:solidFill>
              </a:rPr>
              <a:t>had the correct guideline section retrieved</a:t>
            </a:r>
          </a:p>
        </p:txBody>
      </p:sp>
      <p:sp>
        <p:nvSpPr>
          <p:cNvPr id="11" name="TextBox 10"/>
          <p:cNvSpPr txBox="1"/>
          <p:nvPr/>
        </p:nvSpPr>
        <p:spPr>
          <a:xfrm>
            <a:off x="3291840" y="4892040"/>
            <a:ext cx="2926080" cy="594360"/>
          </a:xfrm>
          <a:prstGeom prst="rect">
            <a:avLst/>
          </a:prstGeom>
          <a:noFill/>
        </p:spPr>
        <p:txBody>
          <a:bodyPr wrap="square" anchor="t" lIns="0" rIns="0" tIns="0" bIns="0">
            <a:spAutoFit/>
          </a:bodyPr>
          <a:lstStyle/>
          <a:p>
            <a:pPr algn="l">
              <a:spcAft>
                <a:spcPts val="400"/>
              </a:spcAft>
            </a:pPr>
            <a:r>
              <a:rPr sz="3400" b="1" i="0">
                <a:solidFill>
                  <a:srgbClr val="DF4807"/>
                </a:solidFill>
              </a:rPr>
              <a:t>21 / 31</a:t>
            </a:r>
          </a:p>
        </p:txBody>
      </p:sp>
      <p:sp>
        <p:nvSpPr>
          <p:cNvPr id="12" name="TextBox 11"/>
          <p:cNvSpPr txBox="1"/>
          <p:nvPr/>
        </p:nvSpPr>
        <p:spPr>
          <a:xfrm>
            <a:off x="3291840" y="5513831"/>
            <a:ext cx="2926080" cy="685800"/>
          </a:xfrm>
          <a:prstGeom prst="rect">
            <a:avLst/>
          </a:prstGeom>
          <a:noFill/>
        </p:spPr>
        <p:txBody>
          <a:bodyPr wrap="square" anchor="t" lIns="0" rIns="0" tIns="0" bIns="0">
            <a:spAutoFit/>
          </a:bodyPr>
          <a:lstStyle/>
          <a:p>
            <a:pPr algn="l">
              <a:spcAft>
                <a:spcPts val="400"/>
              </a:spcAft>
            </a:pPr>
            <a:r>
              <a:rPr sz="1200" b="0" i="0">
                <a:solidFill>
                  <a:srgbClr val="575756"/>
                </a:solidFill>
              </a:rPr>
              <a:t>verdict statements judged 'supported'</a:t>
            </a:r>
          </a:p>
        </p:txBody>
      </p:sp>
      <p:sp>
        <p:nvSpPr>
          <p:cNvPr id="13" name="Rectangle 12"/>
          <p:cNvSpPr/>
          <p:nvPr/>
        </p:nvSpPr>
        <p:spPr>
          <a:xfrm>
            <a:off x="6583680" y="1783080"/>
            <a:ext cx="4937760" cy="4343400"/>
          </a:xfrm>
          <a:prstGeom prst="rect">
            <a:avLst/>
          </a:prstGeom>
          <a:solidFill>
            <a:srgbClr val="FBE4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812280" y="1920240"/>
            <a:ext cx="4480560" cy="4114800"/>
          </a:xfrm>
          <a:prstGeom prst="rect">
            <a:avLst/>
          </a:prstGeom>
          <a:noFill/>
        </p:spPr>
        <p:txBody>
          <a:bodyPr wrap="square" anchor="t" lIns="0" rIns="0" tIns="0" bIns="0">
            <a:spAutoFit/>
          </a:bodyPr>
          <a:lstStyle/>
          <a:p>
            <a:pPr algn="l">
              <a:spcAft>
                <a:spcPts val="800"/>
              </a:spcAft>
            </a:pPr>
            <a:r>
              <a:rPr sz="1600" b="1" i="0">
                <a:solidFill>
                  <a:srgbClr val="DF4807"/>
                </a:solidFill>
              </a:rPr>
              <a:t>Case: input 207</a:t>
            </a:r>
          </a:p>
          <a:p>
            <a:pPr algn="l">
              <a:spcAft>
                <a:spcPts val="1000"/>
              </a:spcAft>
            </a:pPr>
            <a:r>
              <a:rPr sz="1300" b="0" i="0">
                <a:solidFill>
                  <a:srgbClr val="575756"/>
                </a:solidFill>
              </a:rPr>
              <a:t>A tool that pre-classifies incoming court cases by type.</a:t>
            </a:r>
          </a:p>
          <a:p>
            <a:pPr algn="l">
              <a:spcAft>
                <a:spcPts val="0"/>
              </a:spcAft>
            </a:pPr>
            <a:r>
              <a:rPr sz="1300" b="1" i="0">
                <a:solidFill>
                  <a:srgbClr val="575756"/>
                </a:solidFill>
              </a:rPr>
              <a:t>Agent: </a:t>
            </a:r>
          </a:p>
          <a:p>
            <a:pPr algn="l">
              <a:spcAft>
                <a:spcPts val="1000"/>
              </a:spcAft>
            </a:pPr>
            <a:r>
              <a:rPr sz="1300" b="0" i="0">
                <a:solidFill>
                  <a:srgbClr val="575756"/>
                </a:solidFill>
              </a:rPr>
              <a:t>places it under point 8(a), then asserts no Article 6(3) condition applies. Label: high-risk.</a:t>
            </a:r>
          </a:p>
          <a:p>
            <a:pPr algn="l">
              <a:spcAft>
                <a:spcPts val="0"/>
              </a:spcAft>
            </a:pPr>
            <a:r>
              <a:rPr sz="1300" b="1" i="0">
                <a:solidFill>
                  <a:srgbClr val="575756"/>
                </a:solidFill>
              </a:rPr>
              <a:t>Commission: </a:t>
            </a:r>
          </a:p>
          <a:p>
            <a:pPr algn="l">
              <a:spcAft>
                <a:spcPts val="1000"/>
              </a:spcAft>
            </a:pPr>
            <a:r>
              <a:rPr sz="1300" b="0" i="0">
                <a:solidFill>
                  <a:srgbClr val="575756"/>
                </a:solidFill>
              </a:rPr>
              <a:t>narrow procedural / preparatory task. Not high-risk.</a:t>
            </a:r>
          </a:p>
          <a:p>
            <a:pPr algn="l">
              <a:spcAft>
                <a:spcPts val="400"/>
              </a:spcAft>
            </a:pPr>
            <a:r>
              <a:rPr sz="1400" b="1" i="0">
                <a:solidFill>
                  <a:srgbClr val="DF4807"/>
                </a:solidFill>
              </a:rPr>
              <a:t>Faithfulness: 6 of 6 statements supported = 1.00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Text Placeholder 2"/>
          <p:cNvSpPr>
            <a:spLocks noGrp="1"/>
          </p:cNvSpPr>
          <p:nvPr>
            <p:ph type="body" idx="1"/>
          </p:nvPr>
        </p:nvSpPr>
        <p:spPr/>
        <p:txBody>
          <a:bodyPr/>
          <a:lstStyle/>
          <a:p>
            <a:r>
              <a:t>04</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findings</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Rectangle 6"/>
          <p:cNvSpPr/>
          <p:nvPr/>
        </p:nvSpPr>
        <p:spPr>
          <a:xfrm>
            <a:off x="356616" y="1463040"/>
            <a:ext cx="5440680" cy="2103120"/>
          </a:xfrm>
          <a:prstGeom prst="rect">
            <a:avLst/>
          </a:prstGeom>
          <a:solidFill>
            <a:srgbClr val="FBE4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585216" y="169164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1</a:t>
            </a:r>
          </a:p>
        </p:txBody>
      </p:sp>
      <p:sp>
        <p:nvSpPr>
          <p:cNvPr id="9" name="TextBox 8"/>
          <p:cNvSpPr txBox="1"/>
          <p:nvPr/>
        </p:nvSpPr>
        <p:spPr>
          <a:xfrm>
            <a:off x="1133856" y="1691640"/>
            <a:ext cx="4480560" cy="457200"/>
          </a:xfrm>
          <a:prstGeom prst="rect">
            <a:avLst/>
          </a:prstGeom>
          <a:noFill/>
        </p:spPr>
        <p:txBody>
          <a:bodyPr wrap="square" anchor="t" lIns="0" rIns="0" tIns="0" bIns="0">
            <a:spAutoFit/>
          </a:bodyPr>
          <a:lstStyle/>
          <a:p>
            <a:pPr algn="l">
              <a:spcAft>
                <a:spcPts val="400"/>
              </a:spcAft>
            </a:pPr>
            <a:r>
              <a:rPr sz="1600" b="1" i="0">
                <a:solidFill>
                  <a:srgbClr val="DF4807"/>
                </a:solidFill>
              </a:rPr>
              <a:t>Faithfulness is not correctness</a:t>
            </a:r>
          </a:p>
        </p:txBody>
      </p:sp>
      <p:sp>
        <p:nvSpPr>
          <p:cNvPr id="10" name="TextBox 9"/>
          <p:cNvSpPr txBox="1"/>
          <p:nvPr/>
        </p:nvSpPr>
        <p:spPr>
          <a:xfrm>
            <a:off x="1133856" y="2240280"/>
            <a:ext cx="4480560" cy="1234440"/>
          </a:xfrm>
          <a:prstGeom prst="rect">
            <a:avLst/>
          </a:prstGeom>
          <a:noFill/>
        </p:spPr>
        <p:txBody>
          <a:bodyPr wrap="square" anchor="t" lIns="0" rIns="0" tIns="0" bIns="0">
            <a:spAutoFit/>
          </a:bodyPr>
          <a:lstStyle/>
          <a:p>
            <a:pPr algn="l">
              <a:spcAft>
                <a:spcPts val="400"/>
              </a:spcAft>
            </a:pPr>
            <a:r>
              <a:rPr sz="1300" b="0" i="0">
                <a:solidFill>
                  <a:srgbClr val="575756"/>
                </a:solidFill>
              </a:rPr>
              <a:t>For the agent, faithfulness is at chance level for spotting wrong labels (AUC 0.465). 17 of 31 errors pass as faithful.</a:t>
            </a:r>
          </a:p>
        </p:txBody>
      </p:sp>
      <p:sp>
        <p:nvSpPr>
          <p:cNvPr id="11" name="Rectangle 10"/>
          <p:cNvSpPr/>
          <p:nvPr/>
        </p:nvSpPr>
        <p:spPr>
          <a:xfrm>
            <a:off x="6025896" y="1463040"/>
            <a:ext cx="5440680" cy="210312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6254496" y="169164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2</a:t>
            </a:r>
          </a:p>
        </p:txBody>
      </p:sp>
      <p:sp>
        <p:nvSpPr>
          <p:cNvPr id="13" name="TextBox 12"/>
          <p:cNvSpPr txBox="1"/>
          <p:nvPr/>
        </p:nvSpPr>
        <p:spPr>
          <a:xfrm>
            <a:off x="6803136" y="1691640"/>
            <a:ext cx="4480560" cy="457200"/>
          </a:xfrm>
          <a:prstGeom prst="rect">
            <a:avLst/>
          </a:prstGeom>
          <a:noFill/>
        </p:spPr>
        <p:txBody>
          <a:bodyPr wrap="square" anchor="t" lIns="0" rIns="0" tIns="0" bIns="0">
            <a:spAutoFit/>
          </a:bodyPr>
          <a:lstStyle/>
          <a:p>
            <a:pPr algn="l">
              <a:spcAft>
                <a:spcPts val="400"/>
              </a:spcAft>
            </a:pPr>
            <a:r>
              <a:rPr sz="1600" b="1" i="0">
                <a:solidFill>
                  <a:srgbClr val="DF4807"/>
                </a:solidFill>
              </a:rPr>
              <a:t>Errors are application errors</a:t>
            </a:r>
          </a:p>
        </p:txBody>
      </p:sp>
      <p:sp>
        <p:nvSpPr>
          <p:cNvPr id="14" name="TextBox 13"/>
          <p:cNvSpPr txBox="1"/>
          <p:nvPr/>
        </p:nvSpPr>
        <p:spPr>
          <a:xfrm>
            <a:off x="6803136" y="2240280"/>
            <a:ext cx="4480560" cy="1234440"/>
          </a:xfrm>
          <a:prstGeom prst="rect">
            <a:avLst/>
          </a:prstGeom>
          <a:noFill/>
        </p:spPr>
        <p:txBody>
          <a:bodyPr wrap="square" anchor="t" lIns="0" rIns="0" tIns="0" bIns="0">
            <a:spAutoFit/>
          </a:bodyPr>
          <a:lstStyle/>
          <a:p>
            <a:pPr algn="l">
              <a:spcAft>
                <a:spcPts val="400"/>
              </a:spcAft>
            </a:pPr>
            <a:r>
              <a:rPr sz="1300" b="0" i="0">
                <a:solidFill>
                  <a:srgbClr val="575756"/>
                </a:solidFill>
              </a:rPr>
              <a:t>The right passage was retrieved in 14 of 17 cases; the model misapplied the rule, which RAGAS cannot see.</a:t>
            </a:r>
          </a:p>
        </p:txBody>
      </p:sp>
      <p:sp>
        <p:nvSpPr>
          <p:cNvPr id="15" name="Rectangle 14"/>
          <p:cNvSpPr/>
          <p:nvPr/>
        </p:nvSpPr>
        <p:spPr>
          <a:xfrm>
            <a:off x="356616" y="3794760"/>
            <a:ext cx="5440680" cy="210312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85216" y="402336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3</a:t>
            </a:r>
          </a:p>
        </p:txBody>
      </p:sp>
      <p:sp>
        <p:nvSpPr>
          <p:cNvPr id="17" name="TextBox 16"/>
          <p:cNvSpPr txBox="1"/>
          <p:nvPr/>
        </p:nvSpPr>
        <p:spPr>
          <a:xfrm>
            <a:off x="1133856" y="4023360"/>
            <a:ext cx="4480560" cy="457200"/>
          </a:xfrm>
          <a:prstGeom prst="rect">
            <a:avLst/>
          </a:prstGeom>
          <a:noFill/>
        </p:spPr>
        <p:txBody>
          <a:bodyPr wrap="square" anchor="t" lIns="0" rIns="0" tIns="0" bIns="0">
            <a:spAutoFit/>
          </a:bodyPr>
          <a:lstStyle/>
          <a:p>
            <a:pPr algn="l">
              <a:spcAft>
                <a:spcPts val="400"/>
              </a:spcAft>
            </a:pPr>
            <a:r>
              <a:rPr sz="1600" b="1" i="0">
                <a:solidFill>
                  <a:srgbClr val="DF4807"/>
                </a:solidFill>
              </a:rPr>
              <a:t>Retrieval matters, prompt engineering did not</a:t>
            </a:r>
          </a:p>
        </p:txBody>
      </p:sp>
      <p:sp>
        <p:nvSpPr>
          <p:cNvPr id="18" name="TextBox 17"/>
          <p:cNvSpPr txBox="1"/>
          <p:nvPr/>
        </p:nvSpPr>
        <p:spPr>
          <a:xfrm>
            <a:off x="1133856" y="4572000"/>
            <a:ext cx="4480560" cy="1234440"/>
          </a:xfrm>
          <a:prstGeom prst="rect">
            <a:avLst/>
          </a:prstGeom>
          <a:noFill/>
        </p:spPr>
        <p:txBody>
          <a:bodyPr wrap="square" anchor="t" lIns="0" rIns="0" tIns="0" bIns="0">
            <a:spAutoFit/>
          </a:bodyPr>
          <a:lstStyle/>
          <a:p>
            <a:pPr algn="l">
              <a:spcAft>
                <a:spcPts val="400"/>
              </a:spcAft>
            </a:pPr>
            <a:r>
              <a:rPr sz="1300" b="0" i="0">
                <a:solidFill>
                  <a:srgbClr val="575756"/>
                </a:solidFill>
              </a:rPr>
              <a:t>RAG adds about 19 points over the plain model; the step-by-step agent is not better than a generic RAG prompt.</a:t>
            </a:r>
          </a:p>
        </p:txBody>
      </p:sp>
      <p:sp>
        <p:nvSpPr>
          <p:cNvPr id="19" name="Rectangle 18"/>
          <p:cNvSpPr/>
          <p:nvPr/>
        </p:nvSpPr>
        <p:spPr>
          <a:xfrm>
            <a:off x="6025896" y="3794760"/>
            <a:ext cx="5440680" cy="210312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6254496" y="402336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4</a:t>
            </a:r>
          </a:p>
        </p:txBody>
      </p:sp>
      <p:sp>
        <p:nvSpPr>
          <p:cNvPr id="21" name="TextBox 20"/>
          <p:cNvSpPr txBox="1"/>
          <p:nvPr/>
        </p:nvSpPr>
        <p:spPr>
          <a:xfrm>
            <a:off x="6803136" y="4023360"/>
            <a:ext cx="4480560" cy="457200"/>
          </a:xfrm>
          <a:prstGeom prst="rect">
            <a:avLst/>
          </a:prstGeom>
          <a:noFill/>
        </p:spPr>
        <p:txBody>
          <a:bodyPr wrap="square" anchor="t" lIns="0" rIns="0" tIns="0" bIns="0">
            <a:spAutoFit/>
          </a:bodyPr>
          <a:lstStyle/>
          <a:p>
            <a:pPr algn="l">
              <a:spcAft>
                <a:spcPts val="400"/>
              </a:spcAft>
            </a:pPr>
            <a:r>
              <a:rPr sz="1600" b="1" i="0">
                <a:solidFill>
                  <a:srgbClr val="DF4807"/>
                </a:solidFill>
              </a:rPr>
              <a:t>Benchmarks from worked examples can leak</a:t>
            </a:r>
          </a:p>
        </p:txBody>
      </p:sp>
      <p:sp>
        <p:nvSpPr>
          <p:cNvPr id="22" name="TextBox 21"/>
          <p:cNvSpPr txBox="1"/>
          <p:nvPr/>
        </p:nvSpPr>
        <p:spPr>
          <a:xfrm>
            <a:off x="6803136" y="4572000"/>
            <a:ext cx="4480560" cy="1234440"/>
          </a:xfrm>
          <a:prstGeom prst="rect">
            <a:avLst/>
          </a:prstGeom>
          <a:noFill/>
        </p:spPr>
        <p:txBody>
          <a:bodyPr wrap="square" anchor="t" lIns="0" rIns="0" tIns="0" bIns="0">
            <a:spAutoFit/>
          </a:bodyPr>
          <a:lstStyle/>
          <a:p>
            <a:pPr algn="l">
              <a:spcAft>
                <a:spcPts val="400"/>
              </a:spcAft>
            </a:pPr>
            <a:r>
              <a:rPr sz="1300" b="0" i="0">
                <a:solidFill>
                  <a:srgbClr val="575756"/>
                </a:solidFill>
              </a:rPr>
              <a:t>The verdict text inflated accuracy by up to 15 points and flipped the ranking of the two best systems.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Limitations and future work</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Rectangle 6"/>
          <p:cNvSpPr/>
          <p:nvPr/>
        </p:nvSpPr>
        <p:spPr>
          <a:xfrm>
            <a:off x="356616" y="1463040"/>
            <a:ext cx="5440680" cy="384048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025896" y="1463040"/>
            <a:ext cx="5440680" cy="3840480"/>
          </a:xfrm>
          <a:prstGeom prst="rect">
            <a:avLst/>
          </a:prstGeom>
          <a:solidFill>
            <a:srgbClr val="FBE4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85216" y="1645920"/>
            <a:ext cx="5029200" cy="411480"/>
          </a:xfrm>
          <a:prstGeom prst="rect">
            <a:avLst/>
          </a:prstGeom>
          <a:noFill/>
        </p:spPr>
        <p:txBody>
          <a:bodyPr wrap="square" anchor="t" lIns="0" rIns="0" tIns="0" bIns="0">
            <a:spAutoFit/>
          </a:bodyPr>
          <a:lstStyle/>
          <a:p>
            <a:pPr algn="l">
              <a:spcAft>
                <a:spcPts val="400"/>
              </a:spcAft>
            </a:pPr>
            <a:r>
              <a:rPr sz="1800" b="1" i="0">
                <a:solidFill>
                  <a:srgbClr val="575756"/>
                </a:solidFill>
              </a:rPr>
              <a:t>Limitations</a:t>
            </a:r>
          </a:p>
        </p:txBody>
      </p:sp>
      <p:sp>
        <p:nvSpPr>
          <p:cNvPr id="10" name="TextBox 9"/>
          <p:cNvSpPr txBox="1"/>
          <p:nvPr/>
        </p:nvSpPr>
        <p:spPr>
          <a:xfrm>
            <a:off x="585216" y="2194560"/>
            <a:ext cx="5029200" cy="3749039"/>
          </a:xfrm>
          <a:prstGeom prst="rect">
            <a:avLst/>
          </a:prstGeom>
          <a:noFill/>
        </p:spPr>
        <p:txBody>
          <a:bodyPr wrap="square" anchor="t" lIns="0" rIns="0" tIns="0" bIns="0">
            <a:spAutoFit/>
          </a:bodyPr>
          <a:lstStyle/>
          <a:p>
            <a:pPr algn="l" marL="228600" indent="-228600">
              <a:spcAft>
                <a:spcPts val="800"/>
              </a:spcAft>
              <a:buChar char="–"/>
            </a:pPr>
            <a:r>
              <a:rPr sz="1350" b="0" i="0">
                <a:solidFill>
                  <a:srgbClr val="575756"/>
                </a:solidFill>
              </a:rPr>
              <a:t>One generator and one judge; results may depend on these models</a:t>
            </a:r>
          </a:p>
          <a:p>
            <a:pPr algn="l" marL="228600" indent="-228600">
              <a:spcAft>
                <a:spcPts val="800"/>
              </a:spcAft>
              <a:buChar char="–"/>
            </a:pPr>
            <a:r>
              <a:rPr sz="1350" b="0" i="0">
                <a:solidFill>
                  <a:srgbClr val="575756"/>
                </a:solidFill>
              </a:rPr>
              <a:t>Single annotator for redaction review and error categories</a:t>
            </a:r>
          </a:p>
          <a:p>
            <a:pPr algn="l" marL="228600" indent="-228600">
              <a:spcAft>
                <a:spcPts val="800"/>
              </a:spcAft>
              <a:buChar char="–"/>
            </a:pPr>
            <a:r>
              <a:rPr sz="1350" b="0" i="0">
                <a:solidFill>
                  <a:srgbClr val="575756"/>
                </a:solidFill>
              </a:rPr>
              <a:t>About 20 inputs still describe the legal test without stating the label</a:t>
            </a:r>
          </a:p>
          <a:p>
            <a:pPr algn="l" marL="228600" indent="-228600">
              <a:spcAft>
                <a:spcPts val="800"/>
              </a:spcAft>
              <a:buChar char="–"/>
            </a:pPr>
            <a:r>
              <a:rPr sz="1350" b="0" i="0">
                <a:solidFill>
                  <a:srgbClr val="575756"/>
                </a:solidFill>
              </a:rPr>
              <a:t>26 and 31 wrong answers: wide confidence intervals</a:t>
            </a:r>
          </a:p>
          <a:p>
            <a:pPr algn="l" marL="228600" indent="-228600">
              <a:spcAft>
                <a:spcPts val="800"/>
              </a:spcAft>
              <a:buChar char="–"/>
            </a:pPr>
            <a:r>
              <a:rPr sz="1350" b="0" i="0">
                <a:solidFill>
                  <a:srgbClr val="575756"/>
                </a:solidFill>
              </a:rPr>
              <a:t>Commission examples are cleaner than real product descriptions</a:t>
            </a:r>
          </a:p>
        </p:txBody>
      </p:sp>
      <p:sp>
        <p:nvSpPr>
          <p:cNvPr id="11" name="TextBox 10"/>
          <p:cNvSpPr txBox="1"/>
          <p:nvPr/>
        </p:nvSpPr>
        <p:spPr>
          <a:xfrm>
            <a:off x="6254496" y="1645920"/>
            <a:ext cx="5029200" cy="411480"/>
          </a:xfrm>
          <a:prstGeom prst="rect">
            <a:avLst/>
          </a:prstGeom>
          <a:noFill/>
        </p:spPr>
        <p:txBody>
          <a:bodyPr wrap="square" anchor="t" lIns="0" rIns="0" tIns="0" bIns="0">
            <a:spAutoFit/>
          </a:bodyPr>
          <a:lstStyle/>
          <a:p>
            <a:pPr algn="l">
              <a:spcAft>
                <a:spcPts val="400"/>
              </a:spcAft>
            </a:pPr>
            <a:r>
              <a:rPr sz="1800" b="1" i="0">
                <a:solidFill>
                  <a:srgbClr val="DF4807"/>
                </a:solidFill>
              </a:rPr>
              <a:t>Future work</a:t>
            </a:r>
          </a:p>
        </p:txBody>
      </p:sp>
      <p:sp>
        <p:nvSpPr>
          <p:cNvPr id="12" name="TextBox 11"/>
          <p:cNvSpPr txBox="1"/>
          <p:nvPr/>
        </p:nvSpPr>
        <p:spPr>
          <a:xfrm>
            <a:off x="6254496" y="2194560"/>
            <a:ext cx="5029200" cy="3749039"/>
          </a:xfrm>
          <a:prstGeom prst="rect">
            <a:avLst/>
          </a:prstGeom>
          <a:noFill/>
        </p:spPr>
        <p:txBody>
          <a:bodyPr wrap="square" anchor="t" lIns="0" rIns="0" tIns="0" bIns="0">
            <a:spAutoFit/>
          </a:bodyPr>
          <a:lstStyle/>
          <a:p>
            <a:pPr algn="l" marL="228600" indent="-228600">
              <a:spcAft>
                <a:spcPts val="800"/>
              </a:spcAft>
              <a:buChar char="–"/>
            </a:pPr>
            <a:r>
              <a:rPr sz="1350" b="0" i="0">
                <a:solidFill>
                  <a:srgbClr val="575756"/>
                </a:solidFill>
              </a:rPr>
              <a:t>A second, stronger generator, including a closed commercial model, on the same redacted inputs</a:t>
            </a:r>
          </a:p>
          <a:p>
            <a:pPr algn="l" marL="228600" indent="-228600">
              <a:spcAft>
                <a:spcPts val="800"/>
              </a:spcAft>
              <a:buChar char="–"/>
            </a:pPr>
            <a:r>
              <a:rPr sz="1350" b="0" i="0">
                <a:solidFill>
                  <a:srgbClr val="575756"/>
                </a:solidFill>
              </a:rPr>
              <a:t>A second annotator and inter-annotator agreement</a:t>
            </a:r>
          </a:p>
          <a:p>
            <a:pPr algn="l" marL="228600" indent="-228600">
              <a:spcAft>
                <a:spcPts val="800"/>
              </a:spcAft>
              <a:buChar char="–"/>
            </a:pPr>
            <a:r>
              <a:rPr sz="1350" b="0" i="0">
                <a:solidFill>
                  <a:srgbClr val="575756"/>
                </a:solidFill>
              </a:rPr>
              <a:t>Realistic product descriptions labelled against the guidelines</a:t>
            </a:r>
          </a:p>
          <a:p>
            <a:pPr algn="l" marL="228600" indent="-228600">
              <a:spcAft>
                <a:spcPts val="800"/>
              </a:spcAft>
              <a:buChar char="–"/>
            </a:pPr>
            <a:r>
              <a:rPr sz="1350" b="0" i="0">
                <a:solidFill>
                  <a:srgbClr val="575756"/>
                </a:solidFill>
              </a:rPr>
              <a:t>A correctness-aware check: does the conclusion follow from the retrieved rule and the stated facts?</a:t>
            </a:r>
          </a:p>
          <a:p>
            <a:pPr algn="l" marL="228600" indent="-228600">
              <a:spcAft>
                <a:spcPts val="800"/>
              </a:spcAft>
              <a:buChar char="–"/>
            </a:pPr>
            <a:r>
              <a:rPr sz="1350" b="0" i="0">
                <a:solidFill>
                  <a:srgbClr val="575756"/>
                </a:solidFill>
              </a:rPr>
              <a:t>Extension towards a thesis or paper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a:t>A high faithfulness score says almost nothing about whether a legal classification is right.</a:t>
            </a:r>
          </a:p>
          <a:p>
            <a:r>
              <a:t/>
            </a:r>
          </a:p>
          <a:p>
            <a:r>
              <a:t>Thank you. Questions?</a:t>
            </a:r>
          </a:p>
          <a:p>
            <a:r>
              <a:t>Danke für Ihre Aufmerksamkeit!</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5806440"/>
            <a:ext cx="7315200" cy="365760"/>
          </a:xfrm>
          <a:prstGeom prst="rect">
            <a:avLst/>
          </a:prstGeom>
          <a:noFill/>
        </p:spPr>
        <p:txBody>
          <a:bodyPr wrap="square" anchor="t" lIns="0" rIns="0" tIns="0" bIns="0">
            <a:spAutoFit/>
          </a:bodyPr>
          <a:lstStyle/>
          <a:p>
            <a:pPr algn="l">
              <a:spcAft>
                <a:spcPts val="400"/>
              </a:spcAft>
            </a:pPr>
            <a:r>
              <a:rPr sz="1200" b="0" i="0">
                <a:solidFill>
                  <a:srgbClr val="FFFFFF"/>
                </a:solidFill>
              </a:rPr>
              <a:t>github.com/rahulrawat20022002/case_study2</a:t>
            </a:r>
          </a:p>
        </p:txBody>
      </p:sp>
    </p:spTree>
  </p:cSld>
  <p:clrMapOvr>
    <a:masterClrMapping/>
  </p:clrMapOvr>
</p:sld>
</file>

<file path=ppt/theme/theme1.xml><?xml version="1.0" encoding="utf-8"?>
<a:theme xmlns:a="http://schemas.openxmlformats.org/drawingml/2006/main" name="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33C054C8DA11F43B02CF1EC776FFAE3" ma:contentTypeVersion="2" ma:contentTypeDescription="Create a new document." ma:contentTypeScope="" ma:versionID="7a862a8188323a205a07e3503c6d0dc2">
  <xsd:schema xmlns:xsd="http://www.w3.org/2001/XMLSchema" xmlns:xs="http://www.w3.org/2001/XMLSchema" xmlns:p="http://schemas.microsoft.com/office/2006/metadata/properties" xmlns:ns2="5380ca77-ba03-4814-ba4f-2b8d3e44ca01" targetNamespace="http://schemas.microsoft.com/office/2006/metadata/properties" ma:root="true" ma:fieldsID="85684b047219332adb99588f30d95774" ns2:_="">
    <xsd:import namespace="5380ca77-ba03-4814-ba4f-2b8d3e44ca01"/>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380ca77-ba03-4814-ba4f-2b8d3e44ca0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6382F6F-1B5A-4B4A-AD6C-9EE81B138641}">
  <ds:schemaRefs/>
</ds:datastoreItem>
</file>

<file path=customXml/itemProps2.xml><?xml version="1.0" encoding="utf-8"?>
<ds:datastoreItem xmlns:ds="http://schemas.openxmlformats.org/officeDocument/2006/customXml" ds:itemID="{7CAAC9F2-EE4B-45FD-BCDE-91AA82334966}">
  <ds:schemaRefs/>
</ds:datastoreItem>
</file>

<file path=customXml/itemProps3.xml><?xml version="1.0" encoding="utf-8"?>
<ds:datastoreItem xmlns:ds="http://schemas.openxmlformats.org/officeDocument/2006/customXml" ds:itemID="{778990AA-0848-43A4-81EB-1FF437CC311F}">
  <ds:schemaRefs/>
</ds:datastoreItem>
</file>

<file path=docProps/app.xml><?xml version="1.0" encoding="utf-8"?>
<Properties xmlns="http://schemas.openxmlformats.org/officeDocument/2006/extended-properties" xmlns:vt="http://schemas.openxmlformats.org/officeDocument/2006/docPropsVTypes">
  <TotalTime>12</TotalTime>
  <Words>614</Words>
  <Application>Microsoft Macintosh PowerPoint</Application>
  <PresentationFormat>Widescreen</PresentationFormat>
  <Paragraphs>86</Paragraphs>
  <Slides>21</Slides>
  <Notes>2</Notes>
  <HiddenSlides>0</HiddenSlides>
  <MMClips>0</MMClips>
  <ScaleCrop>false</ScaleCrop>
  <HeadingPairs>
    <vt:vector size="6" baseType="variant">
      <vt:variant>
        <vt:lpstr>Fonts Used</vt:lpstr>
      </vt:variant>
      <vt:variant>
        <vt:i4>5</vt:i4>
      </vt:variant>
      <vt:variant>
        <vt:lpstr>Theme</vt:lpstr>
      </vt:variant>
      <vt:variant>
        <vt:i4>7</vt:i4>
      </vt:variant>
      <vt:variant>
        <vt:lpstr>Slide Titles</vt:lpstr>
      </vt:variant>
      <vt:variant>
        <vt:i4>21</vt:i4>
      </vt:variant>
    </vt:vector>
  </HeadingPairs>
  <TitlesOfParts>
    <vt:vector size="33" baseType="lpstr">
      <vt:lpstr>SRH Headline</vt:lpstr>
      <vt:lpstr>SRH Text</vt:lpstr>
      <vt:lpstr>Calibri</vt:lpstr>
      <vt:lpstr>Arial</vt:lpstr>
      <vt:lpstr>SRH</vt:lpstr>
      <vt:lpstr>SRH</vt:lpstr>
      <vt:lpstr>1_SRH</vt:lpstr>
      <vt:lpstr>2_SRH</vt:lpstr>
      <vt:lpstr>3_SRH</vt:lpstr>
      <vt:lpstr>4_SRH</vt:lpstr>
      <vt:lpstr>5_SRH</vt:lpstr>
      <vt:lpstr>SRH</vt:lpstr>
      <vt:lpstr>PowerPoint Presentation</vt:lpstr>
      <vt:lpstr>PowerPoint Presentation</vt:lpstr>
      <vt:lpstr>Brief Overview</vt:lpstr>
      <vt:lpstr>PowerPoint Presentation</vt:lpstr>
      <vt:lpstr>Why Pose Classification for Yoga?</vt:lpstr>
      <vt:lpstr>PowerPoint Presentation</vt:lpstr>
      <vt:lpstr>Technology Stack</vt:lpstr>
      <vt:lpstr>PowerPoint Presentation</vt:lpstr>
      <vt:lpstr> Data Collection and Labeling</vt:lpstr>
      <vt:lpstr>PowerPoint Presentation</vt:lpstr>
      <vt:lpstr>PowerPoint Presentation</vt:lpstr>
      <vt:lpstr>Model Training (Training the Pose Classifier)</vt:lpstr>
      <vt:lpstr>PowerPoint Presentation</vt:lpstr>
      <vt:lpstr>Real-Time Yoga Pose Classification in Action</vt:lpstr>
      <vt:lpstr>Real-Time Yoga Pose Reggression in Action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Henrike Voelker</dc:creator>
  <cp:lastModifiedBy>Rawat, Rahul (Stud SRH-University)</cp:lastModifiedBy>
  <cp:revision>366</cp:revision>
  <dcterms:created xsi:type="dcterms:W3CDTF">2020-06-05T16:20:00Z</dcterms:created>
  <dcterms:modified xsi:type="dcterms:W3CDTF">2026-09-29T00:27:14Z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0x010100333C054C8DA11F43B02CF1EC776FFAE3</vt:lpwstr>
  </property>
  <property fmtid="{D5CDD505-2E9C-101B-9397-08002B2CF9AE}" pid="3" name="ICV">
    <vt:lpwstr>B58A8B18B9A443019F592B4D8E702B9F_12</vt:lpwstr>
  </property>
  <property fmtid="{D5CDD505-2E9C-101B-9397-08002B2CF9AE}" pid="4" name="KSOProductBuildVer">
    <vt:lpwstr>2057-12.2.0.21936</vt:lpwstr>
  </property>
</Properties>
</file>